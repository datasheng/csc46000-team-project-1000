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7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53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A888D5-AA18-A25E-E19B-B80C2B39530A}" v="34" dt="2026-03-11T18:52:40.290"/>
    <p1510:client id="{2D3A85AA-4208-F408-C5B2-F54BEDCC8E7B}" v="162" dt="2026-03-11T18:58:53.044"/>
    <p1510:client id="{4366B289-D9E6-55A9-F073-7F3F45D4FBC1}" v="16" dt="2026-03-11T14:21:44.869"/>
    <p1510:client id="{F9631152-0DEF-4168-8A8C-D4A04F03D9F6}" v="27" dt="2026-03-11T13:53:14.70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953000" cy="323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473825" y="0"/>
            <a:ext cx="4953000" cy="3238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D64F05-BEB2-4DB5-B988-EE797ABECF3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86188" y="806450"/>
            <a:ext cx="3857625" cy="2174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143000" y="3101975"/>
            <a:ext cx="9144000" cy="2538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121400"/>
            <a:ext cx="4953000" cy="323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73825" y="6121400"/>
            <a:ext cx="4953000" cy="3238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4167A-2EC1-428A-8A40-31396368C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04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E4167A-2EC1-428A-8A40-31396368C2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47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90998" y="2506852"/>
            <a:ext cx="1648002" cy="636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29999" y="6429374"/>
                </a:moveTo>
                <a:lnTo>
                  <a:pt x="0" y="64293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29374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49" cy="64293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62824" y="2333624"/>
            <a:ext cx="3848099" cy="177164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5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29999" y="6429374"/>
                </a:moveTo>
                <a:lnTo>
                  <a:pt x="0" y="64293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29374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11429999" cy="22097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29999" y="6429374"/>
                </a:moveTo>
                <a:lnTo>
                  <a:pt x="0" y="6429374"/>
                </a:lnTo>
                <a:lnTo>
                  <a:pt x="0" y="0"/>
                </a:lnTo>
                <a:lnTo>
                  <a:pt x="11429999" y="0"/>
                </a:lnTo>
                <a:lnTo>
                  <a:pt x="11429999" y="6429374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077" y="462311"/>
            <a:ext cx="10255845" cy="587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50" b="0" i="0">
                <a:solidFill>
                  <a:srgbClr val="532417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0549" y="2343149"/>
            <a:ext cx="10248900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0"/>
              </a:spcBef>
            </a:pPr>
            <a:r>
              <a:rPr sz="4000" spc="55">
                <a:solidFill>
                  <a:srgbClr val="522317"/>
                </a:solidFill>
              </a:rPr>
              <a:t>Docker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893716" y="3423158"/>
            <a:ext cx="5748655" cy="45352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1400" spc="-114">
                <a:solidFill>
                  <a:srgbClr val="66524F"/>
                </a:solidFill>
                <a:latin typeface="Verdana"/>
                <a:cs typeface="Verdana"/>
              </a:rPr>
              <a:t>By: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Marina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25">
                <a:solidFill>
                  <a:srgbClr val="66524F"/>
                </a:solidFill>
                <a:latin typeface="Verdana"/>
                <a:cs typeface="Verdana"/>
              </a:rPr>
              <a:t>Morcos,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Patience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95">
                <a:solidFill>
                  <a:srgbClr val="66524F"/>
                </a:solidFill>
                <a:latin typeface="Verdana"/>
                <a:cs typeface="Verdana"/>
              </a:rPr>
              <a:t>D.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A. </a:t>
            </a:r>
            <a:r>
              <a:rPr lang="en-US" sz="1400" spc="-65">
                <a:solidFill>
                  <a:srgbClr val="66524F"/>
                </a:solidFill>
                <a:latin typeface="Verdana"/>
                <a:cs typeface="Verdana"/>
              </a:rPr>
              <a:t>Izere</a:t>
            </a:r>
            <a:r>
              <a:rPr sz="1400" spc="-65">
                <a:solidFill>
                  <a:srgbClr val="66524F"/>
                </a:solidFill>
                <a:latin typeface="Verdana"/>
                <a:cs typeface="Verdana"/>
              </a:rPr>
              <a:t>,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Justin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45">
                <a:solidFill>
                  <a:srgbClr val="66524F"/>
                </a:solidFill>
                <a:latin typeface="Verdana"/>
                <a:cs typeface="Verdana"/>
              </a:rPr>
              <a:t>O.,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25">
                <a:solidFill>
                  <a:srgbClr val="66524F"/>
                </a:solidFill>
                <a:latin typeface="Verdana"/>
                <a:cs typeface="Verdana"/>
              </a:rPr>
              <a:t>Kasia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Windett, </a:t>
            </a:r>
            <a:r>
              <a:rPr sz="1400" spc="-35">
                <a:solidFill>
                  <a:srgbClr val="66524F"/>
                </a:solidFill>
                <a:latin typeface="Verdana"/>
                <a:cs typeface="Verdana"/>
              </a:rPr>
              <a:t>Sanskriti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30">
                <a:solidFill>
                  <a:srgbClr val="66524F"/>
                </a:solidFill>
                <a:latin typeface="Verdana"/>
                <a:cs typeface="Verdana"/>
              </a:rPr>
              <a:t>Khadka,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Sri</a:t>
            </a:r>
            <a:r>
              <a:rPr sz="1400" spc="-7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lang="en-US" sz="1400" spc="-10">
                <a:solidFill>
                  <a:srgbClr val="66524F"/>
                </a:solidFill>
                <a:latin typeface="Verdana"/>
                <a:cs typeface="Verdana"/>
              </a:rPr>
              <a:t>Subramanian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</a:pPr>
            <a:r>
              <a:rPr sz="3700" spc="130">
                <a:solidFill>
                  <a:srgbClr val="522317"/>
                </a:solidFill>
              </a:rPr>
              <a:t>What</a:t>
            </a:r>
            <a:r>
              <a:rPr sz="3700" spc="-120">
                <a:solidFill>
                  <a:srgbClr val="522317"/>
                </a:solidFill>
              </a:rPr>
              <a:t> </a:t>
            </a:r>
            <a:r>
              <a:rPr sz="3700" spc="-170">
                <a:solidFill>
                  <a:srgbClr val="522317"/>
                </a:solidFill>
              </a:rPr>
              <a:t>is</a:t>
            </a:r>
            <a:r>
              <a:rPr sz="3700" spc="-114">
                <a:solidFill>
                  <a:srgbClr val="522317"/>
                </a:solidFill>
              </a:rPr>
              <a:t> </a:t>
            </a:r>
            <a:r>
              <a:rPr sz="3700" spc="-10">
                <a:solidFill>
                  <a:srgbClr val="522317"/>
                </a:solidFill>
              </a:rPr>
              <a:t>Docker?</a:t>
            </a:r>
            <a:endParaRPr sz="3700"/>
          </a:p>
        </p:txBody>
      </p:sp>
      <p:sp>
        <p:nvSpPr>
          <p:cNvPr id="8" name="object 8"/>
          <p:cNvSpPr txBox="1"/>
          <p:nvPr/>
        </p:nvSpPr>
        <p:spPr>
          <a:xfrm>
            <a:off x="593918" y="1315637"/>
            <a:ext cx="5559425" cy="8540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125"/>
              </a:spcBef>
            </a:pP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Docker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40">
                <a:solidFill>
                  <a:srgbClr val="66524F"/>
                </a:solidFill>
                <a:latin typeface="Verdana"/>
                <a:cs typeface="Verdana"/>
              </a:rPr>
              <a:t>is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platform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that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uses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b="1">
                <a:solidFill>
                  <a:srgbClr val="66524F"/>
                </a:solidFill>
                <a:latin typeface="Tahoma"/>
                <a:cs typeface="Tahoma"/>
              </a:rPr>
              <a:t>OS-level</a:t>
            </a:r>
            <a:r>
              <a:rPr sz="1300" b="1" spc="4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00" b="1">
                <a:solidFill>
                  <a:srgbClr val="66524F"/>
                </a:solidFill>
                <a:latin typeface="Tahoma"/>
                <a:cs typeface="Tahoma"/>
              </a:rPr>
              <a:t>virtualization</a:t>
            </a:r>
            <a:r>
              <a:rPr sz="1300" b="1" spc="1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to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deliver 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software</a:t>
            </a:r>
            <a:r>
              <a:rPr sz="1300" spc="-8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in</a:t>
            </a:r>
            <a:r>
              <a:rPr sz="13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packages</a:t>
            </a:r>
            <a:r>
              <a:rPr sz="1300" spc="-8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called</a:t>
            </a:r>
            <a:r>
              <a:rPr sz="13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b="1">
                <a:solidFill>
                  <a:srgbClr val="66524F"/>
                </a:solidFill>
                <a:latin typeface="Tahoma"/>
                <a:cs typeface="Tahoma"/>
              </a:rPr>
              <a:t>containers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.</a:t>
            </a:r>
            <a:r>
              <a:rPr sz="1300" spc="-8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Think</a:t>
            </a:r>
            <a:r>
              <a:rPr sz="13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of</a:t>
            </a:r>
            <a:r>
              <a:rPr sz="1300" spc="-8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containers</a:t>
            </a:r>
            <a:r>
              <a:rPr sz="13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as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lightweight,</a:t>
            </a:r>
            <a:r>
              <a:rPr sz="1300" spc="-45">
                <a:solidFill>
                  <a:srgbClr val="66524F"/>
                </a:solidFill>
                <a:latin typeface="Verdana"/>
                <a:cs typeface="Verdana"/>
              </a:rPr>
              <a:t> self-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contained</a:t>
            </a:r>
            <a:r>
              <a:rPr sz="1300" spc="-4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boxes</a:t>
            </a:r>
            <a:r>
              <a:rPr sz="1300" spc="-4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that</a:t>
            </a:r>
            <a:r>
              <a:rPr sz="1300" spc="-4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bundle</a:t>
            </a:r>
            <a:r>
              <a:rPr sz="1300" spc="-4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everything</a:t>
            </a:r>
            <a:r>
              <a:rPr sz="1300" spc="-4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your</a:t>
            </a:r>
            <a:r>
              <a:rPr sz="1300" spc="-4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code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needs</a:t>
            </a:r>
            <a:r>
              <a:rPr sz="1300" spc="-8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to</a:t>
            </a:r>
            <a:r>
              <a:rPr sz="1300" spc="-8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run.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09600" y="2343149"/>
            <a:ext cx="2886075" cy="1828800"/>
            <a:chOff x="609600" y="2343149"/>
            <a:chExt cx="2886075" cy="1828800"/>
          </a:xfrm>
        </p:grpSpPr>
        <p:sp>
          <p:nvSpPr>
            <p:cNvPr id="10" name="object 10"/>
            <p:cNvSpPr/>
            <p:nvPr/>
          </p:nvSpPr>
          <p:spPr>
            <a:xfrm>
              <a:off x="619125" y="2352674"/>
              <a:ext cx="2867025" cy="1809750"/>
            </a:xfrm>
            <a:custGeom>
              <a:avLst/>
              <a:gdLst/>
              <a:ahLst/>
              <a:cxnLst/>
              <a:rect l="l" t="t" r="r" b="b"/>
              <a:pathLst>
                <a:path w="2867025" h="1809750">
                  <a:moveTo>
                    <a:pt x="2825292" y="0"/>
                  </a:moveTo>
                  <a:lnTo>
                    <a:pt x="41736" y="0"/>
                  </a:lnTo>
                  <a:lnTo>
                    <a:pt x="35599" y="1219"/>
                  </a:lnTo>
                  <a:lnTo>
                    <a:pt x="1220" y="35598"/>
                  </a:lnTo>
                  <a:lnTo>
                    <a:pt x="0" y="41732"/>
                  </a:lnTo>
                  <a:lnTo>
                    <a:pt x="0" y="1761629"/>
                  </a:lnTo>
                  <a:lnTo>
                    <a:pt x="0" y="1768017"/>
                  </a:lnTo>
                  <a:lnTo>
                    <a:pt x="23807" y="1803641"/>
                  </a:lnTo>
                  <a:lnTo>
                    <a:pt x="41736" y="1809750"/>
                  </a:lnTo>
                  <a:lnTo>
                    <a:pt x="2825292" y="1809750"/>
                  </a:lnTo>
                  <a:lnTo>
                    <a:pt x="2860916" y="1785937"/>
                  </a:lnTo>
                  <a:lnTo>
                    <a:pt x="2867025" y="1768017"/>
                  </a:lnTo>
                  <a:lnTo>
                    <a:pt x="2867025" y="41732"/>
                  </a:lnTo>
                  <a:lnTo>
                    <a:pt x="2843212" y="6108"/>
                  </a:lnTo>
                  <a:lnTo>
                    <a:pt x="2831426" y="1219"/>
                  </a:lnTo>
                  <a:lnTo>
                    <a:pt x="2825292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9125" y="2352674"/>
              <a:ext cx="2867025" cy="1809750"/>
            </a:xfrm>
            <a:custGeom>
              <a:avLst/>
              <a:gdLst/>
              <a:ahLst/>
              <a:cxnLst/>
              <a:rect l="l" t="t" r="r" b="b"/>
              <a:pathLst>
                <a:path w="2867025" h="1809750">
                  <a:moveTo>
                    <a:pt x="0" y="1761629"/>
                  </a:moveTo>
                  <a:lnTo>
                    <a:pt x="0" y="48120"/>
                  </a:lnTo>
                  <a:lnTo>
                    <a:pt x="0" y="41732"/>
                  </a:lnTo>
                  <a:lnTo>
                    <a:pt x="1220" y="35598"/>
                  </a:lnTo>
                  <a:lnTo>
                    <a:pt x="3661" y="29705"/>
                  </a:lnTo>
                  <a:lnTo>
                    <a:pt x="6102" y="23812"/>
                  </a:lnTo>
                  <a:lnTo>
                    <a:pt x="9579" y="18605"/>
                  </a:lnTo>
                  <a:lnTo>
                    <a:pt x="41736" y="0"/>
                  </a:lnTo>
                  <a:lnTo>
                    <a:pt x="48116" y="0"/>
                  </a:lnTo>
                  <a:lnTo>
                    <a:pt x="2818904" y="0"/>
                  </a:lnTo>
                  <a:lnTo>
                    <a:pt x="2825292" y="0"/>
                  </a:lnTo>
                  <a:lnTo>
                    <a:pt x="2831426" y="1219"/>
                  </a:lnTo>
                  <a:lnTo>
                    <a:pt x="2863367" y="29705"/>
                  </a:lnTo>
                  <a:lnTo>
                    <a:pt x="2867025" y="41732"/>
                  </a:lnTo>
                  <a:lnTo>
                    <a:pt x="2867025" y="48120"/>
                  </a:lnTo>
                  <a:lnTo>
                    <a:pt x="2867025" y="1761629"/>
                  </a:lnTo>
                  <a:lnTo>
                    <a:pt x="2867025" y="1768017"/>
                  </a:lnTo>
                  <a:lnTo>
                    <a:pt x="2865805" y="1774151"/>
                  </a:lnTo>
                  <a:lnTo>
                    <a:pt x="2863367" y="1780044"/>
                  </a:lnTo>
                  <a:lnTo>
                    <a:pt x="2860916" y="1785937"/>
                  </a:lnTo>
                  <a:lnTo>
                    <a:pt x="2857449" y="1791144"/>
                  </a:lnTo>
                  <a:lnTo>
                    <a:pt x="2852928" y="1795653"/>
                  </a:lnTo>
                  <a:lnTo>
                    <a:pt x="2848419" y="1800161"/>
                  </a:lnTo>
                  <a:lnTo>
                    <a:pt x="2843212" y="1803641"/>
                  </a:lnTo>
                  <a:lnTo>
                    <a:pt x="2837319" y="1806079"/>
                  </a:lnTo>
                  <a:lnTo>
                    <a:pt x="2831426" y="1808530"/>
                  </a:lnTo>
                  <a:lnTo>
                    <a:pt x="2825292" y="1809750"/>
                  </a:lnTo>
                  <a:lnTo>
                    <a:pt x="2818904" y="1809750"/>
                  </a:lnTo>
                  <a:lnTo>
                    <a:pt x="48116" y="1809750"/>
                  </a:lnTo>
                  <a:lnTo>
                    <a:pt x="41736" y="1809750"/>
                  </a:lnTo>
                  <a:lnTo>
                    <a:pt x="35599" y="1808530"/>
                  </a:lnTo>
                  <a:lnTo>
                    <a:pt x="29701" y="1806079"/>
                  </a:lnTo>
                  <a:lnTo>
                    <a:pt x="23807" y="1803641"/>
                  </a:lnTo>
                  <a:lnTo>
                    <a:pt x="18602" y="1800161"/>
                  </a:lnTo>
                  <a:lnTo>
                    <a:pt x="14094" y="1795653"/>
                  </a:lnTo>
                  <a:lnTo>
                    <a:pt x="9579" y="1791144"/>
                  </a:lnTo>
                  <a:lnTo>
                    <a:pt x="6102" y="1785937"/>
                  </a:lnTo>
                  <a:lnTo>
                    <a:pt x="3661" y="1780044"/>
                  </a:lnTo>
                  <a:lnTo>
                    <a:pt x="1220" y="1774151"/>
                  </a:lnTo>
                  <a:lnTo>
                    <a:pt x="0" y="1768017"/>
                  </a:lnTo>
                  <a:lnTo>
                    <a:pt x="0" y="1761629"/>
                  </a:lnTo>
                  <a:close/>
                </a:path>
              </a:pathLst>
            </a:custGeom>
            <a:ln w="19050">
              <a:solidFill>
                <a:srgbClr val="FFE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0575" y="2524124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5761" y="0"/>
                  </a:moveTo>
                  <a:lnTo>
                    <a:pt x="239538" y="0"/>
                  </a:lnTo>
                  <a:lnTo>
                    <a:pt x="231447" y="393"/>
                  </a:lnTo>
                  <a:lnTo>
                    <a:pt x="191382" y="6337"/>
                  </a:lnTo>
                  <a:lnTo>
                    <a:pt x="145385" y="21958"/>
                  </a:lnTo>
                  <a:lnTo>
                    <a:pt x="103320" y="46240"/>
                  </a:lnTo>
                  <a:lnTo>
                    <a:pt x="66799" y="78270"/>
                  </a:lnTo>
                  <a:lnTo>
                    <a:pt x="37231" y="116801"/>
                  </a:lnTo>
                  <a:lnTo>
                    <a:pt x="15745" y="160375"/>
                  </a:lnTo>
                  <a:lnTo>
                    <a:pt x="3175" y="207289"/>
                  </a:lnTo>
                  <a:lnTo>
                    <a:pt x="0" y="239534"/>
                  </a:lnTo>
                  <a:lnTo>
                    <a:pt x="0" y="255765"/>
                  </a:lnTo>
                  <a:lnTo>
                    <a:pt x="6339" y="303923"/>
                  </a:lnTo>
                  <a:lnTo>
                    <a:pt x="21957" y="349910"/>
                  </a:lnTo>
                  <a:lnTo>
                    <a:pt x="46240" y="391985"/>
                  </a:lnTo>
                  <a:lnTo>
                    <a:pt x="78268" y="428498"/>
                  </a:lnTo>
                  <a:lnTo>
                    <a:pt x="116805" y="458063"/>
                  </a:lnTo>
                  <a:lnTo>
                    <a:pt x="160371" y="479552"/>
                  </a:lnTo>
                  <a:lnTo>
                    <a:pt x="207293" y="492125"/>
                  </a:lnTo>
                  <a:lnTo>
                    <a:pt x="239538" y="495300"/>
                  </a:lnTo>
                  <a:lnTo>
                    <a:pt x="255761" y="495300"/>
                  </a:lnTo>
                  <a:lnTo>
                    <a:pt x="303917" y="488950"/>
                  </a:lnTo>
                  <a:lnTo>
                    <a:pt x="349914" y="473341"/>
                  </a:lnTo>
                  <a:lnTo>
                    <a:pt x="391979" y="449059"/>
                  </a:lnTo>
                  <a:lnTo>
                    <a:pt x="428500" y="417029"/>
                  </a:lnTo>
                  <a:lnTo>
                    <a:pt x="458068" y="378485"/>
                  </a:lnTo>
                  <a:lnTo>
                    <a:pt x="479552" y="334924"/>
                  </a:lnTo>
                  <a:lnTo>
                    <a:pt x="492125" y="288010"/>
                  </a:lnTo>
                  <a:lnTo>
                    <a:pt x="495300" y="255765"/>
                  </a:lnTo>
                  <a:lnTo>
                    <a:pt x="495300" y="247650"/>
                  </a:lnTo>
                  <a:lnTo>
                    <a:pt x="495300" y="239534"/>
                  </a:lnTo>
                  <a:lnTo>
                    <a:pt x="488962" y="191376"/>
                  </a:lnTo>
                  <a:lnTo>
                    <a:pt x="473342" y="145389"/>
                  </a:lnTo>
                  <a:lnTo>
                    <a:pt x="449059" y="103314"/>
                  </a:lnTo>
                  <a:lnTo>
                    <a:pt x="417031" y="66802"/>
                  </a:lnTo>
                  <a:lnTo>
                    <a:pt x="378494" y="37223"/>
                  </a:lnTo>
                  <a:lnTo>
                    <a:pt x="334928" y="15748"/>
                  </a:lnTo>
                  <a:lnTo>
                    <a:pt x="288006" y="3175"/>
                  </a:lnTo>
                  <a:lnTo>
                    <a:pt x="263852" y="393"/>
                  </a:lnTo>
                  <a:lnTo>
                    <a:pt x="255761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3751" y="2661970"/>
              <a:ext cx="222885" cy="213360"/>
            </a:xfrm>
            <a:custGeom>
              <a:avLst/>
              <a:gdLst/>
              <a:ahLst/>
              <a:cxnLst/>
              <a:rect l="l" t="t" r="r" b="b"/>
              <a:pathLst>
                <a:path w="222884" h="213360">
                  <a:moveTo>
                    <a:pt x="65082" y="210477"/>
                  </a:moveTo>
                  <a:lnTo>
                    <a:pt x="33824" y="213017"/>
                  </a:lnTo>
                  <a:lnTo>
                    <a:pt x="14630" y="213055"/>
                  </a:lnTo>
                </a:path>
                <a:path w="222884" h="213360">
                  <a:moveTo>
                    <a:pt x="218767" y="65468"/>
                  </a:moveTo>
                  <a:lnTo>
                    <a:pt x="208414" y="69799"/>
                  </a:lnTo>
                  <a:lnTo>
                    <a:pt x="205110" y="69850"/>
                  </a:lnTo>
                </a:path>
                <a:path w="222884" h="213360">
                  <a:moveTo>
                    <a:pt x="64964" y="2921"/>
                  </a:moveTo>
                  <a:lnTo>
                    <a:pt x="33419" y="281"/>
                  </a:lnTo>
                  <a:lnTo>
                    <a:pt x="14630" y="279"/>
                  </a:lnTo>
                </a:path>
                <a:path w="222884" h="213360">
                  <a:moveTo>
                    <a:pt x="187905" y="159842"/>
                  </a:moveTo>
                  <a:lnTo>
                    <a:pt x="176292" y="172466"/>
                  </a:lnTo>
                  <a:lnTo>
                    <a:pt x="176282" y="175488"/>
                  </a:lnTo>
                </a:path>
                <a:path w="222884" h="213360">
                  <a:moveTo>
                    <a:pt x="176336" y="206349"/>
                  </a:moveTo>
                  <a:lnTo>
                    <a:pt x="193401" y="212956"/>
                  </a:lnTo>
                  <a:lnTo>
                    <a:pt x="206996" y="212928"/>
                  </a:lnTo>
                  <a:lnTo>
                    <a:pt x="215860" y="203377"/>
                  </a:lnTo>
                  <a:lnTo>
                    <a:pt x="215949" y="202158"/>
                  </a:lnTo>
                </a:path>
                <a:path w="222884" h="213360">
                  <a:moveTo>
                    <a:pt x="215836" y="169430"/>
                  </a:moveTo>
                  <a:lnTo>
                    <a:pt x="215618" y="167601"/>
                  </a:lnTo>
                  <a:lnTo>
                    <a:pt x="215017" y="165709"/>
                  </a:lnTo>
                  <a:lnTo>
                    <a:pt x="213037" y="162445"/>
                  </a:lnTo>
                </a:path>
                <a:path w="222884" h="213360">
                  <a:moveTo>
                    <a:pt x="353" y="157937"/>
                  </a:moveTo>
                  <a:lnTo>
                    <a:pt x="15234" y="143637"/>
                  </a:lnTo>
                  <a:lnTo>
                    <a:pt x="19476" y="143624"/>
                  </a:lnTo>
                </a:path>
                <a:path w="222884" h="213360">
                  <a:moveTo>
                    <a:pt x="55825" y="143573"/>
                  </a:moveTo>
                  <a:lnTo>
                    <a:pt x="70336" y="158826"/>
                  </a:lnTo>
                  <a:lnTo>
                    <a:pt x="70351" y="162471"/>
                  </a:lnTo>
                </a:path>
                <a:path w="222884" h="213360">
                  <a:moveTo>
                    <a:pt x="70281" y="199732"/>
                  </a:moveTo>
                  <a:lnTo>
                    <a:pt x="69919" y="202476"/>
                  </a:lnTo>
                  <a:lnTo>
                    <a:pt x="69363" y="204355"/>
                  </a:lnTo>
                  <a:lnTo>
                    <a:pt x="67955" y="207200"/>
                  </a:lnTo>
                  <a:lnTo>
                    <a:pt x="66243" y="209651"/>
                  </a:lnTo>
                </a:path>
                <a:path w="222884" h="213360">
                  <a:moveTo>
                    <a:pt x="152072" y="14262"/>
                  </a:moveTo>
                  <a:lnTo>
                    <a:pt x="166637" y="254"/>
                  </a:lnTo>
                  <a:lnTo>
                    <a:pt x="170275" y="203"/>
                  </a:lnTo>
                </a:path>
                <a:path w="222884" h="213360">
                  <a:moveTo>
                    <a:pt x="222186" y="57277"/>
                  </a:moveTo>
                  <a:lnTo>
                    <a:pt x="221809" y="59690"/>
                  </a:lnTo>
                  <a:lnTo>
                    <a:pt x="221049" y="61937"/>
                  </a:lnTo>
                  <a:lnTo>
                    <a:pt x="219422" y="64795"/>
                  </a:lnTo>
                  <a:lnTo>
                    <a:pt x="218767" y="65468"/>
                  </a:lnTo>
                </a:path>
                <a:path w="222884" h="213360">
                  <a:moveTo>
                    <a:pt x="14630" y="279"/>
                  </a:moveTo>
                  <a:lnTo>
                    <a:pt x="361" y="15240"/>
                  </a:lnTo>
                  <a:lnTo>
                    <a:pt x="361" y="19481"/>
                  </a:lnTo>
                </a:path>
                <a:path w="222884" h="213360">
                  <a:moveTo>
                    <a:pt x="55825" y="69773"/>
                  </a:moveTo>
                  <a:lnTo>
                    <a:pt x="70361" y="54317"/>
                  </a:lnTo>
                  <a:lnTo>
                    <a:pt x="70356" y="50685"/>
                  </a:lnTo>
                </a:path>
                <a:path w="222884" h="213360">
                  <a:moveTo>
                    <a:pt x="70321" y="13423"/>
                  </a:moveTo>
                  <a:lnTo>
                    <a:pt x="69964" y="10680"/>
                  </a:lnTo>
                  <a:lnTo>
                    <a:pt x="69378" y="8801"/>
                  </a:lnTo>
                  <a:lnTo>
                    <a:pt x="68456" y="6908"/>
                  </a:lnTo>
                  <a:lnTo>
                    <a:pt x="66125" y="3721"/>
                  </a:lnTo>
                </a:path>
                <a:path w="222884" h="213360">
                  <a:moveTo>
                    <a:pt x="211857" y="161696"/>
                  </a:moveTo>
                  <a:lnTo>
                    <a:pt x="187905" y="159842"/>
                  </a:lnTo>
                </a:path>
                <a:path w="222884" h="213360">
                  <a:moveTo>
                    <a:pt x="211857" y="161696"/>
                  </a:moveTo>
                  <a:lnTo>
                    <a:pt x="213037" y="162445"/>
                  </a:lnTo>
                </a:path>
                <a:path w="222884" h="213360">
                  <a:moveTo>
                    <a:pt x="111348" y="181292"/>
                  </a:moveTo>
                  <a:lnTo>
                    <a:pt x="111408" y="143344"/>
                  </a:lnTo>
                </a:path>
                <a:path w="222884" h="213360">
                  <a:moveTo>
                    <a:pt x="65082" y="210477"/>
                  </a:moveTo>
                  <a:lnTo>
                    <a:pt x="66243" y="209651"/>
                  </a:lnTo>
                </a:path>
                <a:path w="222884" h="213360">
                  <a:moveTo>
                    <a:pt x="64964" y="2921"/>
                  </a:moveTo>
                  <a:lnTo>
                    <a:pt x="66125" y="3721"/>
                  </a:lnTo>
                </a:path>
                <a:path w="222884" h="213360">
                  <a:moveTo>
                    <a:pt x="111001" y="106565"/>
                  </a:moveTo>
                  <a:lnTo>
                    <a:pt x="111486" y="31343"/>
                  </a:lnTo>
                </a:path>
                <a:path w="222884" h="213360">
                  <a:moveTo>
                    <a:pt x="34279" y="106743"/>
                  </a:moveTo>
                  <a:lnTo>
                    <a:pt x="111001" y="106565"/>
                  </a:lnTo>
                </a:path>
                <a:path w="222884" h="213360">
                  <a:moveTo>
                    <a:pt x="189106" y="106743"/>
                  </a:moveTo>
                  <a:lnTo>
                    <a:pt x="155535" y="106870"/>
                  </a:lnTo>
                  <a:lnTo>
                    <a:pt x="155298" y="142709"/>
                  </a:lnTo>
                </a:path>
                <a:path w="222884" h="213360">
                  <a:moveTo>
                    <a:pt x="137328" y="142976"/>
                  </a:moveTo>
                  <a:lnTo>
                    <a:pt x="155298" y="142709"/>
                  </a:lnTo>
                </a:path>
                <a:path w="222884" h="213360">
                  <a:moveTo>
                    <a:pt x="14630" y="213131"/>
                  </a:moveTo>
                  <a:lnTo>
                    <a:pt x="3096" y="207784"/>
                  </a:lnTo>
                  <a:lnTo>
                    <a:pt x="1722" y="206019"/>
                  </a:lnTo>
                  <a:lnTo>
                    <a:pt x="824" y="204038"/>
                  </a:lnTo>
                  <a:lnTo>
                    <a:pt x="412" y="201828"/>
                  </a:lnTo>
                  <a:lnTo>
                    <a:pt x="0" y="199618"/>
                  </a:lnTo>
                  <a:lnTo>
                    <a:pt x="114" y="197446"/>
                  </a:lnTo>
                  <a:lnTo>
                    <a:pt x="754" y="195300"/>
                  </a:lnTo>
                </a:path>
                <a:path w="222884" h="213360">
                  <a:moveTo>
                    <a:pt x="372" y="195186"/>
                  </a:moveTo>
                  <a:lnTo>
                    <a:pt x="353" y="157937"/>
                  </a:lnTo>
                </a:path>
                <a:path w="222884" h="213360">
                  <a:moveTo>
                    <a:pt x="205110" y="69850"/>
                  </a:moveTo>
                  <a:lnTo>
                    <a:pt x="166941" y="69862"/>
                  </a:lnTo>
                </a:path>
                <a:path w="222884" h="213360">
                  <a:moveTo>
                    <a:pt x="19476" y="143624"/>
                  </a:moveTo>
                  <a:lnTo>
                    <a:pt x="55825" y="143573"/>
                  </a:lnTo>
                </a:path>
                <a:path w="222884" h="213360">
                  <a:moveTo>
                    <a:pt x="176282" y="175488"/>
                  </a:moveTo>
                  <a:lnTo>
                    <a:pt x="176336" y="206349"/>
                  </a:lnTo>
                </a:path>
                <a:path w="222884" h="213360">
                  <a:moveTo>
                    <a:pt x="166931" y="69786"/>
                  </a:moveTo>
                  <a:lnTo>
                    <a:pt x="164727" y="70027"/>
                  </a:lnTo>
                  <a:lnTo>
                    <a:pt x="162595" y="69735"/>
                  </a:lnTo>
                  <a:lnTo>
                    <a:pt x="160536" y="68910"/>
                  </a:lnTo>
                  <a:lnTo>
                    <a:pt x="158476" y="68097"/>
                  </a:lnTo>
                  <a:lnTo>
                    <a:pt x="152370" y="59397"/>
                  </a:lnTo>
                  <a:lnTo>
                    <a:pt x="151874" y="57238"/>
                  </a:lnTo>
                  <a:lnTo>
                    <a:pt x="151909" y="55092"/>
                  </a:lnTo>
                  <a:lnTo>
                    <a:pt x="152474" y="52946"/>
                  </a:lnTo>
                </a:path>
                <a:path w="222884" h="213360">
                  <a:moveTo>
                    <a:pt x="215949" y="202158"/>
                  </a:moveTo>
                  <a:lnTo>
                    <a:pt x="215836" y="169430"/>
                  </a:lnTo>
                </a:path>
                <a:path w="222884" h="213360">
                  <a:moveTo>
                    <a:pt x="152167" y="52857"/>
                  </a:moveTo>
                  <a:lnTo>
                    <a:pt x="152072" y="14262"/>
                  </a:lnTo>
                </a:path>
                <a:path w="222884" h="213360">
                  <a:moveTo>
                    <a:pt x="170275" y="203"/>
                  </a:moveTo>
                  <a:lnTo>
                    <a:pt x="208266" y="127"/>
                  </a:lnTo>
                </a:path>
                <a:path w="222884" h="213360">
                  <a:moveTo>
                    <a:pt x="208260" y="76"/>
                  </a:moveTo>
                  <a:lnTo>
                    <a:pt x="210452" y="0"/>
                  </a:lnTo>
                  <a:lnTo>
                    <a:pt x="212547" y="431"/>
                  </a:lnTo>
                  <a:lnTo>
                    <a:pt x="214530" y="1371"/>
                  </a:lnTo>
                  <a:lnTo>
                    <a:pt x="216515" y="2311"/>
                  </a:lnTo>
                  <a:lnTo>
                    <a:pt x="222543" y="13373"/>
                  </a:lnTo>
                  <a:lnTo>
                    <a:pt x="222434" y="15506"/>
                  </a:lnTo>
                  <a:lnTo>
                    <a:pt x="221814" y="17614"/>
                  </a:lnTo>
                </a:path>
                <a:path w="222884" h="213360">
                  <a:moveTo>
                    <a:pt x="70351" y="162471"/>
                  </a:moveTo>
                  <a:lnTo>
                    <a:pt x="70281" y="199732"/>
                  </a:lnTo>
                </a:path>
                <a:path w="222884" h="213360">
                  <a:moveTo>
                    <a:pt x="361" y="19481"/>
                  </a:moveTo>
                  <a:lnTo>
                    <a:pt x="361" y="55816"/>
                  </a:lnTo>
                  <a:lnTo>
                    <a:pt x="1539" y="62125"/>
                  </a:lnTo>
                  <a:lnTo>
                    <a:pt x="6181" y="67029"/>
                  </a:lnTo>
                  <a:lnTo>
                    <a:pt x="12465" y="69805"/>
                  </a:lnTo>
                  <a:lnTo>
                    <a:pt x="18563" y="69735"/>
                  </a:lnTo>
                </a:path>
                <a:path w="222884" h="213360">
                  <a:moveTo>
                    <a:pt x="222190" y="17729"/>
                  </a:moveTo>
                  <a:lnTo>
                    <a:pt x="222186" y="57277"/>
                  </a:lnTo>
                </a:path>
                <a:path w="222884" h="213360">
                  <a:moveTo>
                    <a:pt x="18563" y="69735"/>
                  </a:moveTo>
                  <a:lnTo>
                    <a:pt x="55825" y="69773"/>
                  </a:lnTo>
                </a:path>
                <a:path w="222884" h="213360">
                  <a:moveTo>
                    <a:pt x="70356" y="50685"/>
                  </a:moveTo>
                  <a:lnTo>
                    <a:pt x="70321" y="13423"/>
                  </a:lnTo>
                </a:path>
              </a:pathLst>
            </a:custGeom>
            <a:ln w="98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7340" y="3151028"/>
            <a:ext cx="2019935" cy="838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>
                <a:solidFill>
                  <a:srgbClr val="66524F"/>
                </a:solidFill>
                <a:latin typeface="Tahoma"/>
                <a:cs typeface="Tahoma"/>
              </a:rPr>
              <a:t>Your</a:t>
            </a:r>
            <a:r>
              <a:rPr sz="1850" spc="4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850" spc="60">
                <a:solidFill>
                  <a:srgbClr val="66524F"/>
                </a:solidFill>
                <a:latin typeface="Tahoma"/>
                <a:cs typeface="Tahoma"/>
              </a:rPr>
              <a:t>Code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05800"/>
              </a:lnSpc>
              <a:spcBef>
                <a:spcPts val="865"/>
              </a:spcBef>
            </a:pP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Python,</a:t>
            </a:r>
            <a:r>
              <a:rPr sz="1300" spc="-10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95">
                <a:solidFill>
                  <a:srgbClr val="66524F"/>
                </a:solidFill>
                <a:latin typeface="Verdana"/>
                <a:cs typeface="Verdana"/>
              </a:rPr>
              <a:t>R,</a:t>
            </a:r>
            <a:r>
              <a:rPr sz="1300" spc="-10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or</a:t>
            </a:r>
            <a:r>
              <a:rPr sz="1300" spc="-9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any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programming</a:t>
            </a:r>
            <a:r>
              <a:rPr sz="1300" spc="1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language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48075" y="2343149"/>
            <a:ext cx="2886075" cy="1828800"/>
            <a:chOff x="3648075" y="2343149"/>
            <a:chExt cx="2886075" cy="1828800"/>
          </a:xfrm>
        </p:grpSpPr>
        <p:sp>
          <p:nvSpPr>
            <p:cNvPr id="16" name="object 16"/>
            <p:cNvSpPr/>
            <p:nvPr/>
          </p:nvSpPr>
          <p:spPr>
            <a:xfrm>
              <a:off x="3657600" y="2352674"/>
              <a:ext cx="2867025" cy="1809750"/>
            </a:xfrm>
            <a:custGeom>
              <a:avLst/>
              <a:gdLst/>
              <a:ahLst/>
              <a:cxnLst/>
              <a:rect l="l" t="t" r="r" b="b"/>
              <a:pathLst>
                <a:path w="2867025" h="1809750">
                  <a:moveTo>
                    <a:pt x="2825292" y="0"/>
                  </a:moveTo>
                  <a:lnTo>
                    <a:pt x="41732" y="0"/>
                  </a:lnTo>
                  <a:lnTo>
                    <a:pt x="35598" y="1219"/>
                  </a:lnTo>
                  <a:lnTo>
                    <a:pt x="1219" y="35598"/>
                  </a:lnTo>
                  <a:lnTo>
                    <a:pt x="0" y="41732"/>
                  </a:lnTo>
                  <a:lnTo>
                    <a:pt x="0" y="1761629"/>
                  </a:lnTo>
                  <a:lnTo>
                    <a:pt x="0" y="1768017"/>
                  </a:lnTo>
                  <a:lnTo>
                    <a:pt x="23812" y="1803641"/>
                  </a:lnTo>
                  <a:lnTo>
                    <a:pt x="41732" y="1809750"/>
                  </a:lnTo>
                  <a:lnTo>
                    <a:pt x="2825292" y="1809750"/>
                  </a:lnTo>
                  <a:lnTo>
                    <a:pt x="2860916" y="1785937"/>
                  </a:lnTo>
                  <a:lnTo>
                    <a:pt x="2867025" y="1768017"/>
                  </a:lnTo>
                  <a:lnTo>
                    <a:pt x="2867025" y="41732"/>
                  </a:lnTo>
                  <a:lnTo>
                    <a:pt x="2843212" y="6108"/>
                  </a:lnTo>
                  <a:lnTo>
                    <a:pt x="2831426" y="1219"/>
                  </a:lnTo>
                  <a:lnTo>
                    <a:pt x="2825292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657600" y="2352674"/>
              <a:ext cx="2867025" cy="1809750"/>
            </a:xfrm>
            <a:custGeom>
              <a:avLst/>
              <a:gdLst/>
              <a:ahLst/>
              <a:cxnLst/>
              <a:rect l="l" t="t" r="r" b="b"/>
              <a:pathLst>
                <a:path w="2867025" h="1809750">
                  <a:moveTo>
                    <a:pt x="0" y="1761629"/>
                  </a:moveTo>
                  <a:lnTo>
                    <a:pt x="0" y="48120"/>
                  </a:lnTo>
                  <a:lnTo>
                    <a:pt x="0" y="41732"/>
                  </a:lnTo>
                  <a:lnTo>
                    <a:pt x="1219" y="35598"/>
                  </a:lnTo>
                  <a:lnTo>
                    <a:pt x="29705" y="3657"/>
                  </a:lnTo>
                  <a:lnTo>
                    <a:pt x="41732" y="0"/>
                  </a:lnTo>
                  <a:lnTo>
                    <a:pt x="48120" y="0"/>
                  </a:lnTo>
                  <a:lnTo>
                    <a:pt x="2818904" y="0"/>
                  </a:lnTo>
                  <a:lnTo>
                    <a:pt x="2825292" y="0"/>
                  </a:lnTo>
                  <a:lnTo>
                    <a:pt x="2831426" y="1219"/>
                  </a:lnTo>
                  <a:lnTo>
                    <a:pt x="2863367" y="29705"/>
                  </a:lnTo>
                  <a:lnTo>
                    <a:pt x="2867025" y="41732"/>
                  </a:lnTo>
                  <a:lnTo>
                    <a:pt x="2867025" y="48120"/>
                  </a:lnTo>
                  <a:lnTo>
                    <a:pt x="2867025" y="1761629"/>
                  </a:lnTo>
                  <a:lnTo>
                    <a:pt x="2867025" y="1768017"/>
                  </a:lnTo>
                  <a:lnTo>
                    <a:pt x="2865805" y="1774151"/>
                  </a:lnTo>
                  <a:lnTo>
                    <a:pt x="2863367" y="1780044"/>
                  </a:lnTo>
                  <a:lnTo>
                    <a:pt x="2860916" y="1785937"/>
                  </a:lnTo>
                  <a:lnTo>
                    <a:pt x="2857449" y="1791144"/>
                  </a:lnTo>
                  <a:lnTo>
                    <a:pt x="2852928" y="1795653"/>
                  </a:lnTo>
                  <a:lnTo>
                    <a:pt x="2848419" y="1800161"/>
                  </a:lnTo>
                  <a:lnTo>
                    <a:pt x="2843212" y="1803641"/>
                  </a:lnTo>
                  <a:lnTo>
                    <a:pt x="2837319" y="1806079"/>
                  </a:lnTo>
                  <a:lnTo>
                    <a:pt x="2831426" y="1808530"/>
                  </a:lnTo>
                  <a:lnTo>
                    <a:pt x="2825292" y="1809750"/>
                  </a:lnTo>
                  <a:lnTo>
                    <a:pt x="2818904" y="1809750"/>
                  </a:lnTo>
                  <a:lnTo>
                    <a:pt x="48120" y="1809750"/>
                  </a:lnTo>
                  <a:lnTo>
                    <a:pt x="41732" y="1809750"/>
                  </a:lnTo>
                  <a:lnTo>
                    <a:pt x="35598" y="1808530"/>
                  </a:lnTo>
                  <a:lnTo>
                    <a:pt x="29705" y="1806079"/>
                  </a:lnTo>
                  <a:lnTo>
                    <a:pt x="23812" y="1803641"/>
                  </a:lnTo>
                  <a:lnTo>
                    <a:pt x="18605" y="1800161"/>
                  </a:lnTo>
                  <a:lnTo>
                    <a:pt x="14097" y="1795653"/>
                  </a:lnTo>
                  <a:lnTo>
                    <a:pt x="9575" y="1791144"/>
                  </a:lnTo>
                  <a:lnTo>
                    <a:pt x="6096" y="1785937"/>
                  </a:lnTo>
                  <a:lnTo>
                    <a:pt x="3657" y="1780044"/>
                  </a:lnTo>
                  <a:lnTo>
                    <a:pt x="1219" y="1774151"/>
                  </a:lnTo>
                  <a:lnTo>
                    <a:pt x="0" y="1768017"/>
                  </a:lnTo>
                  <a:lnTo>
                    <a:pt x="0" y="1761629"/>
                  </a:lnTo>
                  <a:close/>
                </a:path>
              </a:pathLst>
            </a:custGeom>
            <a:ln w="19050">
              <a:solidFill>
                <a:srgbClr val="FFE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29050" y="2524124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5765" y="0"/>
                  </a:moveTo>
                  <a:lnTo>
                    <a:pt x="239534" y="0"/>
                  </a:lnTo>
                  <a:lnTo>
                    <a:pt x="231444" y="393"/>
                  </a:lnTo>
                  <a:lnTo>
                    <a:pt x="191376" y="6337"/>
                  </a:lnTo>
                  <a:lnTo>
                    <a:pt x="145389" y="21958"/>
                  </a:lnTo>
                  <a:lnTo>
                    <a:pt x="103314" y="46240"/>
                  </a:lnTo>
                  <a:lnTo>
                    <a:pt x="66802" y="78270"/>
                  </a:lnTo>
                  <a:lnTo>
                    <a:pt x="37236" y="116801"/>
                  </a:lnTo>
                  <a:lnTo>
                    <a:pt x="15748" y="160375"/>
                  </a:lnTo>
                  <a:lnTo>
                    <a:pt x="3175" y="207289"/>
                  </a:lnTo>
                  <a:lnTo>
                    <a:pt x="0" y="239534"/>
                  </a:lnTo>
                  <a:lnTo>
                    <a:pt x="0" y="255765"/>
                  </a:lnTo>
                  <a:lnTo>
                    <a:pt x="6337" y="303923"/>
                  </a:lnTo>
                  <a:lnTo>
                    <a:pt x="21958" y="349910"/>
                  </a:lnTo>
                  <a:lnTo>
                    <a:pt x="46240" y="391985"/>
                  </a:lnTo>
                  <a:lnTo>
                    <a:pt x="78270" y="428498"/>
                  </a:lnTo>
                  <a:lnTo>
                    <a:pt x="116801" y="458063"/>
                  </a:lnTo>
                  <a:lnTo>
                    <a:pt x="160375" y="479552"/>
                  </a:lnTo>
                  <a:lnTo>
                    <a:pt x="207289" y="492125"/>
                  </a:lnTo>
                  <a:lnTo>
                    <a:pt x="239534" y="495300"/>
                  </a:lnTo>
                  <a:lnTo>
                    <a:pt x="255765" y="495300"/>
                  </a:lnTo>
                  <a:lnTo>
                    <a:pt x="303911" y="488950"/>
                  </a:lnTo>
                  <a:lnTo>
                    <a:pt x="349910" y="473341"/>
                  </a:lnTo>
                  <a:lnTo>
                    <a:pt x="391972" y="449059"/>
                  </a:lnTo>
                  <a:lnTo>
                    <a:pt x="428498" y="417029"/>
                  </a:lnTo>
                  <a:lnTo>
                    <a:pt x="458063" y="378485"/>
                  </a:lnTo>
                  <a:lnTo>
                    <a:pt x="479552" y="334924"/>
                  </a:lnTo>
                  <a:lnTo>
                    <a:pt x="492125" y="288010"/>
                  </a:lnTo>
                  <a:lnTo>
                    <a:pt x="495300" y="255765"/>
                  </a:lnTo>
                  <a:lnTo>
                    <a:pt x="495300" y="247650"/>
                  </a:lnTo>
                  <a:lnTo>
                    <a:pt x="495300" y="239534"/>
                  </a:lnTo>
                  <a:lnTo>
                    <a:pt x="488962" y="191376"/>
                  </a:lnTo>
                  <a:lnTo>
                    <a:pt x="473341" y="145389"/>
                  </a:lnTo>
                  <a:lnTo>
                    <a:pt x="449059" y="103314"/>
                  </a:lnTo>
                  <a:lnTo>
                    <a:pt x="417029" y="66802"/>
                  </a:lnTo>
                  <a:lnTo>
                    <a:pt x="378498" y="37223"/>
                  </a:lnTo>
                  <a:lnTo>
                    <a:pt x="334924" y="15748"/>
                  </a:lnTo>
                  <a:lnTo>
                    <a:pt x="288010" y="3175"/>
                  </a:lnTo>
                  <a:lnTo>
                    <a:pt x="263855" y="393"/>
                  </a:lnTo>
                  <a:lnTo>
                    <a:pt x="255765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72084" y="2652716"/>
              <a:ext cx="221422" cy="23187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819321" y="3151028"/>
            <a:ext cx="2374265" cy="838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10">
                <a:solidFill>
                  <a:srgbClr val="66524F"/>
                </a:solidFill>
                <a:latin typeface="Tahoma"/>
                <a:cs typeface="Tahoma"/>
              </a:rPr>
              <a:t>Libraries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05800"/>
              </a:lnSpc>
              <a:spcBef>
                <a:spcPts val="865"/>
              </a:spcBef>
            </a:pP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Pandas,</a:t>
            </a:r>
            <a:r>
              <a:rPr sz="1300" spc="-55">
                <a:solidFill>
                  <a:srgbClr val="66524F"/>
                </a:solidFill>
                <a:latin typeface="Verdana"/>
                <a:cs typeface="Verdana"/>
              </a:rPr>
              <a:t> Tidyverse,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other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dependencies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9600" y="4324350"/>
            <a:ext cx="5924550" cy="1619250"/>
            <a:chOff x="609600" y="4324350"/>
            <a:chExt cx="5924550" cy="1619250"/>
          </a:xfrm>
        </p:grpSpPr>
        <p:sp>
          <p:nvSpPr>
            <p:cNvPr id="22" name="object 22"/>
            <p:cNvSpPr/>
            <p:nvPr/>
          </p:nvSpPr>
          <p:spPr>
            <a:xfrm>
              <a:off x="619125" y="4333875"/>
              <a:ext cx="5905500" cy="1600200"/>
            </a:xfrm>
            <a:custGeom>
              <a:avLst/>
              <a:gdLst/>
              <a:ahLst/>
              <a:cxnLst/>
              <a:rect l="l" t="t" r="r" b="b"/>
              <a:pathLst>
                <a:path w="5905500" h="1600200">
                  <a:moveTo>
                    <a:pt x="5863767" y="0"/>
                  </a:moveTo>
                  <a:lnTo>
                    <a:pt x="41736" y="0"/>
                  </a:lnTo>
                  <a:lnTo>
                    <a:pt x="35599" y="1219"/>
                  </a:lnTo>
                  <a:lnTo>
                    <a:pt x="1220" y="35598"/>
                  </a:lnTo>
                  <a:lnTo>
                    <a:pt x="0" y="41732"/>
                  </a:lnTo>
                  <a:lnTo>
                    <a:pt x="0" y="1552084"/>
                  </a:lnTo>
                  <a:lnTo>
                    <a:pt x="0" y="1558464"/>
                  </a:lnTo>
                  <a:lnTo>
                    <a:pt x="23807" y="1594093"/>
                  </a:lnTo>
                  <a:lnTo>
                    <a:pt x="41736" y="1600196"/>
                  </a:lnTo>
                  <a:lnTo>
                    <a:pt x="5863767" y="1600196"/>
                  </a:lnTo>
                  <a:lnTo>
                    <a:pt x="5899391" y="1576388"/>
                  </a:lnTo>
                  <a:lnTo>
                    <a:pt x="5905500" y="1558464"/>
                  </a:lnTo>
                  <a:lnTo>
                    <a:pt x="5905500" y="41732"/>
                  </a:lnTo>
                  <a:lnTo>
                    <a:pt x="5881687" y="6108"/>
                  </a:lnTo>
                  <a:lnTo>
                    <a:pt x="5869901" y="1219"/>
                  </a:lnTo>
                  <a:lnTo>
                    <a:pt x="5863767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9125" y="4333875"/>
              <a:ext cx="5905500" cy="1600200"/>
            </a:xfrm>
            <a:custGeom>
              <a:avLst/>
              <a:gdLst/>
              <a:ahLst/>
              <a:cxnLst/>
              <a:rect l="l" t="t" r="r" b="b"/>
              <a:pathLst>
                <a:path w="5905500" h="1600200">
                  <a:moveTo>
                    <a:pt x="0" y="1552084"/>
                  </a:moveTo>
                  <a:lnTo>
                    <a:pt x="0" y="48120"/>
                  </a:lnTo>
                  <a:lnTo>
                    <a:pt x="0" y="41732"/>
                  </a:lnTo>
                  <a:lnTo>
                    <a:pt x="1220" y="35598"/>
                  </a:lnTo>
                  <a:lnTo>
                    <a:pt x="29701" y="3657"/>
                  </a:lnTo>
                  <a:lnTo>
                    <a:pt x="41736" y="0"/>
                  </a:lnTo>
                  <a:lnTo>
                    <a:pt x="48116" y="0"/>
                  </a:lnTo>
                  <a:lnTo>
                    <a:pt x="5857379" y="0"/>
                  </a:lnTo>
                  <a:lnTo>
                    <a:pt x="5863767" y="0"/>
                  </a:lnTo>
                  <a:lnTo>
                    <a:pt x="5869901" y="1219"/>
                  </a:lnTo>
                  <a:lnTo>
                    <a:pt x="5901842" y="29705"/>
                  </a:lnTo>
                  <a:lnTo>
                    <a:pt x="5905500" y="41732"/>
                  </a:lnTo>
                  <a:lnTo>
                    <a:pt x="5905500" y="48120"/>
                  </a:lnTo>
                  <a:lnTo>
                    <a:pt x="5905500" y="1552084"/>
                  </a:lnTo>
                  <a:lnTo>
                    <a:pt x="5905500" y="1558464"/>
                  </a:lnTo>
                  <a:lnTo>
                    <a:pt x="5904280" y="1564601"/>
                  </a:lnTo>
                  <a:lnTo>
                    <a:pt x="5901842" y="1570494"/>
                  </a:lnTo>
                  <a:lnTo>
                    <a:pt x="5899391" y="1576388"/>
                  </a:lnTo>
                  <a:lnTo>
                    <a:pt x="5895924" y="1581591"/>
                  </a:lnTo>
                  <a:lnTo>
                    <a:pt x="5891403" y="1586106"/>
                  </a:lnTo>
                  <a:lnTo>
                    <a:pt x="5886894" y="1590616"/>
                  </a:lnTo>
                  <a:lnTo>
                    <a:pt x="5881687" y="1594093"/>
                  </a:lnTo>
                  <a:lnTo>
                    <a:pt x="5875794" y="1596534"/>
                  </a:lnTo>
                  <a:lnTo>
                    <a:pt x="5869901" y="1598975"/>
                  </a:lnTo>
                  <a:lnTo>
                    <a:pt x="5863767" y="1600196"/>
                  </a:lnTo>
                  <a:lnTo>
                    <a:pt x="5857379" y="1600201"/>
                  </a:lnTo>
                  <a:lnTo>
                    <a:pt x="48116" y="1600201"/>
                  </a:lnTo>
                  <a:lnTo>
                    <a:pt x="14094" y="1586106"/>
                  </a:lnTo>
                  <a:lnTo>
                    <a:pt x="9579" y="1581591"/>
                  </a:lnTo>
                  <a:lnTo>
                    <a:pt x="6102" y="1576388"/>
                  </a:lnTo>
                  <a:lnTo>
                    <a:pt x="3661" y="1570494"/>
                  </a:lnTo>
                  <a:lnTo>
                    <a:pt x="1220" y="1564601"/>
                  </a:lnTo>
                  <a:lnTo>
                    <a:pt x="0" y="1558464"/>
                  </a:lnTo>
                  <a:lnTo>
                    <a:pt x="0" y="1552084"/>
                  </a:lnTo>
                  <a:close/>
                </a:path>
              </a:pathLst>
            </a:custGeom>
            <a:ln w="19050">
              <a:solidFill>
                <a:srgbClr val="FFE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90575" y="4505325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55761" y="0"/>
                  </a:moveTo>
                  <a:lnTo>
                    <a:pt x="239538" y="0"/>
                  </a:lnTo>
                  <a:lnTo>
                    <a:pt x="231447" y="393"/>
                  </a:lnTo>
                  <a:lnTo>
                    <a:pt x="191382" y="6337"/>
                  </a:lnTo>
                  <a:lnTo>
                    <a:pt x="145385" y="21958"/>
                  </a:lnTo>
                  <a:lnTo>
                    <a:pt x="103320" y="46240"/>
                  </a:lnTo>
                  <a:lnTo>
                    <a:pt x="66799" y="78270"/>
                  </a:lnTo>
                  <a:lnTo>
                    <a:pt x="37231" y="116801"/>
                  </a:lnTo>
                  <a:lnTo>
                    <a:pt x="15745" y="160362"/>
                  </a:lnTo>
                  <a:lnTo>
                    <a:pt x="3175" y="207289"/>
                  </a:lnTo>
                  <a:lnTo>
                    <a:pt x="0" y="239534"/>
                  </a:lnTo>
                  <a:lnTo>
                    <a:pt x="0" y="255765"/>
                  </a:lnTo>
                  <a:lnTo>
                    <a:pt x="6339" y="303923"/>
                  </a:lnTo>
                  <a:lnTo>
                    <a:pt x="21957" y="349910"/>
                  </a:lnTo>
                  <a:lnTo>
                    <a:pt x="46240" y="391985"/>
                  </a:lnTo>
                  <a:lnTo>
                    <a:pt x="78268" y="428498"/>
                  </a:lnTo>
                  <a:lnTo>
                    <a:pt x="116805" y="458063"/>
                  </a:lnTo>
                  <a:lnTo>
                    <a:pt x="160371" y="479552"/>
                  </a:lnTo>
                  <a:lnTo>
                    <a:pt x="207293" y="492125"/>
                  </a:lnTo>
                  <a:lnTo>
                    <a:pt x="239538" y="495300"/>
                  </a:lnTo>
                  <a:lnTo>
                    <a:pt x="255761" y="495300"/>
                  </a:lnTo>
                  <a:lnTo>
                    <a:pt x="303917" y="488950"/>
                  </a:lnTo>
                  <a:lnTo>
                    <a:pt x="349914" y="473341"/>
                  </a:lnTo>
                  <a:lnTo>
                    <a:pt x="391979" y="449059"/>
                  </a:lnTo>
                  <a:lnTo>
                    <a:pt x="428500" y="417029"/>
                  </a:lnTo>
                  <a:lnTo>
                    <a:pt x="458068" y="378485"/>
                  </a:lnTo>
                  <a:lnTo>
                    <a:pt x="479552" y="334924"/>
                  </a:lnTo>
                  <a:lnTo>
                    <a:pt x="492125" y="288010"/>
                  </a:lnTo>
                  <a:lnTo>
                    <a:pt x="495300" y="255765"/>
                  </a:lnTo>
                  <a:lnTo>
                    <a:pt x="495300" y="247650"/>
                  </a:lnTo>
                  <a:lnTo>
                    <a:pt x="495300" y="239534"/>
                  </a:lnTo>
                  <a:lnTo>
                    <a:pt x="488962" y="191376"/>
                  </a:lnTo>
                  <a:lnTo>
                    <a:pt x="473342" y="145376"/>
                  </a:lnTo>
                  <a:lnTo>
                    <a:pt x="449059" y="103314"/>
                  </a:lnTo>
                  <a:lnTo>
                    <a:pt x="417031" y="66802"/>
                  </a:lnTo>
                  <a:lnTo>
                    <a:pt x="378494" y="37223"/>
                  </a:lnTo>
                  <a:lnTo>
                    <a:pt x="334928" y="15748"/>
                  </a:lnTo>
                  <a:lnTo>
                    <a:pt x="288006" y="3175"/>
                  </a:lnTo>
                  <a:lnTo>
                    <a:pt x="263852" y="393"/>
                  </a:lnTo>
                  <a:lnTo>
                    <a:pt x="255761" y="0"/>
                  </a:lnTo>
                  <a:close/>
                </a:path>
              </a:pathLst>
            </a:custGeom>
            <a:solidFill>
              <a:srgbClr val="FF94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5108" y="4633753"/>
              <a:ext cx="100017" cy="232498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77577" y="5132229"/>
            <a:ext cx="3664585" cy="6286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-35">
                <a:solidFill>
                  <a:srgbClr val="66524F"/>
                </a:solidFill>
                <a:latin typeface="Tahoma"/>
                <a:cs typeface="Tahoma"/>
              </a:rPr>
              <a:t>System</a:t>
            </a:r>
            <a:r>
              <a:rPr sz="1850" spc="-10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850" spc="-10">
                <a:solidFill>
                  <a:srgbClr val="66524F"/>
                </a:solidFill>
                <a:latin typeface="Tahoma"/>
                <a:cs typeface="Tahoma"/>
              </a:rPr>
              <a:t>Tools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Everything</a:t>
            </a:r>
            <a:r>
              <a:rPr sz="13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needed</a:t>
            </a:r>
            <a:r>
              <a:rPr sz="13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to</a:t>
            </a:r>
            <a:r>
              <a:rPr sz="13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run</a:t>
            </a:r>
            <a:r>
              <a:rPr sz="13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your</a:t>
            </a:r>
            <a:r>
              <a:rPr sz="13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environment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1026" name="Picture 2" descr="What is a Container? | Docker">
            <a:extLst>
              <a:ext uri="{FF2B5EF4-FFF2-40B4-BE49-F238E27FC236}">
                <a16:creationId xmlns:a16="http://schemas.microsoft.com/office/drawing/2014/main" id="{BED974F6-6C6A-E4FC-CC0E-4AB534362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0395" y="701515"/>
            <a:ext cx="5658011" cy="489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F9CE3F0-AEE2-3F6F-2647-B902FF80D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C5FAB7-3246-D88D-040C-3C5BEC7959F1}"/>
              </a:ext>
            </a:extLst>
          </p:cNvPr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365CEDE-D72F-AD2B-F9F1-AC06157AA7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908425"/>
            <a:ext cx="11430000" cy="2530473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0021BFB4-3AA7-C619-6429-FE2BC56A4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466" y="536854"/>
            <a:ext cx="8612734" cy="4381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88694">
              <a:lnSpc>
                <a:spcPct val="109400"/>
              </a:lnSpc>
              <a:spcBef>
                <a:spcPts val="95"/>
              </a:spcBef>
            </a:pPr>
            <a:r>
              <a:rPr lang="en-US" sz="2800"/>
              <a:t>History</a:t>
            </a:r>
            <a:r>
              <a:rPr lang="en-US" sz="2800" spc="-95"/>
              <a:t> </a:t>
            </a:r>
            <a:r>
              <a:rPr lang="en-US" sz="2800" spc="375"/>
              <a:t>&amp;</a:t>
            </a:r>
            <a:r>
              <a:rPr lang="en-US" sz="2800" spc="-90"/>
              <a:t> </a:t>
            </a:r>
            <a:r>
              <a:rPr lang="en-US" sz="2800" spc="-30"/>
              <a:t>Evolution:</a:t>
            </a:r>
            <a:r>
              <a:rPr lang="en-US" sz="2800" spc="-95"/>
              <a:t> </a:t>
            </a:r>
            <a:r>
              <a:rPr lang="en-US" sz="2800" spc="-20"/>
              <a:t>From </a:t>
            </a:r>
            <a:r>
              <a:rPr lang="en-US" sz="2800" spc="250"/>
              <a:t>VMs</a:t>
            </a:r>
            <a:r>
              <a:rPr lang="en-US" sz="2800" spc="-125"/>
              <a:t> </a:t>
            </a:r>
            <a:r>
              <a:rPr lang="en-US" sz="2800" spc="185"/>
              <a:t>to</a:t>
            </a:r>
            <a:r>
              <a:rPr lang="en-US" sz="2800" spc="-125"/>
              <a:t> </a:t>
            </a:r>
            <a:r>
              <a:rPr lang="en-US" sz="2800" spc="-10"/>
              <a:t>Containers</a:t>
            </a:r>
            <a:endParaRPr sz="280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6299067-70B3-95C9-508E-7AF0E437F0E5}"/>
              </a:ext>
            </a:extLst>
          </p:cNvPr>
          <p:cNvSpPr txBox="1"/>
          <p:nvPr/>
        </p:nvSpPr>
        <p:spPr>
          <a:xfrm>
            <a:off x="381000" y="1282862"/>
            <a:ext cx="5107535" cy="20480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9685" algn="l">
              <a:lnSpc>
                <a:spcPct val="109400"/>
              </a:lnSpc>
              <a:spcBef>
                <a:spcPts val="95"/>
              </a:spcBef>
            </a:pPr>
            <a:r>
              <a:rPr sz="2400">
                <a:solidFill>
                  <a:srgbClr val="532417"/>
                </a:solidFill>
                <a:latin typeface="Tahoma"/>
                <a:cs typeface="Tahoma"/>
              </a:rPr>
              <a:t>The</a:t>
            </a:r>
            <a:r>
              <a:rPr sz="2400" spc="-60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2400" spc="110">
                <a:solidFill>
                  <a:srgbClr val="532417"/>
                </a:solidFill>
                <a:latin typeface="Tahoma"/>
                <a:cs typeface="Tahoma"/>
              </a:rPr>
              <a:t>Old</a:t>
            </a:r>
            <a:r>
              <a:rPr sz="2400" spc="-55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2400" spc="-10">
                <a:solidFill>
                  <a:srgbClr val="532417"/>
                </a:solidFill>
                <a:latin typeface="Tahoma"/>
                <a:cs typeface="Tahoma"/>
              </a:rPr>
              <a:t>Approach: </a:t>
            </a:r>
            <a:r>
              <a:rPr sz="2400">
                <a:solidFill>
                  <a:srgbClr val="532417"/>
                </a:solidFill>
                <a:latin typeface="Tahoma"/>
                <a:cs typeface="Tahoma"/>
              </a:rPr>
              <a:t>Virtual</a:t>
            </a:r>
            <a:r>
              <a:rPr sz="2400" spc="114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2400" spc="35">
                <a:solidFill>
                  <a:srgbClr val="532417"/>
                </a:solidFill>
                <a:latin typeface="Tahoma"/>
                <a:cs typeface="Tahoma"/>
              </a:rPr>
              <a:t>Machines</a:t>
            </a:r>
            <a:endParaRPr sz="2400">
              <a:latin typeface="Tahoma"/>
              <a:cs typeface="Tahoma"/>
            </a:endParaRPr>
          </a:p>
          <a:p>
            <a:pPr marL="12700" marR="17145" algn="just">
              <a:lnSpc>
                <a:spcPct val="107100"/>
              </a:lnSpc>
              <a:spcBef>
                <a:spcPts val="1525"/>
              </a:spcBef>
            </a:pPr>
            <a:r>
              <a:rPr sz="1400" spc="-20">
                <a:solidFill>
                  <a:srgbClr val="66534E"/>
                </a:solidFill>
                <a:latin typeface="Verdana"/>
                <a:cs typeface="Verdana"/>
              </a:rPr>
              <a:t>Virtual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Machines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 simulate </a:t>
            </a:r>
            <a:r>
              <a:rPr sz="1400" spc="-25">
                <a:solidFill>
                  <a:srgbClr val="66534E"/>
                </a:solidFill>
                <a:latin typeface="Verdana"/>
                <a:cs typeface="Verdana"/>
              </a:rPr>
              <a:t>an </a:t>
            </a:r>
            <a:r>
              <a:rPr sz="1400" b="1">
                <a:solidFill>
                  <a:srgbClr val="66534E"/>
                </a:solidFill>
                <a:latin typeface="Tahoma"/>
                <a:cs typeface="Tahoma"/>
              </a:rPr>
              <a:t>entire</a:t>
            </a:r>
            <a:r>
              <a:rPr sz="1400" b="1" spc="16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400" b="1">
                <a:solidFill>
                  <a:srgbClr val="66534E"/>
                </a:solidFill>
                <a:latin typeface="Tahoma"/>
                <a:cs typeface="Tahoma"/>
              </a:rPr>
              <a:t>computer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,</a:t>
            </a:r>
            <a:r>
              <a:rPr sz="1400" spc="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including</a:t>
            </a:r>
            <a:r>
              <a:rPr sz="1400" spc="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50">
                <a:solidFill>
                  <a:srgbClr val="66534E"/>
                </a:solidFill>
                <a:latin typeface="Verdana"/>
                <a:cs typeface="Verdana"/>
              </a:rPr>
              <a:t>a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full</a:t>
            </a:r>
            <a:r>
              <a:rPr sz="1400" spc="-8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guest</a:t>
            </a:r>
            <a:r>
              <a:rPr sz="1400" spc="-8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operating</a:t>
            </a:r>
            <a:r>
              <a:rPr sz="1400" spc="-8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system.</a:t>
            </a:r>
            <a:endParaRPr sz="1400">
              <a:latin typeface="Verdana"/>
              <a:cs typeface="Verdana"/>
            </a:endParaRPr>
          </a:p>
          <a:p>
            <a:pPr marL="581660" marR="74930" indent="-285750">
              <a:lnSpc>
                <a:spcPct val="1116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Large</a:t>
            </a:r>
            <a:r>
              <a:rPr sz="1400" spc="-9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40">
                <a:solidFill>
                  <a:srgbClr val="66534E"/>
                </a:solidFill>
                <a:latin typeface="Verdana"/>
                <a:cs typeface="Verdana"/>
              </a:rPr>
              <a:t>size</a:t>
            </a:r>
            <a:r>
              <a:rPr sz="1400" spc="-9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35">
                <a:solidFill>
                  <a:srgbClr val="66534E"/>
                </a:solidFill>
                <a:latin typeface="Verdana"/>
                <a:cs typeface="Verdana"/>
              </a:rPr>
              <a:t>(often</a:t>
            </a:r>
            <a:r>
              <a:rPr sz="1400" spc="-9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multiple </a:t>
            </a:r>
            <a:r>
              <a:rPr sz="1400" spc="-20">
                <a:solidFill>
                  <a:srgbClr val="66534E"/>
                </a:solidFill>
                <a:latin typeface="Verdana"/>
                <a:cs typeface="Verdana"/>
              </a:rPr>
              <a:t>GBs)</a:t>
            </a:r>
            <a:endParaRPr sz="1400">
              <a:latin typeface="Verdana"/>
              <a:cs typeface="Verdana"/>
            </a:endParaRPr>
          </a:p>
          <a:p>
            <a:pPr marL="581660" indent="-285750">
              <a:lnSpc>
                <a:spcPct val="100000"/>
              </a:lnSpc>
              <a:spcBef>
                <a:spcPts val="570"/>
              </a:spcBef>
              <a:buFont typeface="Arial" panose="020B0604020202020204" pitchFamily="34" charset="0"/>
              <a:buChar char="•"/>
            </a:pPr>
            <a:r>
              <a:rPr sz="1400" spc="-25">
                <a:solidFill>
                  <a:srgbClr val="66534E"/>
                </a:solidFill>
                <a:latin typeface="Verdana"/>
                <a:cs typeface="Verdana"/>
              </a:rPr>
              <a:t>Slow</a:t>
            </a:r>
            <a:r>
              <a:rPr sz="1400" spc="-8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startup</a:t>
            </a:r>
            <a:r>
              <a:rPr sz="1400" spc="-8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times</a:t>
            </a:r>
            <a:endParaRPr sz="1400">
              <a:latin typeface="Verdana"/>
              <a:cs typeface="Verdana"/>
            </a:endParaRPr>
          </a:p>
          <a:p>
            <a:pPr marL="581660" indent="-285750">
              <a:lnSpc>
                <a:spcPct val="100000"/>
              </a:lnSpc>
              <a:spcBef>
                <a:spcPts val="645"/>
              </a:spcBef>
              <a:buFont typeface="Arial" panose="020B0604020202020204" pitchFamily="34" charset="0"/>
              <a:buChar char="•"/>
            </a:pP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High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70">
                <a:solidFill>
                  <a:srgbClr val="66534E"/>
                </a:solidFill>
                <a:latin typeface="Verdana"/>
                <a:cs typeface="Verdana"/>
              </a:rPr>
              <a:t>CPU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400" spc="-5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65">
                <a:solidFill>
                  <a:srgbClr val="66534E"/>
                </a:solidFill>
                <a:latin typeface="Verdana"/>
                <a:cs typeface="Verdana"/>
              </a:rPr>
              <a:t>RAM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20">
                <a:solidFill>
                  <a:srgbClr val="66534E"/>
                </a:solidFill>
                <a:latin typeface="Verdana"/>
                <a:cs typeface="Verdana"/>
              </a:rPr>
              <a:t>usage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8D8BFE15-A684-317C-BA07-461C527E7D7B}"/>
              </a:ext>
            </a:extLst>
          </p:cNvPr>
          <p:cNvSpPr txBox="1"/>
          <p:nvPr/>
        </p:nvSpPr>
        <p:spPr>
          <a:xfrm>
            <a:off x="6248400" y="1252492"/>
            <a:ext cx="4724400" cy="236930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212090" algn="l">
              <a:lnSpc>
                <a:spcPct val="108100"/>
              </a:lnSpc>
              <a:spcBef>
                <a:spcPts val="135"/>
              </a:spcBef>
            </a:pPr>
            <a:r>
              <a:rPr sz="2400">
                <a:solidFill>
                  <a:srgbClr val="532417"/>
                </a:solidFill>
                <a:latin typeface="Tahoma"/>
                <a:cs typeface="Tahoma"/>
              </a:rPr>
              <a:t>The</a:t>
            </a:r>
            <a:r>
              <a:rPr sz="2400" spc="-40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2400" spc="135">
                <a:solidFill>
                  <a:srgbClr val="532417"/>
                </a:solidFill>
                <a:latin typeface="Tahoma"/>
                <a:cs typeface="Tahoma"/>
              </a:rPr>
              <a:t>Modern </a:t>
            </a:r>
            <a:r>
              <a:rPr sz="2400">
                <a:solidFill>
                  <a:srgbClr val="532417"/>
                </a:solidFill>
                <a:latin typeface="Tahoma"/>
                <a:cs typeface="Tahoma"/>
              </a:rPr>
              <a:t>Approach:</a:t>
            </a:r>
            <a:r>
              <a:rPr sz="2400" spc="95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2400" spc="-10">
                <a:solidFill>
                  <a:srgbClr val="532417"/>
                </a:solidFill>
                <a:latin typeface="Tahoma"/>
                <a:cs typeface="Tahoma"/>
              </a:rPr>
              <a:t>Docker Containers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7100"/>
              </a:lnSpc>
              <a:spcBef>
                <a:spcPts val="1600"/>
              </a:spcBef>
            </a:pP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Introduced</a:t>
            </a:r>
            <a:r>
              <a:rPr sz="1400" spc="-9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1400" spc="-9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b="1" spc="-140">
                <a:solidFill>
                  <a:srgbClr val="66534E"/>
                </a:solidFill>
                <a:latin typeface="Tahoma"/>
                <a:cs typeface="Tahoma"/>
              </a:rPr>
              <a:t>2013</a:t>
            </a:r>
            <a:r>
              <a:rPr sz="1400" spc="-140">
                <a:solidFill>
                  <a:srgbClr val="66534E"/>
                </a:solidFill>
                <a:latin typeface="Verdana"/>
                <a:cs typeface="Verdana"/>
              </a:rPr>
              <a:t>,</a:t>
            </a:r>
            <a:r>
              <a:rPr sz="1400" spc="-9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containers </a:t>
            </a:r>
            <a:r>
              <a:rPr sz="1400" spc="-25">
                <a:solidFill>
                  <a:srgbClr val="66534E"/>
                </a:solidFill>
                <a:latin typeface="Verdana"/>
                <a:cs typeface="Verdana"/>
              </a:rPr>
              <a:t>share</a:t>
            </a:r>
            <a:r>
              <a:rPr sz="1400" spc="-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400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b="1">
                <a:solidFill>
                  <a:srgbClr val="66534E"/>
                </a:solidFill>
                <a:latin typeface="Tahoma"/>
                <a:cs typeface="Tahoma"/>
              </a:rPr>
              <a:t>host</a:t>
            </a:r>
            <a:r>
              <a:rPr sz="1400" b="1" spc="8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400" b="1">
                <a:solidFill>
                  <a:srgbClr val="66534E"/>
                </a:solidFill>
                <a:latin typeface="Tahoma"/>
                <a:cs typeface="Tahoma"/>
              </a:rPr>
              <a:t>OS</a:t>
            </a:r>
            <a:r>
              <a:rPr sz="1400" b="1" spc="7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400" b="1">
                <a:solidFill>
                  <a:srgbClr val="66534E"/>
                </a:solidFill>
                <a:latin typeface="Tahoma"/>
                <a:cs typeface="Tahoma"/>
              </a:rPr>
              <a:t>kernel</a:t>
            </a:r>
            <a:r>
              <a:rPr sz="1400" b="1" spc="4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400" spc="-25">
                <a:solidFill>
                  <a:srgbClr val="66534E"/>
                </a:solidFill>
                <a:latin typeface="Verdana"/>
                <a:cs typeface="Verdana"/>
              </a:rPr>
              <a:t>and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package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only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application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400" spc="-7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required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libraries.</a:t>
            </a:r>
            <a:endParaRPr sz="1400">
              <a:latin typeface="Verdana"/>
              <a:cs typeface="Verdana"/>
            </a:endParaRPr>
          </a:p>
          <a:p>
            <a:pPr marL="581660" marR="111125" indent="-285750">
              <a:lnSpc>
                <a:spcPct val="107100"/>
              </a:lnSpc>
              <a:spcBef>
                <a:spcPts val="1275"/>
              </a:spcBef>
              <a:buFont typeface="Arial" panose="020B0604020202020204" pitchFamily="34" charset="0"/>
              <a:buChar char="•"/>
            </a:pP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Lightweight</a:t>
            </a:r>
            <a:r>
              <a:rPr sz="1400" spc="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(MBs</a:t>
            </a:r>
            <a:r>
              <a:rPr sz="1400" spc="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instead of</a:t>
            </a:r>
            <a:r>
              <a:rPr sz="1400" spc="-114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20">
                <a:solidFill>
                  <a:srgbClr val="66534E"/>
                </a:solidFill>
                <a:latin typeface="Verdana"/>
                <a:cs typeface="Verdana"/>
              </a:rPr>
              <a:t>GBs)</a:t>
            </a:r>
            <a:endParaRPr sz="1400">
              <a:latin typeface="Verdana"/>
              <a:cs typeface="Verdana"/>
            </a:endParaRPr>
          </a:p>
          <a:p>
            <a:pPr marL="581660" marR="258445" indent="-285750">
              <a:lnSpc>
                <a:spcPct val="138400"/>
              </a:lnSpc>
              <a:buFont typeface="Arial" panose="020B0604020202020204" pitchFamily="34" charset="0"/>
              <a:buChar char="•"/>
            </a:pPr>
            <a:r>
              <a:rPr sz="1400" spc="-45">
                <a:solidFill>
                  <a:srgbClr val="66534E"/>
                </a:solidFill>
                <a:latin typeface="Verdana"/>
                <a:cs typeface="Verdana"/>
              </a:rPr>
              <a:t>Starts</a:t>
            </a:r>
            <a:r>
              <a:rPr sz="1400" spc="-9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1400" spc="-9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seconds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Efficient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20">
                <a:solidFill>
                  <a:srgbClr val="66534E"/>
                </a:solidFill>
                <a:latin typeface="Verdana"/>
                <a:cs typeface="Verdana"/>
              </a:rPr>
              <a:t>resource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usage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B76BF7-69F4-37E6-CFC9-DFD007EAC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360" y="4076664"/>
            <a:ext cx="7639279" cy="214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62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849502"/>
            <a:ext cx="943737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/>
              <a:t>Technical</a:t>
            </a:r>
            <a:r>
              <a:rPr sz="4000" spc="-254"/>
              <a:t> </a:t>
            </a:r>
            <a:r>
              <a:rPr sz="4000" spc="-20"/>
              <a:t>Overview:</a:t>
            </a:r>
            <a:r>
              <a:rPr sz="4000" spc="-190"/>
              <a:t> </a:t>
            </a:r>
            <a:r>
              <a:rPr sz="4000" spc="-114"/>
              <a:t>Images</a:t>
            </a:r>
            <a:r>
              <a:rPr sz="4000" spc="-195"/>
              <a:t> </a:t>
            </a:r>
            <a:r>
              <a:rPr sz="4000" spc="-315"/>
              <a:t>vs.</a:t>
            </a:r>
            <a:r>
              <a:rPr sz="4000" spc="-130"/>
              <a:t> </a:t>
            </a:r>
            <a:r>
              <a:rPr sz="4000" spc="-10"/>
              <a:t>Containers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07466" y="1851532"/>
            <a:ext cx="101034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Understanding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Docker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terminology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45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45">
                <a:solidFill>
                  <a:srgbClr val="66534E"/>
                </a:solidFill>
                <a:latin typeface="Verdana"/>
                <a:cs typeface="Verdana"/>
              </a:rPr>
              <a:t>key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mastering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20">
                <a:solidFill>
                  <a:srgbClr val="66534E"/>
                </a:solidFill>
                <a:latin typeface="Verdana"/>
                <a:cs typeface="Verdana"/>
              </a:rPr>
              <a:t>containerization.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35">
                <a:solidFill>
                  <a:srgbClr val="66534E"/>
                </a:solidFill>
                <a:latin typeface="Verdana"/>
                <a:cs typeface="Verdana"/>
              </a:rPr>
              <a:t>Here's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25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helpful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metaphor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400" spc="-6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35">
                <a:solidFill>
                  <a:srgbClr val="66534E"/>
                </a:solidFill>
                <a:latin typeface="Verdana"/>
                <a:cs typeface="Verdana"/>
              </a:rPr>
              <a:t>clarify</a:t>
            </a:r>
            <a:r>
              <a:rPr sz="14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these concepts: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9124" y="2543174"/>
            <a:ext cx="10191750" cy="3028950"/>
            <a:chOff x="619124" y="2543174"/>
            <a:chExt cx="10191750" cy="3028950"/>
          </a:xfrm>
        </p:grpSpPr>
        <p:sp>
          <p:nvSpPr>
            <p:cNvPr id="5" name="object 5"/>
            <p:cNvSpPr/>
            <p:nvPr/>
          </p:nvSpPr>
          <p:spPr>
            <a:xfrm>
              <a:off x="623887" y="2547937"/>
              <a:ext cx="10182225" cy="3019425"/>
            </a:xfrm>
            <a:custGeom>
              <a:avLst/>
              <a:gdLst/>
              <a:ahLst/>
              <a:cxnLst/>
              <a:rect l="l" t="t" r="r" b="b"/>
              <a:pathLst>
                <a:path w="10182225" h="3019425">
                  <a:moveTo>
                    <a:pt x="0" y="2962163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7"/>
                  </a:lnTo>
                  <a:lnTo>
                    <a:pt x="1100" y="46089"/>
                  </a:lnTo>
                  <a:lnTo>
                    <a:pt x="1833" y="42401"/>
                  </a:lnTo>
                  <a:lnTo>
                    <a:pt x="2919" y="38821"/>
                  </a:lnTo>
                  <a:lnTo>
                    <a:pt x="25448" y="9650"/>
                  </a:lnTo>
                  <a:lnTo>
                    <a:pt x="28574" y="7561"/>
                  </a:lnTo>
                  <a:lnTo>
                    <a:pt x="46089" y="1100"/>
                  </a:lnTo>
                  <a:lnTo>
                    <a:pt x="49777" y="366"/>
                  </a:lnTo>
                  <a:lnTo>
                    <a:pt x="53501" y="0"/>
                  </a:lnTo>
                  <a:lnTo>
                    <a:pt x="57260" y="0"/>
                  </a:lnTo>
                  <a:lnTo>
                    <a:pt x="10124963" y="0"/>
                  </a:lnTo>
                  <a:lnTo>
                    <a:pt x="10156774" y="9650"/>
                  </a:lnTo>
                  <a:lnTo>
                    <a:pt x="10159901" y="11738"/>
                  </a:lnTo>
                  <a:lnTo>
                    <a:pt x="10181122" y="46089"/>
                  </a:lnTo>
                  <a:lnTo>
                    <a:pt x="10182224" y="57260"/>
                  </a:lnTo>
                  <a:lnTo>
                    <a:pt x="10182224" y="2962163"/>
                  </a:lnTo>
                  <a:lnTo>
                    <a:pt x="10168110" y="2999994"/>
                  </a:lnTo>
                  <a:lnTo>
                    <a:pt x="10136132" y="3018324"/>
                  </a:lnTo>
                  <a:lnTo>
                    <a:pt x="10132445" y="3019057"/>
                  </a:lnTo>
                  <a:lnTo>
                    <a:pt x="10128722" y="3019424"/>
                  </a:lnTo>
                  <a:lnTo>
                    <a:pt x="10124963" y="3019424"/>
                  </a:lnTo>
                  <a:lnTo>
                    <a:pt x="57260" y="3019424"/>
                  </a:lnTo>
                  <a:lnTo>
                    <a:pt x="53501" y="3019424"/>
                  </a:lnTo>
                  <a:lnTo>
                    <a:pt x="49777" y="3019057"/>
                  </a:lnTo>
                  <a:lnTo>
                    <a:pt x="46089" y="3018324"/>
                  </a:lnTo>
                  <a:lnTo>
                    <a:pt x="42402" y="3017590"/>
                  </a:lnTo>
                  <a:lnTo>
                    <a:pt x="38821" y="3016504"/>
                  </a:lnTo>
                  <a:lnTo>
                    <a:pt x="35348" y="3015065"/>
                  </a:lnTo>
                  <a:lnTo>
                    <a:pt x="31874" y="3013626"/>
                  </a:lnTo>
                  <a:lnTo>
                    <a:pt x="4358" y="2984075"/>
                  </a:lnTo>
                  <a:lnTo>
                    <a:pt x="1100" y="2973334"/>
                  </a:lnTo>
                  <a:lnTo>
                    <a:pt x="366" y="2969647"/>
                  </a:lnTo>
                  <a:lnTo>
                    <a:pt x="0" y="2965923"/>
                  </a:lnTo>
                  <a:lnTo>
                    <a:pt x="0" y="296216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637" y="2552699"/>
              <a:ext cx="10172700" cy="3009900"/>
            </a:xfrm>
            <a:custGeom>
              <a:avLst/>
              <a:gdLst/>
              <a:ahLst/>
              <a:cxnLst/>
              <a:rect l="l" t="t" r="r" b="b"/>
              <a:pathLst>
                <a:path w="10172700" h="3009900">
                  <a:moveTo>
                    <a:pt x="2028825" y="2314575"/>
                  </a:moveTo>
                  <a:lnTo>
                    <a:pt x="0" y="2314575"/>
                  </a:lnTo>
                  <a:lnTo>
                    <a:pt x="0" y="2956102"/>
                  </a:lnTo>
                  <a:lnTo>
                    <a:pt x="23990" y="2997555"/>
                  </a:lnTo>
                  <a:lnTo>
                    <a:pt x="53809" y="3009900"/>
                  </a:lnTo>
                  <a:lnTo>
                    <a:pt x="2028825" y="3009900"/>
                  </a:lnTo>
                  <a:lnTo>
                    <a:pt x="2028825" y="2314575"/>
                  </a:lnTo>
                  <a:close/>
                </a:path>
                <a:path w="10172700" h="3009900">
                  <a:moveTo>
                    <a:pt x="2028825" y="0"/>
                  </a:moveTo>
                  <a:lnTo>
                    <a:pt x="53809" y="0"/>
                  </a:lnTo>
                  <a:lnTo>
                    <a:pt x="45897" y="1574"/>
                  </a:lnTo>
                  <a:lnTo>
                    <a:pt x="12357" y="23990"/>
                  </a:lnTo>
                  <a:lnTo>
                    <a:pt x="0" y="53809"/>
                  </a:lnTo>
                  <a:lnTo>
                    <a:pt x="0" y="466725"/>
                  </a:lnTo>
                  <a:lnTo>
                    <a:pt x="2028825" y="466725"/>
                  </a:lnTo>
                  <a:lnTo>
                    <a:pt x="2028825" y="0"/>
                  </a:lnTo>
                  <a:close/>
                </a:path>
                <a:path w="10172700" h="3009900">
                  <a:moveTo>
                    <a:pt x="10172700" y="2314575"/>
                  </a:moveTo>
                  <a:lnTo>
                    <a:pt x="4076700" y="2314575"/>
                  </a:lnTo>
                  <a:lnTo>
                    <a:pt x="4076700" y="3009900"/>
                  </a:lnTo>
                  <a:lnTo>
                    <a:pt x="10118903" y="3009900"/>
                  </a:lnTo>
                  <a:lnTo>
                    <a:pt x="10126815" y="3008325"/>
                  </a:lnTo>
                  <a:lnTo>
                    <a:pt x="10160356" y="2985922"/>
                  </a:lnTo>
                  <a:lnTo>
                    <a:pt x="10172700" y="2956102"/>
                  </a:lnTo>
                  <a:lnTo>
                    <a:pt x="10172700" y="2314575"/>
                  </a:lnTo>
                  <a:close/>
                </a:path>
                <a:path w="10172700" h="3009900">
                  <a:moveTo>
                    <a:pt x="10172700" y="53809"/>
                  </a:moveTo>
                  <a:lnTo>
                    <a:pt x="10148722" y="12357"/>
                  </a:lnTo>
                  <a:lnTo>
                    <a:pt x="10118903" y="0"/>
                  </a:lnTo>
                  <a:lnTo>
                    <a:pt x="4076700" y="0"/>
                  </a:lnTo>
                  <a:lnTo>
                    <a:pt x="4076700" y="466725"/>
                  </a:lnTo>
                  <a:lnTo>
                    <a:pt x="10172700" y="466725"/>
                  </a:lnTo>
                  <a:lnTo>
                    <a:pt x="10172700" y="5380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8649" y="2552699"/>
          <a:ext cx="10172065" cy="3007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00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090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b="1" spc="4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Concept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17475" marB="0">
                    <a:lnR w="9525">
                      <a:solidFill>
                        <a:srgbClr val="FFFFF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b="1" spc="-1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Metaphor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b="1" spc="6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What</a:t>
                      </a:r>
                      <a:r>
                        <a:rPr sz="1400" b="1" spc="75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14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sz="1400" b="1" spc="8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Actually</a:t>
                      </a:r>
                      <a:r>
                        <a:rPr sz="1400" b="1" spc="8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25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Is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FFFFF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Dockerfile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sz="1400" spc="-1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recipe</a:t>
                      </a:r>
                      <a:r>
                        <a:rPr sz="1400" spc="-1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card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 marR="1226185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4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text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file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step-</a:t>
                      </a:r>
                      <a:r>
                        <a:rPr sz="1400" spc="-6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by-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step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instructions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build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your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environment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Image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3515" marR="656590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sz="1400" spc="-1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prepared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meal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kit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 marR="659130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6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4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static,</a:t>
                      </a:r>
                      <a:r>
                        <a:rPr sz="1400" spc="-5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read-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only</a:t>
                      </a:r>
                      <a:r>
                        <a:rPr sz="1400" spc="-6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blueprint</a:t>
                      </a:r>
                      <a:r>
                        <a:rPr sz="1400" spc="-5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containing</a:t>
                      </a:r>
                      <a:r>
                        <a:rPr sz="1400" spc="-5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your</a:t>
                      </a:r>
                      <a:r>
                        <a:rPr sz="1400" spc="-6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OS,</a:t>
                      </a:r>
                      <a:r>
                        <a:rPr sz="1400" spc="-5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languages, </a:t>
                      </a:r>
                      <a:r>
                        <a:rPr sz="1400" spc="-5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libraries,</a:t>
                      </a:r>
                      <a:r>
                        <a:rPr sz="1400" spc="-4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1400" spc="-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code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Container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17475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cooked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meal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live,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running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instance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an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image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that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you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can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interact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Docker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Hub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3515" marR="597535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The</a:t>
                      </a:r>
                      <a:r>
                        <a:rPr sz="1400" spc="-1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cookbook library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 marR="413384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cloud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registry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where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images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are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stored,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4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shared,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pushed,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and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pulled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1201927"/>
            <a:ext cx="503174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/>
              <a:t>Local</a:t>
            </a:r>
            <a:r>
              <a:rPr sz="4000" spc="-135"/>
              <a:t> </a:t>
            </a:r>
            <a:r>
              <a:rPr sz="4000" spc="-100"/>
              <a:t>Install</a:t>
            </a:r>
            <a:r>
              <a:rPr sz="4000" spc="-135"/>
              <a:t> </a:t>
            </a:r>
            <a:r>
              <a:rPr sz="4000" spc="-315"/>
              <a:t>vs.</a:t>
            </a:r>
            <a:r>
              <a:rPr sz="4000" spc="-130"/>
              <a:t> </a:t>
            </a:r>
            <a:r>
              <a:rPr sz="4000" spc="55"/>
              <a:t>Docker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607466" y="2210435"/>
            <a:ext cx="7764145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400" spc="-7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difference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between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traditional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local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20">
                <a:solidFill>
                  <a:srgbClr val="66534E"/>
                </a:solidFill>
                <a:latin typeface="Verdana"/>
                <a:cs typeface="Verdana"/>
              </a:rPr>
              <a:t>installations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400" spc="-7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34E"/>
                </a:solidFill>
                <a:latin typeface="Verdana"/>
                <a:cs typeface="Verdana"/>
              </a:rPr>
              <a:t>Docker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containers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45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4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34E"/>
                </a:solidFill>
                <a:latin typeface="Verdana"/>
                <a:cs typeface="Verdana"/>
              </a:rPr>
              <a:t>dramatic: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19124" y="2666999"/>
            <a:ext cx="10191750" cy="2552700"/>
            <a:chOff x="619124" y="2666999"/>
            <a:chExt cx="10191750" cy="2552700"/>
          </a:xfrm>
        </p:grpSpPr>
        <p:sp>
          <p:nvSpPr>
            <p:cNvPr id="5" name="object 5"/>
            <p:cNvSpPr/>
            <p:nvPr/>
          </p:nvSpPr>
          <p:spPr>
            <a:xfrm>
              <a:off x="623887" y="2671762"/>
              <a:ext cx="10182225" cy="2543175"/>
            </a:xfrm>
            <a:custGeom>
              <a:avLst/>
              <a:gdLst/>
              <a:ahLst/>
              <a:cxnLst/>
              <a:rect l="l" t="t" r="r" b="b"/>
              <a:pathLst>
                <a:path w="10182225" h="2543175">
                  <a:moveTo>
                    <a:pt x="0" y="2485913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7"/>
                  </a:lnTo>
                  <a:lnTo>
                    <a:pt x="1100" y="46089"/>
                  </a:lnTo>
                  <a:lnTo>
                    <a:pt x="1833" y="42401"/>
                  </a:lnTo>
                  <a:lnTo>
                    <a:pt x="2919" y="38821"/>
                  </a:lnTo>
                  <a:lnTo>
                    <a:pt x="4358" y="35347"/>
                  </a:lnTo>
                  <a:lnTo>
                    <a:pt x="5797" y="31873"/>
                  </a:lnTo>
                  <a:lnTo>
                    <a:pt x="7561" y="28574"/>
                  </a:lnTo>
                  <a:lnTo>
                    <a:pt x="9650" y="25447"/>
                  </a:lnTo>
                  <a:lnTo>
                    <a:pt x="11738" y="22321"/>
                  </a:lnTo>
                  <a:lnTo>
                    <a:pt x="14112" y="19429"/>
                  </a:lnTo>
                  <a:lnTo>
                    <a:pt x="16771" y="16771"/>
                  </a:lnTo>
                  <a:lnTo>
                    <a:pt x="19429" y="14112"/>
                  </a:lnTo>
                  <a:lnTo>
                    <a:pt x="46089" y="1100"/>
                  </a:lnTo>
                  <a:lnTo>
                    <a:pt x="49777" y="366"/>
                  </a:lnTo>
                  <a:lnTo>
                    <a:pt x="53501" y="0"/>
                  </a:lnTo>
                  <a:lnTo>
                    <a:pt x="57260" y="0"/>
                  </a:lnTo>
                  <a:lnTo>
                    <a:pt x="10124963" y="0"/>
                  </a:lnTo>
                  <a:lnTo>
                    <a:pt x="10128722" y="0"/>
                  </a:lnTo>
                  <a:lnTo>
                    <a:pt x="10132445" y="366"/>
                  </a:lnTo>
                  <a:lnTo>
                    <a:pt x="10136134" y="1100"/>
                  </a:lnTo>
                  <a:lnTo>
                    <a:pt x="10139821" y="1833"/>
                  </a:lnTo>
                  <a:lnTo>
                    <a:pt x="10172572" y="25447"/>
                  </a:lnTo>
                  <a:lnTo>
                    <a:pt x="10182224" y="57260"/>
                  </a:lnTo>
                  <a:lnTo>
                    <a:pt x="10182224" y="2485913"/>
                  </a:lnTo>
                  <a:lnTo>
                    <a:pt x="10168110" y="2523744"/>
                  </a:lnTo>
                  <a:lnTo>
                    <a:pt x="10136132" y="2542074"/>
                  </a:lnTo>
                  <a:lnTo>
                    <a:pt x="10132445" y="2542807"/>
                  </a:lnTo>
                  <a:lnTo>
                    <a:pt x="10128722" y="2543174"/>
                  </a:lnTo>
                  <a:lnTo>
                    <a:pt x="10124963" y="2543174"/>
                  </a:lnTo>
                  <a:lnTo>
                    <a:pt x="57260" y="2543174"/>
                  </a:lnTo>
                  <a:lnTo>
                    <a:pt x="53501" y="2543174"/>
                  </a:lnTo>
                  <a:lnTo>
                    <a:pt x="49777" y="2542807"/>
                  </a:lnTo>
                  <a:lnTo>
                    <a:pt x="46089" y="2542074"/>
                  </a:lnTo>
                  <a:lnTo>
                    <a:pt x="42402" y="2541341"/>
                  </a:lnTo>
                  <a:lnTo>
                    <a:pt x="38821" y="2540254"/>
                  </a:lnTo>
                  <a:lnTo>
                    <a:pt x="35348" y="2538815"/>
                  </a:lnTo>
                  <a:lnTo>
                    <a:pt x="31874" y="2537376"/>
                  </a:lnTo>
                  <a:lnTo>
                    <a:pt x="4358" y="2507825"/>
                  </a:lnTo>
                  <a:lnTo>
                    <a:pt x="1100" y="2497083"/>
                  </a:lnTo>
                  <a:lnTo>
                    <a:pt x="366" y="2493396"/>
                  </a:lnTo>
                  <a:lnTo>
                    <a:pt x="0" y="2489673"/>
                  </a:lnTo>
                  <a:lnTo>
                    <a:pt x="0" y="248591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637" y="2676524"/>
              <a:ext cx="10172700" cy="2533650"/>
            </a:xfrm>
            <a:custGeom>
              <a:avLst/>
              <a:gdLst/>
              <a:ahLst/>
              <a:cxnLst/>
              <a:rect l="l" t="t" r="r" b="b"/>
              <a:pathLst>
                <a:path w="10172700" h="2533650">
                  <a:moveTo>
                    <a:pt x="2543175" y="2076450"/>
                  </a:moveTo>
                  <a:lnTo>
                    <a:pt x="0" y="2076450"/>
                  </a:lnTo>
                  <a:lnTo>
                    <a:pt x="0" y="2479852"/>
                  </a:lnTo>
                  <a:lnTo>
                    <a:pt x="23990" y="2521305"/>
                  </a:lnTo>
                  <a:lnTo>
                    <a:pt x="53809" y="2533650"/>
                  </a:lnTo>
                  <a:lnTo>
                    <a:pt x="2543175" y="2533650"/>
                  </a:lnTo>
                  <a:lnTo>
                    <a:pt x="2543175" y="2076450"/>
                  </a:lnTo>
                  <a:close/>
                </a:path>
                <a:path w="10172700" h="2533650">
                  <a:moveTo>
                    <a:pt x="2543175" y="0"/>
                  </a:moveTo>
                  <a:lnTo>
                    <a:pt x="53809" y="0"/>
                  </a:lnTo>
                  <a:lnTo>
                    <a:pt x="45897" y="1574"/>
                  </a:lnTo>
                  <a:lnTo>
                    <a:pt x="12357" y="23990"/>
                  </a:lnTo>
                  <a:lnTo>
                    <a:pt x="0" y="53809"/>
                  </a:lnTo>
                  <a:lnTo>
                    <a:pt x="0" y="457200"/>
                  </a:lnTo>
                  <a:lnTo>
                    <a:pt x="2543175" y="457200"/>
                  </a:lnTo>
                  <a:lnTo>
                    <a:pt x="2543175" y="0"/>
                  </a:lnTo>
                  <a:close/>
                </a:path>
                <a:path w="10172700" h="2533650">
                  <a:moveTo>
                    <a:pt x="10172700" y="2076450"/>
                  </a:moveTo>
                  <a:lnTo>
                    <a:pt x="6362700" y="2076450"/>
                  </a:lnTo>
                  <a:lnTo>
                    <a:pt x="6362700" y="2533650"/>
                  </a:lnTo>
                  <a:lnTo>
                    <a:pt x="10118903" y="2533650"/>
                  </a:lnTo>
                  <a:lnTo>
                    <a:pt x="10126815" y="2532075"/>
                  </a:lnTo>
                  <a:lnTo>
                    <a:pt x="10160356" y="2509672"/>
                  </a:lnTo>
                  <a:lnTo>
                    <a:pt x="10172700" y="2479852"/>
                  </a:lnTo>
                  <a:lnTo>
                    <a:pt x="10172700" y="2076450"/>
                  </a:lnTo>
                  <a:close/>
                </a:path>
                <a:path w="10172700" h="2533650">
                  <a:moveTo>
                    <a:pt x="10172700" y="53809"/>
                  </a:moveTo>
                  <a:lnTo>
                    <a:pt x="10148722" y="12357"/>
                  </a:lnTo>
                  <a:lnTo>
                    <a:pt x="10118903" y="0"/>
                  </a:lnTo>
                  <a:lnTo>
                    <a:pt x="6362700" y="0"/>
                  </a:lnTo>
                  <a:lnTo>
                    <a:pt x="6362700" y="457200"/>
                  </a:lnTo>
                  <a:lnTo>
                    <a:pt x="10172700" y="457200"/>
                  </a:lnTo>
                  <a:lnTo>
                    <a:pt x="10172700" y="5380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28649" y="2676524"/>
          <a:ext cx="10170793" cy="2530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7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3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b="1" spc="-1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Feature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b="1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Local</a:t>
                      </a:r>
                      <a:r>
                        <a:rPr sz="1400" b="1" spc="125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Install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b="1" spc="-1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Docker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Setup</a:t>
                      </a:r>
                      <a:r>
                        <a:rPr sz="1400" spc="-8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Time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Hours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14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manual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installs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&amp;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configuration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911860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Seconds</a:t>
                      </a:r>
                      <a:r>
                        <a:rPr sz="1400" spc="-10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14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-</a:t>
                      </a:r>
                      <a:r>
                        <a:rPr sz="1400" spc="-10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run</a:t>
                      </a:r>
                      <a:r>
                        <a:rPr sz="1400" spc="-10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container</a:t>
                      </a:r>
                      <a:r>
                        <a:rPr sz="1400" spc="-10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sz="1400" spc="-10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one </a:t>
                      </a:r>
                      <a:r>
                        <a:rPr sz="1400" spc="4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command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Consistency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Different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5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every</a:t>
                      </a:r>
                      <a:r>
                        <a:rPr sz="1400" spc="-7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machine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Same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environment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everywhere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Portability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Hard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to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move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projects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Runs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on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any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system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with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Docker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Cleanup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4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Leaves</a:t>
                      </a:r>
                      <a:r>
                        <a:rPr sz="1400" spc="-5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config</a:t>
                      </a:r>
                      <a:r>
                        <a:rPr sz="1400" spc="-4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files</a:t>
                      </a:r>
                      <a:r>
                        <a:rPr sz="1400" spc="-5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and</a:t>
                      </a:r>
                      <a:r>
                        <a:rPr sz="1400" spc="-4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dependencies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Remove</a:t>
                      </a:r>
                      <a:r>
                        <a:rPr sz="1400" spc="-9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container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in</a:t>
                      </a:r>
                      <a:r>
                        <a:rPr sz="1400" spc="-9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one</a:t>
                      </a:r>
                      <a:r>
                        <a:rPr sz="1400" spc="-9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4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command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 txBox="1"/>
          <p:nvPr/>
        </p:nvSpPr>
        <p:spPr>
          <a:xfrm>
            <a:off x="5708980" y="1288357"/>
            <a:ext cx="9658121" cy="22200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70">
                <a:solidFill>
                  <a:srgbClr val="532417"/>
                </a:solidFill>
                <a:latin typeface="Tahoma"/>
                <a:cs typeface="Tahoma"/>
              </a:rPr>
              <a:t>Our</a:t>
            </a:r>
            <a:r>
              <a:rPr sz="1400">
                <a:solidFill>
                  <a:srgbClr val="532417"/>
                </a:solidFill>
                <a:latin typeface="Tahoma"/>
                <a:cs typeface="Tahoma"/>
              </a:rPr>
              <a:t> project</a:t>
            </a:r>
            <a:r>
              <a:rPr sz="1400" spc="5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1400">
                <a:solidFill>
                  <a:srgbClr val="532417"/>
                </a:solidFill>
                <a:latin typeface="Tahoma"/>
                <a:cs typeface="Tahoma"/>
              </a:rPr>
              <a:t>requires a</a:t>
            </a:r>
            <a:r>
              <a:rPr sz="1400" spc="5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1400">
                <a:solidFill>
                  <a:srgbClr val="532417"/>
                </a:solidFill>
                <a:latin typeface="Tahoma"/>
                <a:cs typeface="Tahoma"/>
              </a:rPr>
              <a:t>pipeline with</a:t>
            </a:r>
            <a:r>
              <a:rPr sz="1400" spc="5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1400">
                <a:solidFill>
                  <a:srgbClr val="532417"/>
                </a:solidFill>
                <a:latin typeface="Tahoma"/>
                <a:cs typeface="Tahoma"/>
              </a:rPr>
              <a:t>multiple</a:t>
            </a:r>
            <a:r>
              <a:rPr sz="1400" spc="5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1400" spc="-10">
                <a:solidFill>
                  <a:srgbClr val="532417"/>
                </a:solidFill>
                <a:latin typeface="Tahoma"/>
                <a:cs typeface="Tahoma"/>
              </a:rPr>
              <a:t>components:</a:t>
            </a:r>
            <a:endParaRPr lang="en-US" sz="1400" spc="-10">
              <a:solidFill>
                <a:srgbClr val="532417"/>
              </a:solidFill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>
              <a:latin typeface="Tahoma"/>
              <a:cs typeface="Tahoma"/>
            </a:endParaRPr>
          </a:p>
          <a:p>
            <a:pPr marL="776605">
              <a:lnSpc>
                <a:spcPct val="250000"/>
              </a:lnSpc>
            </a:pPr>
            <a:r>
              <a:rPr sz="1200" spc="-45">
                <a:solidFill>
                  <a:srgbClr val="66534E"/>
                </a:solidFill>
                <a:latin typeface="Tahoma"/>
                <a:cs typeface="Tahoma"/>
              </a:rPr>
              <a:t>API</a:t>
            </a:r>
            <a:r>
              <a:rPr sz="1200" spc="-4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Data</a:t>
            </a:r>
            <a:r>
              <a:rPr sz="1200" spc="-3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66534E"/>
                </a:solidFill>
                <a:latin typeface="Tahoma"/>
                <a:cs typeface="Tahoma"/>
              </a:rPr>
              <a:t>Extraction</a:t>
            </a:r>
            <a:endParaRPr sz="1200">
              <a:latin typeface="Tahoma"/>
              <a:cs typeface="Tahoma"/>
            </a:endParaRPr>
          </a:p>
          <a:p>
            <a:pPr marL="776605" marR="3263900">
              <a:lnSpc>
                <a:spcPct val="250000"/>
              </a:lnSpc>
              <a:spcBef>
                <a:spcPts val="40"/>
              </a:spcBef>
            </a:pP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Python</a:t>
            </a:r>
            <a:r>
              <a:rPr sz="1200" spc="-3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65">
                <a:solidFill>
                  <a:srgbClr val="66534E"/>
                </a:solidFill>
                <a:latin typeface="Tahoma"/>
                <a:cs typeface="Tahoma"/>
              </a:rPr>
              <a:t>ETL</a:t>
            </a:r>
            <a:r>
              <a:rPr sz="1200" spc="-3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66534E"/>
                </a:solidFill>
                <a:latin typeface="Tahoma"/>
                <a:cs typeface="Tahoma"/>
              </a:rPr>
              <a:t>Processing </a:t>
            </a:r>
            <a:endParaRPr lang="en-US" sz="1200" spc="-20">
              <a:solidFill>
                <a:srgbClr val="66534E"/>
              </a:solidFill>
              <a:latin typeface="Tahoma"/>
              <a:cs typeface="Tahoma"/>
            </a:endParaRPr>
          </a:p>
          <a:p>
            <a:pPr marL="776605" marR="3263900">
              <a:lnSpc>
                <a:spcPct val="250000"/>
              </a:lnSpc>
              <a:spcBef>
                <a:spcPts val="40"/>
              </a:spcBef>
            </a:pPr>
            <a:r>
              <a:rPr sz="1200" spc="-10">
                <a:solidFill>
                  <a:srgbClr val="66534E"/>
                </a:solidFill>
                <a:latin typeface="Tahoma"/>
                <a:cs typeface="Tahoma"/>
              </a:rPr>
              <a:t>Database</a:t>
            </a:r>
            <a:r>
              <a:rPr sz="1200" spc="-10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66534E"/>
                </a:solidFill>
                <a:latin typeface="Tahoma"/>
                <a:cs typeface="Tahoma"/>
              </a:rPr>
              <a:t>Storage </a:t>
            </a:r>
            <a:endParaRPr lang="en-US" sz="1200" spc="-10">
              <a:solidFill>
                <a:srgbClr val="66534E"/>
              </a:solidFill>
              <a:latin typeface="Tahoma"/>
              <a:cs typeface="Tahoma"/>
            </a:endParaRPr>
          </a:p>
          <a:p>
            <a:pPr marL="776605" marR="3263900">
              <a:lnSpc>
                <a:spcPct val="250000"/>
              </a:lnSpc>
              <a:spcBef>
                <a:spcPts val="40"/>
              </a:spcBef>
            </a:pPr>
            <a:r>
              <a:rPr sz="1200" spc="-20">
                <a:solidFill>
                  <a:srgbClr val="66534E"/>
                </a:solidFill>
                <a:latin typeface="Tahoma"/>
                <a:cs typeface="Tahoma"/>
              </a:rPr>
              <a:t>Tableau</a:t>
            </a:r>
            <a:r>
              <a:rPr sz="1200" spc="-7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66534E"/>
                </a:solidFill>
                <a:latin typeface="Tahoma"/>
                <a:cs typeface="Tahoma"/>
              </a:rPr>
              <a:t>Visualization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626352"/>
            <a:ext cx="11430000" cy="18116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3613908" y="247711"/>
            <a:ext cx="7239000" cy="571502"/>
          </a:xfrm>
          <a:prstGeom prst="rect">
            <a:avLst/>
          </a:prstGeom>
        </p:spPr>
        <p:txBody>
          <a:bodyPr vert="horz" wrap="square" lIns="0" tIns="108775" rIns="0" bIns="0" rtlCol="0">
            <a:spAutoFit/>
          </a:bodyPr>
          <a:lstStyle/>
          <a:p>
            <a:pPr marL="4319270" algn="l">
              <a:lnSpc>
                <a:spcPct val="100000"/>
              </a:lnSpc>
              <a:spcBef>
                <a:spcPts val="105"/>
              </a:spcBef>
            </a:pPr>
            <a:r>
              <a:rPr sz="3000" spc="50"/>
              <a:t>Docker</a:t>
            </a:r>
            <a:r>
              <a:rPr sz="3000" spc="-100"/>
              <a:t> </a:t>
            </a:r>
            <a:r>
              <a:rPr sz="3000" spc="40"/>
              <a:t>Compose</a:t>
            </a:r>
            <a:endParaRPr sz="3000"/>
          </a:p>
        </p:txBody>
      </p:sp>
      <p:sp>
        <p:nvSpPr>
          <p:cNvPr id="6" name="object 6"/>
          <p:cNvSpPr txBox="1"/>
          <p:nvPr/>
        </p:nvSpPr>
        <p:spPr>
          <a:xfrm>
            <a:off x="666262" y="1285691"/>
            <a:ext cx="4794463" cy="3544945"/>
          </a:xfrm>
          <a:prstGeom prst="rect">
            <a:avLst/>
          </a:prstGeom>
        </p:spPr>
        <p:txBody>
          <a:bodyPr vert="horz" wrap="square" lIns="0" tIns="24130" rIns="0" bIns="0" rtlCol="0" anchor="t">
            <a:spAutoFit/>
          </a:bodyPr>
          <a:lstStyle/>
          <a:p>
            <a:pPr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 Tool for running multiple services as one application</a:t>
            </a:r>
            <a:endParaRPr lang="en-US" sz="1300">
              <a:solidFill>
                <a:srgbClr val="532417"/>
              </a:solidFill>
              <a:latin typeface="Tahoma"/>
              <a:ea typeface="Tahoma"/>
              <a:cs typeface="Tahoma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 Manages containers using one configuration file</a:t>
            </a:r>
          </a:p>
          <a:p>
            <a:pPr algn="l">
              <a:lnSpc>
                <a:spcPct val="150000"/>
              </a:lnSpc>
            </a:pPr>
            <a:endParaRPr lang="en-US" sz="1300">
              <a:solidFill>
                <a:srgbClr val="66534E"/>
              </a:solidFill>
              <a:latin typeface="Tahoma"/>
              <a:ea typeface="Tahoma"/>
              <a:cs typeface="Tahoma"/>
            </a:endParaRPr>
          </a:p>
          <a:p>
            <a:pPr algn="l">
              <a:lnSpc>
                <a:spcPct val="150000"/>
              </a:lnSpc>
            </a:pPr>
            <a:r>
              <a:rPr lang="en-US" sz="1300" b="1">
                <a:solidFill>
                  <a:srgbClr val="66534E"/>
                </a:solidFill>
                <a:latin typeface="Tahoma"/>
                <a:ea typeface="Tahoma"/>
                <a:cs typeface="Tahoma"/>
              </a:rPr>
              <a:t>One File</a:t>
            </a:r>
          </a:p>
          <a:p>
            <a:pPr marL="171450" indent="-171450" algn="l">
              <a:lnSpc>
                <a:spcPct val="150000"/>
              </a:lnSpc>
              <a:buFont typeface="Arial"/>
              <a:buChar char="•"/>
            </a:pPr>
            <a:r>
              <a:rPr lang="en-US" sz="13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docker-</a:t>
            </a:r>
            <a:r>
              <a:rPr lang="en-US" sz="1300" err="1">
                <a:solidFill>
                  <a:srgbClr val="66534E"/>
                </a:solidFill>
                <a:latin typeface="Tahoma"/>
                <a:ea typeface="Tahoma"/>
                <a:cs typeface="Tahoma"/>
              </a:rPr>
              <a:t>compose.yml</a:t>
            </a:r>
            <a:r>
              <a:rPr lang="en-US" sz="13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 defines all services.</a:t>
            </a:r>
          </a:p>
          <a:p>
            <a:pPr algn="l">
              <a:lnSpc>
                <a:spcPct val="150000"/>
              </a:lnSpc>
            </a:pPr>
            <a:r>
              <a:rPr lang="en-US" sz="1300" b="1">
                <a:solidFill>
                  <a:srgbClr val="66534E"/>
                </a:solidFill>
                <a:latin typeface="Tahoma"/>
                <a:ea typeface="Tahoma"/>
                <a:cs typeface="Tahoma"/>
              </a:rPr>
              <a:t>One Command</a:t>
            </a:r>
          </a:p>
          <a:p>
            <a:pPr marL="171450" indent="-171450" algn="l">
              <a:lnSpc>
                <a:spcPct val="150000"/>
              </a:lnSpc>
              <a:buFont typeface="Arial"/>
              <a:buChar char="•"/>
            </a:pPr>
            <a:r>
              <a:rPr lang="en-US" sz="13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docker compose up starts everything.</a:t>
            </a:r>
          </a:p>
          <a:p>
            <a:pPr algn="l">
              <a:lnSpc>
                <a:spcPct val="150000"/>
              </a:lnSpc>
            </a:pPr>
            <a:r>
              <a:rPr lang="en-US" sz="1300" b="1">
                <a:solidFill>
                  <a:srgbClr val="66534E"/>
                </a:solidFill>
                <a:latin typeface="Tahoma"/>
                <a:ea typeface="Tahoma"/>
                <a:cs typeface="Tahoma"/>
              </a:rPr>
              <a:t>Auto Networking</a:t>
            </a:r>
          </a:p>
          <a:p>
            <a:pPr marL="171450" indent="-171450" algn="l">
              <a:lnSpc>
                <a:spcPct val="150000"/>
              </a:lnSpc>
              <a:buFont typeface="Arial"/>
              <a:buChar char="•"/>
            </a:pPr>
            <a:r>
              <a:rPr lang="en-US" sz="13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Containers communicate automatically.</a:t>
            </a:r>
          </a:p>
          <a:p>
            <a:pPr algn="l">
              <a:lnSpc>
                <a:spcPct val="150000"/>
              </a:lnSpc>
            </a:pPr>
            <a:r>
              <a:rPr lang="en-US" sz="1300" b="1">
                <a:solidFill>
                  <a:srgbClr val="66534E"/>
                </a:solidFill>
                <a:latin typeface="Tahoma"/>
                <a:ea typeface="Tahoma"/>
                <a:cs typeface="Tahoma"/>
              </a:rPr>
              <a:t>Scalable</a:t>
            </a:r>
          </a:p>
          <a:p>
            <a:pPr marL="171450" indent="-171450" algn="l">
              <a:lnSpc>
                <a:spcPct val="150000"/>
              </a:lnSpc>
              <a:buFont typeface="Arial"/>
              <a:buChar char="•"/>
            </a:pPr>
            <a:r>
              <a:rPr lang="en-US" sz="13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Run multiple instances of services.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860205" y="1811682"/>
            <a:ext cx="387208" cy="1812046"/>
            <a:chOff x="4905374" y="2266949"/>
            <a:chExt cx="664845" cy="3188335"/>
          </a:xfrm>
        </p:grpSpPr>
        <p:sp>
          <p:nvSpPr>
            <p:cNvPr id="8" name="object 8"/>
            <p:cNvSpPr/>
            <p:nvPr/>
          </p:nvSpPr>
          <p:spPr>
            <a:xfrm>
              <a:off x="4905374" y="22669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05374" y="22669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499" y="2567825"/>
              <a:ext cx="199280" cy="1882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905374" y="30670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905374" y="30670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0112" y="3357865"/>
              <a:ext cx="206055" cy="208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05374" y="38576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05374" y="38576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3455" y="4158014"/>
              <a:ext cx="179368" cy="20804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905374" y="46577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05374" y="46577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9027" y="4960288"/>
              <a:ext cx="208225" cy="18688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708980" y="3889102"/>
            <a:ext cx="4668732" cy="33782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185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Docker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Compose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ensures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all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components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run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together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consistently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25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45">
                <a:solidFill>
                  <a:srgbClr val="66534E"/>
                </a:solidFill>
                <a:latin typeface="Verdana"/>
                <a:cs typeface="Verdana"/>
              </a:rPr>
              <a:t>every</a:t>
            </a:r>
            <a:r>
              <a:rPr sz="110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team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member.</a:t>
            </a:r>
            <a:endParaRPr sz="1100">
              <a:latin typeface="Verdana"/>
              <a:cs typeface="Verdan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117E71-616E-5B51-E357-9EED20C11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347" y="4748462"/>
            <a:ext cx="6713219" cy="157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DB90D-6380-AC35-9A4B-8AD594B5A74F}"/>
              </a:ext>
            </a:extLst>
          </p:cNvPr>
          <p:cNvSpPr txBox="1"/>
          <p:nvPr/>
        </p:nvSpPr>
        <p:spPr>
          <a:xfrm>
            <a:off x="8693592" y="1674549"/>
            <a:ext cx="3671725" cy="22159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50000"/>
              </a:lnSpc>
            </a:pPr>
            <a:r>
              <a:rPr lang="en-US" sz="12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Step 1: Build Image</a:t>
            </a:r>
          </a:p>
          <a:p>
            <a:pPr>
              <a:lnSpc>
                <a:spcPct val="250000"/>
              </a:lnSpc>
            </a:pPr>
            <a:r>
              <a:rPr lang="en-US" sz="12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Step 2: Define Services</a:t>
            </a:r>
          </a:p>
          <a:p>
            <a:pPr>
              <a:lnSpc>
                <a:spcPct val="250000"/>
              </a:lnSpc>
            </a:pPr>
            <a:r>
              <a:rPr lang="en-US" sz="12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Step 3: Launch System</a:t>
            </a:r>
          </a:p>
          <a:p>
            <a:pPr>
              <a:lnSpc>
                <a:spcPct val="250000"/>
              </a:lnSpc>
            </a:pPr>
            <a:r>
              <a:rPr lang="en-US" sz="1200">
                <a:solidFill>
                  <a:srgbClr val="66534E"/>
                </a:solidFill>
                <a:latin typeface="Tahoma"/>
                <a:ea typeface="Tahoma"/>
                <a:cs typeface="Tahoma"/>
              </a:rPr>
              <a:t>Step 4: Manage Services</a:t>
            </a:r>
          </a:p>
          <a:p>
            <a:pPr algn="ctr"/>
            <a:endParaRPr lang="en-US"/>
          </a:p>
        </p:txBody>
      </p:sp>
      <p:grpSp>
        <p:nvGrpSpPr>
          <p:cNvPr id="22" name="object 7">
            <a:extLst>
              <a:ext uri="{FF2B5EF4-FFF2-40B4-BE49-F238E27FC236}">
                <a16:creationId xmlns:a16="http://schemas.microsoft.com/office/drawing/2014/main" id="{06FDC992-E50E-E1E3-BCA7-A13843976705}"/>
              </a:ext>
            </a:extLst>
          </p:cNvPr>
          <p:cNvGrpSpPr/>
          <p:nvPr/>
        </p:nvGrpSpPr>
        <p:grpSpPr>
          <a:xfrm>
            <a:off x="8305627" y="1811682"/>
            <a:ext cx="387208" cy="1812046"/>
            <a:chOff x="4905374" y="2266949"/>
            <a:chExt cx="664845" cy="3188335"/>
          </a:xfrm>
        </p:grpSpPr>
        <p:sp>
          <p:nvSpPr>
            <p:cNvPr id="23" name="object 8">
              <a:extLst>
                <a:ext uri="{FF2B5EF4-FFF2-40B4-BE49-F238E27FC236}">
                  <a16:creationId xmlns:a16="http://schemas.microsoft.com/office/drawing/2014/main" id="{A5FFDD8F-7656-6088-AF2A-E1D1775B3B2E}"/>
                </a:ext>
              </a:extLst>
            </p:cNvPr>
            <p:cNvSpPr/>
            <p:nvPr/>
          </p:nvSpPr>
          <p:spPr>
            <a:xfrm>
              <a:off x="4905374" y="22669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9">
              <a:extLst>
                <a:ext uri="{FF2B5EF4-FFF2-40B4-BE49-F238E27FC236}">
                  <a16:creationId xmlns:a16="http://schemas.microsoft.com/office/drawing/2014/main" id="{DCFBDC55-CE6B-6E08-065C-8878266C923C}"/>
                </a:ext>
              </a:extLst>
            </p:cNvPr>
            <p:cNvSpPr/>
            <p:nvPr/>
          </p:nvSpPr>
          <p:spPr>
            <a:xfrm>
              <a:off x="4905374" y="22669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10">
              <a:extLst>
                <a:ext uri="{FF2B5EF4-FFF2-40B4-BE49-F238E27FC236}">
                  <a16:creationId xmlns:a16="http://schemas.microsoft.com/office/drawing/2014/main" id="{8A9B7103-4207-7355-27FB-86D1C35657E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3499" y="2567825"/>
              <a:ext cx="199280" cy="188209"/>
            </a:xfrm>
            <a:prstGeom prst="rect">
              <a:avLst/>
            </a:prstGeom>
          </p:spPr>
        </p:pic>
        <p:sp>
          <p:nvSpPr>
            <p:cNvPr id="26" name="object 11">
              <a:extLst>
                <a:ext uri="{FF2B5EF4-FFF2-40B4-BE49-F238E27FC236}">
                  <a16:creationId xmlns:a16="http://schemas.microsoft.com/office/drawing/2014/main" id="{9E4D749A-C543-A919-2DFB-1FE5021BEF09}"/>
                </a:ext>
              </a:extLst>
            </p:cNvPr>
            <p:cNvSpPr/>
            <p:nvPr/>
          </p:nvSpPr>
          <p:spPr>
            <a:xfrm>
              <a:off x="4905374" y="30670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2">
              <a:extLst>
                <a:ext uri="{FF2B5EF4-FFF2-40B4-BE49-F238E27FC236}">
                  <a16:creationId xmlns:a16="http://schemas.microsoft.com/office/drawing/2014/main" id="{900838D4-5629-F966-2C9A-C5CBF6E9E7AB}"/>
                </a:ext>
              </a:extLst>
            </p:cNvPr>
            <p:cNvSpPr/>
            <p:nvPr/>
          </p:nvSpPr>
          <p:spPr>
            <a:xfrm>
              <a:off x="4905374" y="3067049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13">
              <a:extLst>
                <a:ext uri="{FF2B5EF4-FFF2-40B4-BE49-F238E27FC236}">
                  <a16:creationId xmlns:a16="http://schemas.microsoft.com/office/drawing/2014/main" id="{7BE260A4-2CA6-7313-24D1-C94CE36E128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0112" y="3357865"/>
              <a:ext cx="206055" cy="208199"/>
            </a:xfrm>
            <a:prstGeom prst="rect">
              <a:avLst/>
            </a:prstGeom>
          </p:spPr>
        </p:pic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6A6D9546-2C4F-7F12-A644-0EBC611CC2C4}"/>
                </a:ext>
              </a:extLst>
            </p:cNvPr>
            <p:cNvSpPr/>
            <p:nvPr/>
          </p:nvSpPr>
          <p:spPr>
            <a:xfrm>
              <a:off x="4905374" y="38576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1803E0D6-28FA-B6F2-2EC8-AC5089F0588B}"/>
                </a:ext>
              </a:extLst>
            </p:cNvPr>
            <p:cNvSpPr/>
            <p:nvPr/>
          </p:nvSpPr>
          <p:spPr>
            <a:xfrm>
              <a:off x="4905374" y="38576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16">
              <a:extLst>
                <a:ext uri="{FF2B5EF4-FFF2-40B4-BE49-F238E27FC236}">
                  <a16:creationId xmlns:a16="http://schemas.microsoft.com/office/drawing/2014/main" id="{4E58580D-0609-8D21-AB03-540553D6212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53455" y="4158014"/>
              <a:ext cx="179368" cy="208047"/>
            </a:xfrm>
            <a:prstGeom prst="rect">
              <a:avLst/>
            </a:prstGeom>
          </p:spPr>
        </p:pic>
        <p:sp>
          <p:nvSpPr>
            <p:cNvPr id="32" name="object 17">
              <a:extLst>
                <a:ext uri="{FF2B5EF4-FFF2-40B4-BE49-F238E27FC236}">
                  <a16:creationId xmlns:a16="http://schemas.microsoft.com/office/drawing/2014/main" id="{38E4534B-351E-265E-22B5-5028A035579F}"/>
                </a:ext>
              </a:extLst>
            </p:cNvPr>
            <p:cNvSpPr/>
            <p:nvPr/>
          </p:nvSpPr>
          <p:spPr>
            <a:xfrm>
              <a:off x="4905374" y="46577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332267" y="797421"/>
                  </a:moveTo>
                  <a:lnTo>
                    <a:pt x="0" y="664513"/>
                  </a:lnTo>
                  <a:lnTo>
                    <a:pt x="0" y="0"/>
                  </a:lnTo>
                  <a:lnTo>
                    <a:pt x="332267" y="132907"/>
                  </a:lnTo>
                  <a:lnTo>
                    <a:pt x="664535" y="0"/>
                  </a:lnTo>
                  <a:lnTo>
                    <a:pt x="664535" y="664513"/>
                  </a:lnTo>
                  <a:lnTo>
                    <a:pt x="332267" y="79742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8">
              <a:extLst>
                <a:ext uri="{FF2B5EF4-FFF2-40B4-BE49-F238E27FC236}">
                  <a16:creationId xmlns:a16="http://schemas.microsoft.com/office/drawing/2014/main" id="{92701193-6777-D597-9D58-567DD090F56E}"/>
                </a:ext>
              </a:extLst>
            </p:cNvPr>
            <p:cNvSpPr/>
            <p:nvPr/>
          </p:nvSpPr>
          <p:spPr>
            <a:xfrm>
              <a:off x="4905374" y="4657724"/>
              <a:ext cx="664845" cy="797560"/>
            </a:xfrm>
            <a:custGeom>
              <a:avLst/>
              <a:gdLst/>
              <a:ahLst/>
              <a:cxnLst/>
              <a:rect l="l" t="t" r="r" b="b"/>
              <a:pathLst>
                <a:path w="664845" h="797560">
                  <a:moveTo>
                    <a:pt x="0" y="664513"/>
                  </a:moveTo>
                  <a:lnTo>
                    <a:pt x="332267" y="797421"/>
                  </a:lnTo>
                  <a:lnTo>
                    <a:pt x="664535" y="664513"/>
                  </a:lnTo>
                  <a:lnTo>
                    <a:pt x="664535" y="0"/>
                  </a:lnTo>
                  <a:lnTo>
                    <a:pt x="332267" y="132907"/>
                  </a:lnTo>
                  <a:lnTo>
                    <a:pt x="0" y="0"/>
                  </a:lnTo>
                  <a:lnTo>
                    <a:pt x="0" y="664513"/>
                  </a:lnTo>
                  <a:close/>
                </a:path>
              </a:pathLst>
            </a:custGeom>
            <a:ln w="16613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19">
              <a:extLst>
                <a:ext uri="{FF2B5EF4-FFF2-40B4-BE49-F238E27FC236}">
                  <a16:creationId xmlns:a16="http://schemas.microsoft.com/office/drawing/2014/main" id="{1ACFA990-ECFB-7A81-1E59-B274A34F04D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39027" y="4960288"/>
              <a:ext cx="208225" cy="1868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325515"/>
            <a:ext cx="8093709" cy="545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400" spc="60"/>
              <a:t>Docker</a:t>
            </a:r>
            <a:r>
              <a:rPr sz="3400" spc="-125"/>
              <a:t> </a:t>
            </a:r>
            <a:r>
              <a:rPr sz="3400"/>
              <a:t>Compose:</a:t>
            </a:r>
            <a:r>
              <a:rPr sz="3400" spc="-125"/>
              <a:t> </a:t>
            </a:r>
            <a:r>
              <a:rPr sz="3400"/>
              <a:t>The</a:t>
            </a:r>
            <a:r>
              <a:rPr sz="3400" spc="-125"/>
              <a:t> </a:t>
            </a:r>
            <a:r>
              <a:rPr sz="3400" spc="-20"/>
              <a:t>`compose.yml`</a:t>
            </a:r>
            <a:r>
              <a:rPr sz="3400" spc="-125"/>
              <a:t> </a:t>
            </a:r>
            <a:r>
              <a:rPr sz="3400" spc="-20"/>
              <a:t>File</a:t>
            </a:r>
            <a:endParaRPr sz="3400"/>
          </a:p>
        </p:txBody>
      </p:sp>
      <p:grpSp>
        <p:nvGrpSpPr>
          <p:cNvPr id="5" name="object 5"/>
          <p:cNvGrpSpPr/>
          <p:nvPr/>
        </p:nvGrpSpPr>
        <p:grpSpPr>
          <a:xfrm>
            <a:off x="76200" y="1775771"/>
            <a:ext cx="11277600" cy="3850550"/>
            <a:chOff x="619124" y="2771774"/>
            <a:chExt cx="10191750" cy="2152650"/>
          </a:xfrm>
        </p:grpSpPr>
        <p:sp>
          <p:nvSpPr>
            <p:cNvPr id="6" name="object 6"/>
            <p:cNvSpPr/>
            <p:nvPr/>
          </p:nvSpPr>
          <p:spPr>
            <a:xfrm>
              <a:off x="623887" y="2776537"/>
              <a:ext cx="10182225" cy="2143125"/>
            </a:xfrm>
            <a:custGeom>
              <a:avLst/>
              <a:gdLst/>
              <a:ahLst/>
              <a:cxnLst/>
              <a:rect l="l" t="t" r="r" b="b"/>
              <a:pathLst>
                <a:path w="10182225" h="2143125">
                  <a:moveTo>
                    <a:pt x="0" y="2095167"/>
                  </a:moveTo>
                  <a:lnTo>
                    <a:pt x="0" y="47957"/>
                  </a:lnTo>
                  <a:lnTo>
                    <a:pt x="0" y="41597"/>
                  </a:lnTo>
                  <a:lnTo>
                    <a:pt x="1216" y="35480"/>
                  </a:lnTo>
                  <a:lnTo>
                    <a:pt x="3650" y="29604"/>
                  </a:lnTo>
                  <a:lnTo>
                    <a:pt x="6084" y="23729"/>
                  </a:lnTo>
                  <a:lnTo>
                    <a:pt x="9549" y="18542"/>
                  </a:lnTo>
                  <a:lnTo>
                    <a:pt x="14046" y="14046"/>
                  </a:lnTo>
                  <a:lnTo>
                    <a:pt x="18543" y="9549"/>
                  </a:lnTo>
                  <a:lnTo>
                    <a:pt x="23729" y="6083"/>
                  </a:lnTo>
                  <a:lnTo>
                    <a:pt x="29604" y="3650"/>
                  </a:lnTo>
                  <a:lnTo>
                    <a:pt x="35480" y="1216"/>
                  </a:lnTo>
                  <a:lnTo>
                    <a:pt x="41597" y="0"/>
                  </a:lnTo>
                  <a:lnTo>
                    <a:pt x="47957" y="0"/>
                  </a:lnTo>
                  <a:lnTo>
                    <a:pt x="10134266" y="0"/>
                  </a:lnTo>
                  <a:lnTo>
                    <a:pt x="10140625" y="0"/>
                  </a:lnTo>
                  <a:lnTo>
                    <a:pt x="10146742" y="1216"/>
                  </a:lnTo>
                  <a:lnTo>
                    <a:pt x="10178572" y="29604"/>
                  </a:lnTo>
                  <a:lnTo>
                    <a:pt x="10182224" y="47957"/>
                  </a:lnTo>
                  <a:lnTo>
                    <a:pt x="10182224" y="2095167"/>
                  </a:lnTo>
                  <a:lnTo>
                    <a:pt x="10163680" y="2133574"/>
                  </a:lnTo>
                  <a:lnTo>
                    <a:pt x="10134266" y="2143124"/>
                  </a:lnTo>
                  <a:lnTo>
                    <a:pt x="47957" y="2143124"/>
                  </a:lnTo>
                  <a:lnTo>
                    <a:pt x="41597" y="2143124"/>
                  </a:lnTo>
                  <a:lnTo>
                    <a:pt x="35480" y="2141907"/>
                  </a:lnTo>
                  <a:lnTo>
                    <a:pt x="29604" y="2139473"/>
                  </a:lnTo>
                  <a:lnTo>
                    <a:pt x="23729" y="2137039"/>
                  </a:lnTo>
                  <a:lnTo>
                    <a:pt x="18543" y="2133574"/>
                  </a:lnTo>
                  <a:lnTo>
                    <a:pt x="14046" y="2129078"/>
                  </a:lnTo>
                  <a:lnTo>
                    <a:pt x="9549" y="2124581"/>
                  </a:lnTo>
                  <a:lnTo>
                    <a:pt x="6084" y="2119394"/>
                  </a:lnTo>
                  <a:lnTo>
                    <a:pt x="3650" y="2113519"/>
                  </a:lnTo>
                  <a:lnTo>
                    <a:pt x="1216" y="2107643"/>
                  </a:lnTo>
                  <a:lnTo>
                    <a:pt x="0" y="2101526"/>
                  </a:lnTo>
                  <a:lnTo>
                    <a:pt x="0" y="2095167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8637" y="2781299"/>
              <a:ext cx="10172700" cy="361950"/>
            </a:xfrm>
            <a:custGeom>
              <a:avLst/>
              <a:gdLst/>
              <a:ahLst/>
              <a:cxnLst/>
              <a:rect l="l" t="t" r="r" b="b"/>
              <a:pathLst>
                <a:path w="10172700" h="361950">
                  <a:moveTo>
                    <a:pt x="2543175" y="0"/>
                  </a:moveTo>
                  <a:lnTo>
                    <a:pt x="45732" y="0"/>
                  </a:lnTo>
                  <a:lnTo>
                    <a:pt x="39014" y="1346"/>
                  </a:lnTo>
                  <a:lnTo>
                    <a:pt x="6692" y="26085"/>
                  </a:lnTo>
                  <a:lnTo>
                    <a:pt x="0" y="45732"/>
                  </a:lnTo>
                  <a:lnTo>
                    <a:pt x="0" y="361950"/>
                  </a:lnTo>
                  <a:lnTo>
                    <a:pt x="2543175" y="361950"/>
                  </a:lnTo>
                  <a:lnTo>
                    <a:pt x="2543175" y="0"/>
                  </a:lnTo>
                  <a:close/>
                </a:path>
                <a:path w="10172700" h="361950">
                  <a:moveTo>
                    <a:pt x="10172700" y="45732"/>
                  </a:moveTo>
                  <a:lnTo>
                    <a:pt x="10152316" y="10502"/>
                  </a:lnTo>
                  <a:lnTo>
                    <a:pt x="10126980" y="0"/>
                  </a:lnTo>
                  <a:lnTo>
                    <a:pt x="2552700" y="0"/>
                  </a:lnTo>
                  <a:lnTo>
                    <a:pt x="2552700" y="361950"/>
                  </a:lnTo>
                  <a:lnTo>
                    <a:pt x="10172700" y="361950"/>
                  </a:lnTo>
                  <a:lnTo>
                    <a:pt x="10172700" y="45732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8649" y="3143249"/>
              <a:ext cx="2543175" cy="352425"/>
            </a:xfrm>
            <a:custGeom>
              <a:avLst/>
              <a:gdLst/>
              <a:ahLst/>
              <a:cxnLst/>
              <a:rect l="l" t="t" r="r" b="b"/>
              <a:pathLst>
                <a:path w="2543175" h="352425">
                  <a:moveTo>
                    <a:pt x="254317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2543174" y="0"/>
                  </a:lnTo>
                  <a:lnTo>
                    <a:pt x="2543174" y="352424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8649" y="3495674"/>
              <a:ext cx="2543175" cy="533400"/>
            </a:xfrm>
            <a:custGeom>
              <a:avLst/>
              <a:gdLst/>
              <a:ahLst/>
              <a:cxnLst/>
              <a:rect l="l" t="t" r="r" b="b"/>
              <a:pathLst>
                <a:path w="2543175" h="533400">
                  <a:moveTo>
                    <a:pt x="254317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2543174" y="0"/>
                  </a:lnTo>
                  <a:lnTo>
                    <a:pt x="2543174" y="53339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8649" y="4029074"/>
              <a:ext cx="2543175" cy="352425"/>
            </a:xfrm>
            <a:custGeom>
              <a:avLst/>
              <a:gdLst/>
              <a:ahLst/>
              <a:cxnLst/>
              <a:rect l="l" t="t" r="r" b="b"/>
              <a:pathLst>
                <a:path w="2543175" h="352425">
                  <a:moveTo>
                    <a:pt x="254317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2543174" y="0"/>
                  </a:lnTo>
                  <a:lnTo>
                    <a:pt x="2543174" y="352424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8637" y="4381499"/>
              <a:ext cx="10172700" cy="533400"/>
            </a:xfrm>
            <a:custGeom>
              <a:avLst/>
              <a:gdLst/>
              <a:ahLst/>
              <a:cxnLst/>
              <a:rect l="l" t="t" r="r" b="b"/>
              <a:pathLst>
                <a:path w="10172700" h="533400">
                  <a:moveTo>
                    <a:pt x="2543175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20396" y="522909"/>
                  </a:lnTo>
                  <a:lnTo>
                    <a:pt x="45732" y="533400"/>
                  </a:lnTo>
                  <a:lnTo>
                    <a:pt x="2543175" y="533400"/>
                  </a:lnTo>
                  <a:lnTo>
                    <a:pt x="2543175" y="0"/>
                  </a:lnTo>
                  <a:close/>
                </a:path>
                <a:path w="10172700" h="533400">
                  <a:moveTo>
                    <a:pt x="10172700" y="0"/>
                  </a:moveTo>
                  <a:lnTo>
                    <a:pt x="2552700" y="0"/>
                  </a:lnTo>
                  <a:lnTo>
                    <a:pt x="2552700" y="533400"/>
                  </a:lnTo>
                  <a:lnTo>
                    <a:pt x="10126980" y="533400"/>
                  </a:lnTo>
                  <a:lnTo>
                    <a:pt x="10133698" y="532066"/>
                  </a:lnTo>
                  <a:lnTo>
                    <a:pt x="10166020" y="507314"/>
                  </a:lnTo>
                  <a:lnTo>
                    <a:pt x="10172700" y="487680"/>
                  </a:lnTo>
                  <a:lnTo>
                    <a:pt x="10172700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7466" y="1142781"/>
            <a:ext cx="10130790" cy="3611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3299"/>
              </a:lnSpc>
              <a:spcBef>
                <a:spcPts val="90"/>
              </a:spcBef>
            </a:pP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150" spc="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heart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of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multi-container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Docker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application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-20">
                <a:solidFill>
                  <a:srgbClr val="66534E"/>
                </a:solidFill>
                <a:latin typeface="Verdana"/>
                <a:cs typeface="Verdana"/>
              </a:rPr>
              <a:t>is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Arial MT"/>
                <a:cs typeface="Arial MT"/>
              </a:rPr>
              <a:t>compose.yml</a:t>
            </a:r>
            <a:r>
              <a:rPr sz="1150" spc="135">
                <a:solidFill>
                  <a:srgbClr val="66534E"/>
                </a:solidFill>
                <a:latin typeface="Arial MT"/>
                <a:cs typeface="Arial MT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file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-10">
                <a:solidFill>
                  <a:srgbClr val="66534E"/>
                </a:solidFill>
                <a:latin typeface="Verdana"/>
                <a:cs typeface="Verdana"/>
              </a:rPr>
              <a:t>(formerly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Arial MT"/>
                <a:cs typeface="Arial MT"/>
              </a:rPr>
              <a:t>docker-compose.yml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).</a:t>
            </a:r>
            <a:r>
              <a:rPr sz="1150" spc="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This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55">
                <a:solidFill>
                  <a:srgbClr val="66534E"/>
                </a:solidFill>
                <a:latin typeface="Verdana"/>
                <a:cs typeface="Verdana"/>
              </a:rPr>
              <a:t>YAML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file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defines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60">
                <a:solidFill>
                  <a:srgbClr val="66534E"/>
                </a:solidFill>
                <a:latin typeface="Verdana"/>
                <a:cs typeface="Verdana"/>
              </a:rPr>
              <a:t>how</a:t>
            </a:r>
            <a:r>
              <a:rPr sz="1150" spc="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-20">
                <a:solidFill>
                  <a:srgbClr val="66534E"/>
                </a:solidFill>
                <a:latin typeface="Verdana"/>
                <a:cs typeface="Verdana"/>
              </a:rPr>
              <a:t>your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application's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-25">
                <a:solidFill>
                  <a:srgbClr val="66534E"/>
                </a:solidFill>
                <a:latin typeface="Verdana"/>
                <a:cs typeface="Verdana"/>
              </a:rPr>
              <a:t>services,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networks,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5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volumes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-10">
                <a:solidFill>
                  <a:srgbClr val="66534E"/>
                </a:solidFill>
                <a:latin typeface="Verdana"/>
                <a:cs typeface="Verdana"/>
              </a:rPr>
              <a:t>are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>
                <a:solidFill>
                  <a:srgbClr val="66534E"/>
                </a:solidFill>
                <a:latin typeface="Verdana"/>
                <a:cs typeface="Verdana"/>
              </a:rPr>
              <a:t>configured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5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150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50" spc="-10">
                <a:solidFill>
                  <a:srgbClr val="66534E"/>
                </a:solidFill>
                <a:latin typeface="Verdana"/>
                <a:cs typeface="Verdana"/>
              </a:rPr>
              <a:t>interact.</a:t>
            </a:r>
            <a:endParaRPr sz="1150">
              <a:latin typeface="Verdana"/>
              <a:cs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117EA1C-B6BB-D2E9-2707-4FAB077422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86" b="8229"/>
          <a:stretch>
            <a:fillRect/>
          </a:stretch>
        </p:blipFill>
        <p:spPr bwMode="auto">
          <a:xfrm>
            <a:off x="195984" y="1948446"/>
            <a:ext cx="10953753" cy="3505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077" y="462311"/>
            <a:ext cx="10255845" cy="470962"/>
          </a:xfrm>
          <a:prstGeom prst="rect">
            <a:avLst/>
          </a:prstGeom>
        </p:spPr>
        <p:txBody>
          <a:bodyPr vert="horz" wrap="square" lIns="0" tIns="93027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450"/>
              <a:t>Docker</a:t>
            </a:r>
            <a:r>
              <a:rPr sz="2450" spc="25"/>
              <a:t> </a:t>
            </a:r>
            <a:r>
              <a:rPr sz="2450"/>
              <a:t>Commands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1024" y="1095374"/>
            <a:ext cx="10267950" cy="742950"/>
            <a:chOff x="581024" y="1095374"/>
            <a:chExt cx="10267950" cy="742950"/>
          </a:xfrm>
        </p:grpSpPr>
        <p:sp>
          <p:nvSpPr>
            <p:cNvPr id="4" name="object 4"/>
            <p:cNvSpPr/>
            <p:nvPr/>
          </p:nvSpPr>
          <p:spPr>
            <a:xfrm>
              <a:off x="585787" y="1100137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10229725" y="733424"/>
                  </a:moveTo>
                  <a:lnTo>
                    <a:pt x="28698" y="733424"/>
                  </a:lnTo>
                  <a:lnTo>
                    <a:pt x="24477" y="732585"/>
                  </a:lnTo>
                  <a:lnTo>
                    <a:pt x="0" y="704726"/>
                  </a:lnTo>
                  <a:lnTo>
                    <a:pt x="0" y="700339"/>
                  </a:lnTo>
                  <a:lnTo>
                    <a:pt x="0" y="28698"/>
                  </a:lnTo>
                  <a:lnTo>
                    <a:pt x="28698" y="0"/>
                  </a:lnTo>
                  <a:lnTo>
                    <a:pt x="10229725" y="0"/>
                  </a:lnTo>
                  <a:lnTo>
                    <a:pt x="10258423" y="28698"/>
                  </a:lnTo>
                  <a:lnTo>
                    <a:pt x="10258423" y="704726"/>
                  </a:lnTo>
                  <a:lnTo>
                    <a:pt x="10233945" y="732585"/>
                  </a:lnTo>
                  <a:lnTo>
                    <a:pt x="10229725" y="7334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5787" y="1100137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0" y="700339"/>
                  </a:moveTo>
                  <a:lnTo>
                    <a:pt x="0" y="33085"/>
                  </a:lnTo>
                  <a:lnTo>
                    <a:pt x="0" y="28698"/>
                  </a:lnTo>
                  <a:lnTo>
                    <a:pt x="839" y="24477"/>
                  </a:lnTo>
                  <a:lnTo>
                    <a:pt x="2518" y="20424"/>
                  </a:lnTo>
                  <a:lnTo>
                    <a:pt x="4197" y="16370"/>
                  </a:lnTo>
                  <a:lnTo>
                    <a:pt x="6588" y="12792"/>
                  </a:lnTo>
                  <a:lnTo>
                    <a:pt x="9690" y="9690"/>
                  </a:lnTo>
                  <a:lnTo>
                    <a:pt x="12792" y="6588"/>
                  </a:lnTo>
                  <a:lnTo>
                    <a:pt x="16370" y="4197"/>
                  </a:lnTo>
                  <a:lnTo>
                    <a:pt x="20424" y="2518"/>
                  </a:lnTo>
                  <a:lnTo>
                    <a:pt x="24477" y="839"/>
                  </a:lnTo>
                  <a:lnTo>
                    <a:pt x="28698" y="0"/>
                  </a:lnTo>
                  <a:lnTo>
                    <a:pt x="33085" y="0"/>
                  </a:lnTo>
                  <a:lnTo>
                    <a:pt x="10225339" y="0"/>
                  </a:lnTo>
                  <a:lnTo>
                    <a:pt x="10229725" y="0"/>
                  </a:lnTo>
                  <a:lnTo>
                    <a:pt x="10233945" y="839"/>
                  </a:lnTo>
                  <a:lnTo>
                    <a:pt x="10258424" y="33085"/>
                  </a:lnTo>
                  <a:lnTo>
                    <a:pt x="10258424" y="700339"/>
                  </a:lnTo>
                  <a:lnTo>
                    <a:pt x="10258423" y="704726"/>
                  </a:lnTo>
                  <a:lnTo>
                    <a:pt x="10257583" y="708947"/>
                  </a:lnTo>
                  <a:lnTo>
                    <a:pt x="10255904" y="713000"/>
                  </a:lnTo>
                  <a:lnTo>
                    <a:pt x="10254225" y="717054"/>
                  </a:lnTo>
                  <a:lnTo>
                    <a:pt x="10237998" y="730906"/>
                  </a:lnTo>
                  <a:lnTo>
                    <a:pt x="10233945" y="732585"/>
                  </a:lnTo>
                  <a:lnTo>
                    <a:pt x="10229725" y="733424"/>
                  </a:lnTo>
                  <a:lnTo>
                    <a:pt x="10225339" y="733424"/>
                  </a:lnTo>
                  <a:lnTo>
                    <a:pt x="33085" y="733424"/>
                  </a:lnTo>
                  <a:lnTo>
                    <a:pt x="28698" y="733424"/>
                  </a:lnTo>
                  <a:lnTo>
                    <a:pt x="24477" y="732585"/>
                  </a:lnTo>
                  <a:lnTo>
                    <a:pt x="20424" y="730906"/>
                  </a:lnTo>
                  <a:lnTo>
                    <a:pt x="16370" y="729227"/>
                  </a:lnTo>
                  <a:lnTo>
                    <a:pt x="2518" y="713000"/>
                  </a:lnTo>
                  <a:lnTo>
                    <a:pt x="839" y="708947"/>
                  </a:lnTo>
                  <a:lnTo>
                    <a:pt x="0" y="704726"/>
                  </a:lnTo>
                  <a:lnTo>
                    <a:pt x="0" y="700339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549" y="1104899"/>
              <a:ext cx="433705" cy="723900"/>
            </a:xfrm>
            <a:custGeom>
              <a:avLst/>
              <a:gdLst/>
              <a:ahLst/>
              <a:cxnLst/>
              <a:rect l="l" t="t" r="r" b="b"/>
              <a:pathLst>
                <a:path w="433705" h="723900">
                  <a:moveTo>
                    <a:pt x="433387" y="723899"/>
                  </a:moveTo>
                  <a:lnTo>
                    <a:pt x="24567" y="723899"/>
                  </a:lnTo>
                  <a:lnTo>
                    <a:pt x="0" y="699332"/>
                  </a:lnTo>
                  <a:lnTo>
                    <a:pt x="0" y="695576"/>
                  </a:lnTo>
                  <a:lnTo>
                    <a:pt x="0" y="24567"/>
                  </a:lnTo>
                  <a:lnTo>
                    <a:pt x="24567" y="0"/>
                  </a:lnTo>
                  <a:lnTo>
                    <a:pt x="433387" y="0"/>
                  </a:lnTo>
                  <a:lnTo>
                    <a:pt x="433387" y="72389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19174" y="1104899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952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72389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07862" y="1339659"/>
            <a:ext cx="41148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1430" algn="ctr">
              <a:lnSpc>
                <a:spcPct val="100000"/>
              </a:lnSpc>
              <a:spcBef>
                <a:spcPts val="125"/>
              </a:spcBef>
            </a:pPr>
            <a:r>
              <a:rPr sz="1250" spc="-370">
                <a:solidFill>
                  <a:srgbClr val="66534E"/>
                </a:solidFill>
                <a:latin typeface="Tahoma"/>
                <a:cs typeface="Tahoma"/>
              </a:rPr>
              <a:t>1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8699" y="1133961"/>
            <a:ext cx="9801860" cy="5969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95"/>
              </a:spcBef>
            </a:pP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docker</a:t>
            </a:r>
            <a:r>
              <a:rPr sz="1200" spc="15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10">
                <a:solidFill>
                  <a:srgbClr val="66534E"/>
                </a:solidFill>
                <a:latin typeface="Tahoma"/>
                <a:cs typeface="Tahoma"/>
              </a:rPr>
              <a:t>build</a:t>
            </a:r>
            <a:endParaRPr sz="1200">
              <a:latin typeface="Tahoma"/>
              <a:cs typeface="Tahoma"/>
            </a:endParaRPr>
          </a:p>
          <a:p>
            <a:pPr marL="60960">
              <a:lnSpc>
                <a:spcPct val="100000"/>
              </a:lnSpc>
              <a:spcBef>
                <a:spcPts val="335"/>
              </a:spcBef>
            </a:pP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Builds</a:t>
            </a:r>
            <a:r>
              <a:rPr sz="850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850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Docker</a:t>
            </a:r>
            <a:r>
              <a:rPr sz="8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image</a:t>
            </a:r>
            <a:r>
              <a:rPr sz="850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from</a:t>
            </a:r>
            <a:r>
              <a:rPr sz="8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850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10">
                <a:solidFill>
                  <a:srgbClr val="66534E"/>
                </a:solidFill>
                <a:latin typeface="Verdana"/>
                <a:cs typeface="Verdana"/>
              </a:rPr>
              <a:t>Dockerfile</a:t>
            </a:r>
            <a:endParaRPr sz="850">
              <a:latin typeface="Verdana"/>
              <a:cs typeface="Verdana"/>
            </a:endParaRPr>
          </a:p>
          <a:p>
            <a:pPr marL="60960">
              <a:lnSpc>
                <a:spcPct val="100000"/>
              </a:lnSpc>
              <a:spcBef>
                <a:spcPts val="180"/>
              </a:spcBef>
            </a:pP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When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creating</a:t>
            </a:r>
            <a:r>
              <a:rPr sz="850" i="1" spc="-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an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application</a:t>
            </a:r>
            <a:r>
              <a:rPr sz="850" i="1" spc="-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container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81024" y="1904999"/>
            <a:ext cx="10267950" cy="742950"/>
            <a:chOff x="581024" y="1904999"/>
            <a:chExt cx="10267950" cy="742950"/>
          </a:xfrm>
        </p:grpSpPr>
        <p:sp>
          <p:nvSpPr>
            <p:cNvPr id="11" name="object 11"/>
            <p:cNvSpPr/>
            <p:nvPr/>
          </p:nvSpPr>
          <p:spPr>
            <a:xfrm>
              <a:off x="585787" y="1909762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10229725" y="733424"/>
                  </a:moveTo>
                  <a:lnTo>
                    <a:pt x="28698" y="733424"/>
                  </a:lnTo>
                  <a:lnTo>
                    <a:pt x="24477" y="732585"/>
                  </a:lnTo>
                  <a:lnTo>
                    <a:pt x="0" y="704726"/>
                  </a:lnTo>
                  <a:lnTo>
                    <a:pt x="0" y="700339"/>
                  </a:lnTo>
                  <a:lnTo>
                    <a:pt x="0" y="28697"/>
                  </a:lnTo>
                  <a:lnTo>
                    <a:pt x="28698" y="0"/>
                  </a:lnTo>
                  <a:lnTo>
                    <a:pt x="10229725" y="0"/>
                  </a:lnTo>
                  <a:lnTo>
                    <a:pt x="10258423" y="28697"/>
                  </a:lnTo>
                  <a:lnTo>
                    <a:pt x="10258423" y="704726"/>
                  </a:lnTo>
                  <a:lnTo>
                    <a:pt x="10233945" y="732585"/>
                  </a:lnTo>
                  <a:lnTo>
                    <a:pt x="10229725" y="7334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5787" y="1909762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0" y="700339"/>
                  </a:moveTo>
                  <a:lnTo>
                    <a:pt x="0" y="33085"/>
                  </a:lnTo>
                  <a:lnTo>
                    <a:pt x="0" y="28697"/>
                  </a:lnTo>
                  <a:lnTo>
                    <a:pt x="839" y="24477"/>
                  </a:lnTo>
                  <a:lnTo>
                    <a:pt x="2518" y="20424"/>
                  </a:lnTo>
                  <a:lnTo>
                    <a:pt x="4197" y="16370"/>
                  </a:lnTo>
                  <a:lnTo>
                    <a:pt x="6588" y="12792"/>
                  </a:lnTo>
                  <a:lnTo>
                    <a:pt x="9690" y="9690"/>
                  </a:lnTo>
                  <a:lnTo>
                    <a:pt x="12792" y="6587"/>
                  </a:lnTo>
                  <a:lnTo>
                    <a:pt x="16370" y="4197"/>
                  </a:lnTo>
                  <a:lnTo>
                    <a:pt x="20424" y="2518"/>
                  </a:lnTo>
                  <a:lnTo>
                    <a:pt x="24477" y="839"/>
                  </a:lnTo>
                  <a:lnTo>
                    <a:pt x="28698" y="0"/>
                  </a:lnTo>
                  <a:lnTo>
                    <a:pt x="33085" y="0"/>
                  </a:lnTo>
                  <a:lnTo>
                    <a:pt x="10225339" y="0"/>
                  </a:lnTo>
                  <a:lnTo>
                    <a:pt x="10229725" y="0"/>
                  </a:lnTo>
                  <a:lnTo>
                    <a:pt x="10233945" y="839"/>
                  </a:lnTo>
                  <a:lnTo>
                    <a:pt x="10237998" y="2518"/>
                  </a:lnTo>
                  <a:lnTo>
                    <a:pt x="10242051" y="4197"/>
                  </a:lnTo>
                  <a:lnTo>
                    <a:pt x="10245629" y="6587"/>
                  </a:lnTo>
                  <a:lnTo>
                    <a:pt x="10248732" y="9690"/>
                  </a:lnTo>
                  <a:lnTo>
                    <a:pt x="10251835" y="12792"/>
                  </a:lnTo>
                  <a:lnTo>
                    <a:pt x="10254225" y="16370"/>
                  </a:lnTo>
                  <a:lnTo>
                    <a:pt x="10255904" y="20424"/>
                  </a:lnTo>
                  <a:lnTo>
                    <a:pt x="10257583" y="24477"/>
                  </a:lnTo>
                  <a:lnTo>
                    <a:pt x="10258423" y="28697"/>
                  </a:lnTo>
                  <a:lnTo>
                    <a:pt x="10258424" y="33085"/>
                  </a:lnTo>
                  <a:lnTo>
                    <a:pt x="10258424" y="700339"/>
                  </a:lnTo>
                  <a:lnTo>
                    <a:pt x="10258423" y="704726"/>
                  </a:lnTo>
                  <a:lnTo>
                    <a:pt x="10257583" y="708947"/>
                  </a:lnTo>
                  <a:lnTo>
                    <a:pt x="10255904" y="713000"/>
                  </a:lnTo>
                  <a:lnTo>
                    <a:pt x="10254225" y="717053"/>
                  </a:lnTo>
                  <a:lnTo>
                    <a:pt x="10225339" y="733424"/>
                  </a:lnTo>
                  <a:lnTo>
                    <a:pt x="33085" y="733424"/>
                  </a:lnTo>
                  <a:lnTo>
                    <a:pt x="2518" y="713000"/>
                  </a:lnTo>
                  <a:lnTo>
                    <a:pt x="839" y="708947"/>
                  </a:lnTo>
                  <a:lnTo>
                    <a:pt x="0" y="704726"/>
                  </a:lnTo>
                  <a:lnTo>
                    <a:pt x="0" y="700339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0549" y="1914524"/>
              <a:ext cx="433705" cy="723900"/>
            </a:xfrm>
            <a:custGeom>
              <a:avLst/>
              <a:gdLst/>
              <a:ahLst/>
              <a:cxnLst/>
              <a:rect l="l" t="t" r="r" b="b"/>
              <a:pathLst>
                <a:path w="433705" h="723900">
                  <a:moveTo>
                    <a:pt x="433387" y="723899"/>
                  </a:moveTo>
                  <a:lnTo>
                    <a:pt x="24567" y="723899"/>
                  </a:lnTo>
                  <a:lnTo>
                    <a:pt x="20954" y="723181"/>
                  </a:lnTo>
                  <a:lnTo>
                    <a:pt x="0" y="699332"/>
                  </a:lnTo>
                  <a:lnTo>
                    <a:pt x="0" y="695576"/>
                  </a:lnTo>
                  <a:lnTo>
                    <a:pt x="0" y="24566"/>
                  </a:lnTo>
                  <a:lnTo>
                    <a:pt x="24567" y="0"/>
                  </a:lnTo>
                  <a:lnTo>
                    <a:pt x="433387" y="0"/>
                  </a:lnTo>
                  <a:lnTo>
                    <a:pt x="433387" y="72389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9174" y="1914524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952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72389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04271" y="2149284"/>
            <a:ext cx="41529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25"/>
              </a:spcBef>
            </a:pPr>
            <a:r>
              <a:rPr sz="1250" spc="-50">
                <a:solidFill>
                  <a:srgbClr val="66534E"/>
                </a:solidFill>
                <a:latin typeface="Tahoma"/>
                <a:cs typeface="Tahoma"/>
              </a:rPr>
              <a:t>2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28699" y="1943586"/>
            <a:ext cx="9803130" cy="5969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595"/>
              </a:spcBef>
            </a:pP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docker</a:t>
            </a:r>
            <a:r>
              <a:rPr sz="1200" spc="15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66534E"/>
                </a:solidFill>
                <a:latin typeface="Tahoma"/>
                <a:cs typeface="Tahoma"/>
              </a:rPr>
              <a:t>run</a:t>
            </a:r>
            <a:endParaRPr sz="1200">
              <a:latin typeface="Tahoma"/>
              <a:cs typeface="Tahoma"/>
            </a:endParaRPr>
          </a:p>
          <a:p>
            <a:pPr marL="60960">
              <a:lnSpc>
                <a:spcPct val="100000"/>
              </a:lnSpc>
              <a:spcBef>
                <a:spcPts val="335"/>
              </a:spcBef>
            </a:pP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Runs</a:t>
            </a:r>
            <a:r>
              <a:rPr sz="850" spc="-5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85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single</a:t>
            </a:r>
            <a:r>
              <a:rPr sz="85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container</a:t>
            </a:r>
            <a:r>
              <a:rPr sz="85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from</a:t>
            </a:r>
            <a:r>
              <a:rPr sz="85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an</a:t>
            </a:r>
            <a:r>
              <a:rPr sz="85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0">
                <a:solidFill>
                  <a:srgbClr val="66534E"/>
                </a:solidFill>
                <a:latin typeface="Verdana"/>
                <a:cs typeface="Verdana"/>
              </a:rPr>
              <a:t>image</a:t>
            </a:r>
            <a:endParaRPr sz="850">
              <a:latin typeface="Verdana"/>
              <a:cs typeface="Verdana"/>
            </a:endParaRPr>
          </a:p>
          <a:p>
            <a:pPr marL="60960">
              <a:lnSpc>
                <a:spcPct val="100000"/>
              </a:lnSpc>
              <a:spcBef>
                <a:spcPts val="180"/>
              </a:spcBef>
            </a:pP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850" i="1" spc="-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simple</a:t>
            </a:r>
            <a:r>
              <a:rPr sz="850" i="1" spc="-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850" i="1" spc="-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one-off</a:t>
            </a:r>
            <a:r>
              <a:rPr sz="850" i="1" spc="-4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containers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1024" y="2714624"/>
            <a:ext cx="10267950" cy="742950"/>
            <a:chOff x="581024" y="2714624"/>
            <a:chExt cx="10267950" cy="742950"/>
          </a:xfrm>
        </p:grpSpPr>
        <p:sp>
          <p:nvSpPr>
            <p:cNvPr id="18" name="object 18"/>
            <p:cNvSpPr/>
            <p:nvPr/>
          </p:nvSpPr>
          <p:spPr>
            <a:xfrm>
              <a:off x="585787" y="2719387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10229725" y="733424"/>
                  </a:moveTo>
                  <a:lnTo>
                    <a:pt x="28698" y="733424"/>
                  </a:lnTo>
                  <a:lnTo>
                    <a:pt x="24477" y="732585"/>
                  </a:lnTo>
                  <a:lnTo>
                    <a:pt x="0" y="704726"/>
                  </a:lnTo>
                  <a:lnTo>
                    <a:pt x="0" y="700339"/>
                  </a:lnTo>
                  <a:lnTo>
                    <a:pt x="0" y="28697"/>
                  </a:lnTo>
                  <a:lnTo>
                    <a:pt x="28698" y="0"/>
                  </a:lnTo>
                  <a:lnTo>
                    <a:pt x="10229725" y="0"/>
                  </a:lnTo>
                  <a:lnTo>
                    <a:pt x="10258423" y="28697"/>
                  </a:lnTo>
                  <a:lnTo>
                    <a:pt x="10258423" y="704726"/>
                  </a:lnTo>
                  <a:lnTo>
                    <a:pt x="10233945" y="732585"/>
                  </a:lnTo>
                  <a:lnTo>
                    <a:pt x="10229725" y="7334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85787" y="2719387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0" y="700339"/>
                  </a:moveTo>
                  <a:lnTo>
                    <a:pt x="0" y="33085"/>
                  </a:lnTo>
                  <a:lnTo>
                    <a:pt x="0" y="28697"/>
                  </a:lnTo>
                  <a:lnTo>
                    <a:pt x="839" y="24477"/>
                  </a:lnTo>
                  <a:lnTo>
                    <a:pt x="2518" y="20423"/>
                  </a:lnTo>
                  <a:lnTo>
                    <a:pt x="4197" y="16370"/>
                  </a:lnTo>
                  <a:lnTo>
                    <a:pt x="6588" y="12792"/>
                  </a:lnTo>
                  <a:lnTo>
                    <a:pt x="9690" y="9690"/>
                  </a:lnTo>
                  <a:lnTo>
                    <a:pt x="12792" y="6587"/>
                  </a:lnTo>
                  <a:lnTo>
                    <a:pt x="16370" y="4197"/>
                  </a:lnTo>
                  <a:lnTo>
                    <a:pt x="20424" y="2518"/>
                  </a:lnTo>
                  <a:lnTo>
                    <a:pt x="24477" y="839"/>
                  </a:lnTo>
                  <a:lnTo>
                    <a:pt x="28698" y="0"/>
                  </a:lnTo>
                  <a:lnTo>
                    <a:pt x="33085" y="0"/>
                  </a:lnTo>
                  <a:lnTo>
                    <a:pt x="10225339" y="0"/>
                  </a:lnTo>
                  <a:lnTo>
                    <a:pt x="10229725" y="0"/>
                  </a:lnTo>
                  <a:lnTo>
                    <a:pt x="10233945" y="839"/>
                  </a:lnTo>
                  <a:lnTo>
                    <a:pt x="10255904" y="20423"/>
                  </a:lnTo>
                  <a:lnTo>
                    <a:pt x="10257583" y="24477"/>
                  </a:lnTo>
                  <a:lnTo>
                    <a:pt x="10258423" y="28697"/>
                  </a:lnTo>
                  <a:lnTo>
                    <a:pt x="10258424" y="33085"/>
                  </a:lnTo>
                  <a:lnTo>
                    <a:pt x="10258424" y="700339"/>
                  </a:lnTo>
                  <a:lnTo>
                    <a:pt x="10237998" y="730905"/>
                  </a:lnTo>
                  <a:lnTo>
                    <a:pt x="10233945" y="732585"/>
                  </a:lnTo>
                  <a:lnTo>
                    <a:pt x="10229725" y="733424"/>
                  </a:lnTo>
                  <a:lnTo>
                    <a:pt x="10225339" y="733424"/>
                  </a:lnTo>
                  <a:lnTo>
                    <a:pt x="33085" y="733424"/>
                  </a:lnTo>
                  <a:lnTo>
                    <a:pt x="28698" y="733424"/>
                  </a:lnTo>
                  <a:lnTo>
                    <a:pt x="24477" y="732585"/>
                  </a:lnTo>
                  <a:lnTo>
                    <a:pt x="20424" y="730905"/>
                  </a:lnTo>
                  <a:lnTo>
                    <a:pt x="16370" y="729226"/>
                  </a:lnTo>
                  <a:lnTo>
                    <a:pt x="12792" y="726836"/>
                  </a:lnTo>
                  <a:lnTo>
                    <a:pt x="9690" y="723733"/>
                  </a:lnTo>
                  <a:lnTo>
                    <a:pt x="6588" y="720631"/>
                  </a:lnTo>
                  <a:lnTo>
                    <a:pt x="4197" y="717053"/>
                  </a:lnTo>
                  <a:lnTo>
                    <a:pt x="2518" y="713000"/>
                  </a:lnTo>
                  <a:lnTo>
                    <a:pt x="839" y="708946"/>
                  </a:lnTo>
                  <a:lnTo>
                    <a:pt x="0" y="704726"/>
                  </a:lnTo>
                  <a:lnTo>
                    <a:pt x="0" y="700339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0549" y="2724149"/>
              <a:ext cx="433705" cy="723900"/>
            </a:xfrm>
            <a:custGeom>
              <a:avLst/>
              <a:gdLst/>
              <a:ahLst/>
              <a:cxnLst/>
              <a:rect l="l" t="t" r="r" b="b"/>
              <a:pathLst>
                <a:path w="433705" h="723900">
                  <a:moveTo>
                    <a:pt x="433387" y="723899"/>
                  </a:moveTo>
                  <a:lnTo>
                    <a:pt x="24567" y="723899"/>
                  </a:lnTo>
                  <a:lnTo>
                    <a:pt x="0" y="699332"/>
                  </a:lnTo>
                  <a:lnTo>
                    <a:pt x="0" y="695576"/>
                  </a:lnTo>
                  <a:lnTo>
                    <a:pt x="0" y="24566"/>
                  </a:lnTo>
                  <a:lnTo>
                    <a:pt x="24567" y="0"/>
                  </a:lnTo>
                  <a:lnTo>
                    <a:pt x="433387" y="0"/>
                  </a:lnTo>
                  <a:lnTo>
                    <a:pt x="433387" y="72389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19174" y="2724149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952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72389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04253" y="2958909"/>
            <a:ext cx="41529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25"/>
              </a:spcBef>
            </a:pPr>
            <a:r>
              <a:rPr sz="1250" spc="-50">
                <a:solidFill>
                  <a:srgbClr val="66534E"/>
                </a:solidFill>
                <a:latin typeface="Tahoma"/>
                <a:cs typeface="Tahoma"/>
              </a:rPr>
              <a:t>3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8699" y="2766899"/>
            <a:ext cx="9803130" cy="5734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84"/>
              </a:spcBef>
            </a:pP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docker</a:t>
            </a:r>
            <a:r>
              <a:rPr sz="1200" spc="14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compose</a:t>
            </a:r>
            <a:r>
              <a:rPr sz="1200" spc="14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66534E"/>
                </a:solidFill>
                <a:latin typeface="Tahoma"/>
                <a:cs typeface="Tahoma"/>
              </a:rPr>
              <a:t>build</a:t>
            </a:r>
            <a:endParaRPr sz="1200">
              <a:latin typeface="Tahoma"/>
              <a:cs typeface="Tahoma"/>
            </a:endParaRPr>
          </a:p>
          <a:p>
            <a:pPr marL="60960">
              <a:lnSpc>
                <a:spcPct val="100000"/>
              </a:lnSpc>
              <a:spcBef>
                <a:spcPts val="260"/>
              </a:spcBef>
            </a:pP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Builds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0">
                <a:solidFill>
                  <a:srgbClr val="66534E"/>
                </a:solidFill>
                <a:latin typeface="Verdana"/>
                <a:cs typeface="Verdana"/>
              </a:rPr>
              <a:t>all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0">
                <a:solidFill>
                  <a:srgbClr val="66534E"/>
                </a:solidFill>
                <a:latin typeface="Verdana"/>
                <a:cs typeface="Verdana"/>
              </a:rPr>
              <a:t>services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defined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10">
                <a:solidFill>
                  <a:srgbClr val="66534E"/>
                </a:solidFill>
                <a:latin typeface="Verdana"/>
                <a:cs typeface="Verdana"/>
              </a:rPr>
              <a:t>docker-compose.yml</a:t>
            </a:r>
            <a:endParaRPr sz="850">
              <a:latin typeface="Verdana"/>
              <a:cs typeface="Verdana"/>
            </a:endParaRPr>
          </a:p>
          <a:p>
            <a:pPr marL="60960">
              <a:lnSpc>
                <a:spcPct val="100000"/>
              </a:lnSpc>
              <a:spcBef>
                <a:spcPts val="180"/>
              </a:spcBef>
            </a:pP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When</a:t>
            </a:r>
            <a:r>
              <a:rPr sz="850" i="1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preparing</a:t>
            </a:r>
            <a:r>
              <a:rPr sz="850" i="1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25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850" i="1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multi-container</a:t>
            </a:r>
            <a:r>
              <a:rPr sz="850" i="1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application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81024" y="3524249"/>
            <a:ext cx="10267950" cy="742950"/>
            <a:chOff x="581024" y="3524249"/>
            <a:chExt cx="10267950" cy="742950"/>
          </a:xfrm>
        </p:grpSpPr>
        <p:sp>
          <p:nvSpPr>
            <p:cNvPr id="25" name="object 25"/>
            <p:cNvSpPr/>
            <p:nvPr/>
          </p:nvSpPr>
          <p:spPr>
            <a:xfrm>
              <a:off x="585787" y="3529012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10229725" y="733424"/>
                  </a:moveTo>
                  <a:lnTo>
                    <a:pt x="28698" y="733424"/>
                  </a:lnTo>
                  <a:lnTo>
                    <a:pt x="24477" y="732584"/>
                  </a:lnTo>
                  <a:lnTo>
                    <a:pt x="0" y="704726"/>
                  </a:lnTo>
                  <a:lnTo>
                    <a:pt x="0" y="700339"/>
                  </a:lnTo>
                  <a:lnTo>
                    <a:pt x="0" y="28697"/>
                  </a:lnTo>
                  <a:lnTo>
                    <a:pt x="28698" y="0"/>
                  </a:lnTo>
                  <a:lnTo>
                    <a:pt x="10229725" y="0"/>
                  </a:lnTo>
                  <a:lnTo>
                    <a:pt x="10258423" y="28697"/>
                  </a:lnTo>
                  <a:lnTo>
                    <a:pt x="10258423" y="704726"/>
                  </a:lnTo>
                  <a:lnTo>
                    <a:pt x="10233945" y="732584"/>
                  </a:lnTo>
                  <a:lnTo>
                    <a:pt x="10229725" y="7334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5787" y="3529012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0" y="700339"/>
                  </a:moveTo>
                  <a:lnTo>
                    <a:pt x="0" y="33085"/>
                  </a:lnTo>
                  <a:lnTo>
                    <a:pt x="0" y="28697"/>
                  </a:lnTo>
                  <a:lnTo>
                    <a:pt x="839" y="24477"/>
                  </a:lnTo>
                  <a:lnTo>
                    <a:pt x="2518" y="20423"/>
                  </a:lnTo>
                  <a:lnTo>
                    <a:pt x="4197" y="16370"/>
                  </a:lnTo>
                  <a:lnTo>
                    <a:pt x="6588" y="12792"/>
                  </a:lnTo>
                  <a:lnTo>
                    <a:pt x="9690" y="9690"/>
                  </a:lnTo>
                  <a:lnTo>
                    <a:pt x="12792" y="6587"/>
                  </a:lnTo>
                  <a:lnTo>
                    <a:pt x="16370" y="4196"/>
                  </a:lnTo>
                  <a:lnTo>
                    <a:pt x="20424" y="2518"/>
                  </a:lnTo>
                  <a:lnTo>
                    <a:pt x="24477" y="839"/>
                  </a:lnTo>
                  <a:lnTo>
                    <a:pt x="28698" y="0"/>
                  </a:lnTo>
                  <a:lnTo>
                    <a:pt x="33085" y="0"/>
                  </a:lnTo>
                  <a:lnTo>
                    <a:pt x="10225339" y="0"/>
                  </a:lnTo>
                  <a:lnTo>
                    <a:pt x="10229725" y="0"/>
                  </a:lnTo>
                  <a:lnTo>
                    <a:pt x="10233945" y="839"/>
                  </a:lnTo>
                  <a:lnTo>
                    <a:pt x="10237998" y="2518"/>
                  </a:lnTo>
                  <a:lnTo>
                    <a:pt x="10242051" y="4196"/>
                  </a:lnTo>
                  <a:lnTo>
                    <a:pt x="10245629" y="6587"/>
                  </a:lnTo>
                  <a:lnTo>
                    <a:pt x="10248732" y="9690"/>
                  </a:lnTo>
                  <a:lnTo>
                    <a:pt x="10251835" y="12792"/>
                  </a:lnTo>
                  <a:lnTo>
                    <a:pt x="10254225" y="16370"/>
                  </a:lnTo>
                  <a:lnTo>
                    <a:pt x="10255904" y="20423"/>
                  </a:lnTo>
                  <a:lnTo>
                    <a:pt x="10257583" y="24477"/>
                  </a:lnTo>
                  <a:lnTo>
                    <a:pt x="10258423" y="28697"/>
                  </a:lnTo>
                  <a:lnTo>
                    <a:pt x="10258424" y="33085"/>
                  </a:lnTo>
                  <a:lnTo>
                    <a:pt x="10258424" y="700339"/>
                  </a:lnTo>
                  <a:lnTo>
                    <a:pt x="10233945" y="732584"/>
                  </a:lnTo>
                  <a:lnTo>
                    <a:pt x="10225339" y="733424"/>
                  </a:lnTo>
                  <a:lnTo>
                    <a:pt x="33085" y="733424"/>
                  </a:lnTo>
                  <a:lnTo>
                    <a:pt x="28698" y="733424"/>
                  </a:lnTo>
                  <a:lnTo>
                    <a:pt x="24477" y="732584"/>
                  </a:lnTo>
                  <a:lnTo>
                    <a:pt x="20424" y="730905"/>
                  </a:lnTo>
                  <a:lnTo>
                    <a:pt x="16370" y="729226"/>
                  </a:lnTo>
                  <a:lnTo>
                    <a:pt x="0" y="704726"/>
                  </a:lnTo>
                  <a:lnTo>
                    <a:pt x="0" y="700339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90549" y="3533774"/>
              <a:ext cx="433705" cy="723900"/>
            </a:xfrm>
            <a:custGeom>
              <a:avLst/>
              <a:gdLst/>
              <a:ahLst/>
              <a:cxnLst/>
              <a:rect l="l" t="t" r="r" b="b"/>
              <a:pathLst>
                <a:path w="433705" h="723900">
                  <a:moveTo>
                    <a:pt x="433387" y="723899"/>
                  </a:moveTo>
                  <a:lnTo>
                    <a:pt x="24567" y="723899"/>
                  </a:lnTo>
                  <a:lnTo>
                    <a:pt x="0" y="699332"/>
                  </a:lnTo>
                  <a:lnTo>
                    <a:pt x="0" y="695576"/>
                  </a:lnTo>
                  <a:lnTo>
                    <a:pt x="0" y="24567"/>
                  </a:lnTo>
                  <a:lnTo>
                    <a:pt x="24567" y="0"/>
                  </a:lnTo>
                  <a:lnTo>
                    <a:pt x="433387" y="0"/>
                  </a:lnTo>
                  <a:lnTo>
                    <a:pt x="433387" y="72389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19174" y="3533774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952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72389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04683" y="3768534"/>
            <a:ext cx="41465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125"/>
              </a:spcBef>
            </a:pPr>
            <a:r>
              <a:rPr sz="1250" spc="-50">
                <a:solidFill>
                  <a:srgbClr val="66534E"/>
                </a:solidFill>
                <a:latin typeface="Tahoma"/>
                <a:cs typeface="Tahoma"/>
              </a:rPr>
              <a:t>4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8699" y="3576523"/>
            <a:ext cx="9801860" cy="5734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84"/>
              </a:spcBef>
            </a:pP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docker</a:t>
            </a:r>
            <a:r>
              <a:rPr sz="1200" spc="14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compose</a:t>
            </a:r>
            <a:r>
              <a:rPr sz="1200" spc="14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66534E"/>
                </a:solidFill>
                <a:latin typeface="Tahoma"/>
                <a:cs typeface="Tahoma"/>
              </a:rPr>
              <a:t>up</a:t>
            </a:r>
            <a:endParaRPr sz="1200">
              <a:latin typeface="Tahoma"/>
              <a:cs typeface="Tahoma"/>
            </a:endParaRPr>
          </a:p>
          <a:p>
            <a:pPr marL="60960">
              <a:lnSpc>
                <a:spcPct val="100000"/>
              </a:lnSpc>
              <a:spcBef>
                <a:spcPts val="260"/>
              </a:spcBef>
            </a:pPr>
            <a:r>
              <a:rPr sz="850" spc="-30">
                <a:solidFill>
                  <a:srgbClr val="66534E"/>
                </a:solidFill>
                <a:latin typeface="Verdana"/>
                <a:cs typeface="Verdana"/>
              </a:rPr>
              <a:t>Starts</a:t>
            </a:r>
            <a:r>
              <a:rPr sz="850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0">
                <a:solidFill>
                  <a:srgbClr val="66534E"/>
                </a:solidFill>
                <a:latin typeface="Verdana"/>
                <a:cs typeface="Verdana"/>
              </a:rPr>
              <a:t>all</a:t>
            </a:r>
            <a:r>
              <a:rPr sz="8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0">
                <a:solidFill>
                  <a:srgbClr val="66534E"/>
                </a:solidFill>
                <a:latin typeface="Verdana"/>
                <a:cs typeface="Verdana"/>
              </a:rPr>
              <a:t>services</a:t>
            </a:r>
            <a:r>
              <a:rPr sz="8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8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8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application</a:t>
            </a:r>
            <a:r>
              <a:rPr sz="8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0">
                <a:solidFill>
                  <a:srgbClr val="66534E"/>
                </a:solidFill>
                <a:latin typeface="Verdana"/>
                <a:cs typeface="Verdana"/>
              </a:rPr>
              <a:t>stack</a:t>
            </a:r>
            <a:endParaRPr sz="850">
              <a:latin typeface="Verdana"/>
              <a:cs typeface="Verdana"/>
            </a:endParaRPr>
          </a:p>
          <a:p>
            <a:pPr marL="60960">
              <a:lnSpc>
                <a:spcPct val="100000"/>
              </a:lnSpc>
              <a:spcBef>
                <a:spcPts val="180"/>
              </a:spcBef>
            </a:pPr>
            <a:r>
              <a:rPr sz="850" i="1" spc="-40">
                <a:solidFill>
                  <a:srgbClr val="66534E"/>
                </a:solidFill>
                <a:latin typeface="Verdana"/>
                <a:cs typeface="Verdana"/>
              </a:rPr>
              <a:t>To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launch</a:t>
            </a:r>
            <a:r>
              <a:rPr sz="850" i="1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850" i="1" spc="-4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full</a:t>
            </a:r>
            <a:r>
              <a:rPr sz="850" i="1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system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81024" y="4324349"/>
            <a:ext cx="10267950" cy="742950"/>
            <a:chOff x="581024" y="4324349"/>
            <a:chExt cx="10267950" cy="742950"/>
          </a:xfrm>
        </p:grpSpPr>
        <p:sp>
          <p:nvSpPr>
            <p:cNvPr id="32" name="object 32"/>
            <p:cNvSpPr/>
            <p:nvPr/>
          </p:nvSpPr>
          <p:spPr>
            <a:xfrm>
              <a:off x="585787" y="4329112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10229725" y="733424"/>
                  </a:moveTo>
                  <a:lnTo>
                    <a:pt x="28698" y="733424"/>
                  </a:lnTo>
                  <a:lnTo>
                    <a:pt x="24477" y="732584"/>
                  </a:lnTo>
                  <a:lnTo>
                    <a:pt x="0" y="704726"/>
                  </a:lnTo>
                  <a:lnTo>
                    <a:pt x="0" y="700339"/>
                  </a:lnTo>
                  <a:lnTo>
                    <a:pt x="0" y="28697"/>
                  </a:lnTo>
                  <a:lnTo>
                    <a:pt x="28698" y="0"/>
                  </a:lnTo>
                  <a:lnTo>
                    <a:pt x="10229725" y="0"/>
                  </a:lnTo>
                  <a:lnTo>
                    <a:pt x="10258423" y="28697"/>
                  </a:lnTo>
                  <a:lnTo>
                    <a:pt x="10258423" y="704726"/>
                  </a:lnTo>
                  <a:lnTo>
                    <a:pt x="10233945" y="732584"/>
                  </a:lnTo>
                  <a:lnTo>
                    <a:pt x="10229725" y="7334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5787" y="4329112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0" y="700339"/>
                  </a:moveTo>
                  <a:lnTo>
                    <a:pt x="0" y="33085"/>
                  </a:lnTo>
                  <a:lnTo>
                    <a:pt x="0" y="28697"/>
                  </a:lnTo>
                  <a:lnTo>
                    <a:pt x="839" y="24477"/>
                  </a:lnTo>
                  <a:lnTo>
                    <a:pt x="2518" y="20423"/>
                  </a:lnTo>
                  <a:lnTo>
                    <a:pt x="4197" y="16370"/>
                  </a:lnTo>
                  <a:lnTo>
                    <a:pt x="6588" y="12792"/>
                  </a:lnTo>
                  <a:lnTo>
                    <a:pt x="9690" y="9690"/>
                  </a:lnTo>
                  <a:lnTo>
                    <a:pt x="12792" y="6587"/>
                  </a:lnTo>
                  <a:lnTo>
                    <a:pt x="16370" y="4197"/>
                  </a:lnTo>
                  <a:lnTo>
                    <a:pt x="20424" y="2518"/>
                  </a:lnTo>
                  <a:lnTo>
                    <a:pt x="24477" y="839"/>
                  </a:lnTo>
                  <a:lnTo>
                    <a:pt x="28698" y="0"/>
                  </a:lnTo>
                  <a:lnTo>
                    <a:pt x="33085" y="0"/>
                  </a:lnTo>
                  <a:lnTo>
                    <a:pt x="10225339" y="0"/>
                  </a:lnTo>
                  <a:lnTo>
                    <a:pt x="10229725" y="0"/>
                  </a:lnTo>
                  <a:lnTo>
                    <a:pt x="10233945" y="839"/>
                  </a:lnTo>
                  <a:lnTo>
                    <a:pt x="10237998" y="2518"/>
                  </a:lnTo>
                  <a:lnTo>
                    <a:pt x="10242051" y="4196"/>
                  </a:lnTo>
                  <a:lnTo>
                    <a:pt x="10255904" y="20423"/>
                  </a:lnTo>
                  <a:lnTo>
                    <a:pt x="10257583" y="24476"/>
                  </a:lnTo>
                  <a:lnTo>
                    <a:pt x="10258423" y="28697"/>
                  </a:lnTo>
                  <a:lnTo>
                    <a:pt x="10258424" y="33085"/>
                  </a:lnTo>
                  <a:lnTo>
                    <a:pt x="10258424" y="700339"/>
                  </a:lnTo>
                  <a:lnTo>
                    <a:pt x="10237998" y="730905"/>
                  </a:lnTo>
                  <a:lnTo>
                    <a:pt x="10233945" y="732584"/>
                  </a:lnTo>
                  <a:lnTo>
                    <a:pt x="10229725" y="733424"/>
                  </a:lnTo>
                  <a:lnTo>
                    <a:pt x="10225339" y="733424"/>
                  </a:lnTo>
                  <a:lnTo>
                    <a:pt x="33085" y="733424"/>
                  </a:lnTo>
                  <a:lnTo>
                    <a:pt x="28698" y="733424"/>
                  </a:lnTo>
                  <a:lnTo>
                    <a:pt x="24477" y="732584"/>
                  </a:lnTo>
                  <a:lnTo>
                    <a:pt x="20424" y="730905"/>
                  </a:lnTo>
                  <a:lnTo>
                    <a:pt x="16370" y="729226"/>
                  </a:lnTo>
                  <a:lnTo>
                    <a:pt x="12792" y="726836"/>
                  </a:lnTo>
                  <a:lnTo>
                    <a:pt x="9690" y="723733"/>
                  </a:lnTo>
                  <a:lnTo>
                    <a:pt x="6588" y="720630"/>
                  </a:lnTo>
                  <a:lnTo>
                    <a:pt x="4197" y="717052"/>
                  </a:lnTo>
                  <a:lnTo>
                    <a:pt x="2518" y="712999"/>
                  </a:lnTo>
                  <a:lnTo>
                    <a:pt x="839" y="708946"/>
                  </a:lnTo>
                  <a:lnTo>
                    <a:pt x="0" y="704726"/>
                  </a:lnTo>
                  <a:lnTo>
                    <a:pt x="0" y="700339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0549" y="4333874"/>
              <a:ext cx="433705" cy="723900"/>
            </a:xfrm>
            <a:custGeom>
              <a:avLst/>
              <a:gdLst/>
              <a:ahLst/>
              <a:cxnLst/>
              <a:rect l="l" t="t" r="r" b="b"/>
              <a:pathLst>
                <a:path w="433705" h="723900">
                  <a:moveTo>
                    <a:pt x="433387" y="723899"/>
                  </a:moveTo>
                  <a:lnTo>
                    <a:pt x="24567" y="723899"/>
                  </a:lnTo>
                  <a:lnTo>
                    <a:pt x="0" y="699332"/>
                  </a:lnTo>
                  <a:lnTo>
                    <a:pt x="0" y="695576"/>
                  </a:lnTo>
                  <a:lnTo>
                    <a:pt x="0" y="24566"/>
                  </a:lnTo>
                  <a:lnTo>
                    <a:pt x="24567" y="0"/>
                  </a:lnTo>
                  <a:lnTo>
                    <a:pt x="433387" y="0"/>
                  </a:lnTo>
                  <a:lnTo>
                    <a:pt x="433387" y="72389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19174" y="4333874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952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72389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03705" y="4578159"/>
            <a:ext cx="415925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6985" algn="ctr">
              <a:lnSpc>
                <a:spcPct val="100000"/>
              </a:lnSpc>
              <a:spcBef>
                <a:spcPts val="125"/>
              </a:spcBef>
            </a:pPr>
            <a:r>
              <a:rPr sz="1250" spc="-50">
                <a:solidFill>
                  <a:srgbClr val="66534E"/>
                </a:solidFill>
                <a:latin typeface="Tahoma"/>
                <a:cs typeface="Tahoma"/>
              </a:rPr>
              <a:t>5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28699" y="4386148"/>
            <a:ext cx="9807575" cy="5734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84"/>
              </a:spcBef>
            </a:pP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docker</a:t>
            </a:r>
            <a:r>
              <a:rPr sz="1200" spc="11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compose</a:t>
            </a:r>
            <a:r>
              <a:rPr sz="1200" spc="114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up</a:t>
            </a:r>
            <a:r>
              <a:rPr sz="1200" spc="114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-</a:t>
            </a:r>
            <a:r>
              <a:rPr sz="1200" spc="20">
                <a:solidFill>
                  <a:srgbClr val="66534E"/>
                </a:solidFill>
                <a:latin typeface="Tahoma"/>
                <a:cs typeface="Tahoma"/>
              </a:rPr>
              <a:t>d</a:t>
            </a:r>
            <a:endParaRPr sz="1200">
              <a:latin typeface="Tahoma"/>
              <a:cs typeface="Tahoma"/>
            </a:endParaRPr>
          </a:p>
          <a:p>
            <a:pPr marL="60960">
              <a:lnSpc>
                <a:spcPct val="100000"/>
              </a:lnSpc>
              <a:spcBef>
                <a:spcPts val="260"/>
              </a:spcBef>
            </a:pP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Runs</a:t>
            </a:r>
            <a:r>
              <a:rPr sz="850" spc="-5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containers</a:t>
            </a:r>
            <a:r>
              <a:rPr sz="85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850" spc="-5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850" spc="-5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10">
                <a:solidFill>
                  <a:srgbClr val="66534E"/>
                </a:solidFill>
                <a:latin typeface="Verdana"/>
                <a:cs typeface="Verdana"/>
              </a:rPr>
              <a:t>background</a:t>
            </a:r>
            <a:endParaRPr sz="850">
              <a:latin typeface="Verdana"/>
              <a:cs typeface="Verdana"/>
            </a:endParaRPr>
          </a:p>
          <a:p>
            <a:pPr marL="60960">
              <a:lnSpc>
                <a:spcPct val="100000"/>
              </a:lnSpc>
              <a:spcBef>
                <a:spcPts val="180"/>
              </a:spcBef>
            </a:pP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When</a:t>
            </a:r>
            <a:r>
              <a:rPr sz="850" i="1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running</a:t>
            </a:r>
            <a:r>
              <a:rPr sz="850" i="1" spc="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20">
                <a:solidFill>
                  <a:srgbClr val="66534E"/>
                </a:solidFill>
                <a:latin typeface="Verdana"/>
                <a:cs typeface="Verdana"/>
              </a:rPr>
              <a:t>services</a:t>
            </a:r>
            <a:r>
              <a:rPr sz="850" i="1" spc="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without</a:t>
            </a:r>
            <a:r>
              <a:rPr sz="850" i="1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blocking</a:t>
            </a:r>
            <a:r>
              <a:rPr sz="850" i="1" spc="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850" i="1" spc="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terminal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81024" y="5133974"/>
            <a:ext cx="10267950" cy="742950"/>
            <a:chOff x="581024" y="5133974"/>
            <a:chExt cx="10267950" cy="742950"/>
          </a:xfrm>
        </p:grpSpPr>
        <p:sp>
          <p:nvSpPr>
            <p:cNvPr id="39" name="object 39"/>
            <p:cNvSpPr/>
            <p:nvPr/>
          </p:nvSpPr>
          <p:spPr>
            <a:xfrm>
              <a:off x="585787" y="5138737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10229725" y="733424"/>
                  </a:moveTo>
                  <a:lnTo>
                    <a:pt x="28698" y="733424"/>
                  </a:lnTo>
                  <a:lnTo>
                    <a:pt x="24477" y="732585"/>
                  </a:lnTo>
                  <a:lnTo>
                    <a:pt x="0" y="704726"/>
                  </a:lnTo>
                  <a:lnTo>
                    <a:pt x="0" y="700339"/>
                  </a:lnTo>
                  <a:lnTo>
                    <a:pt x="0" y="28697"/>
                  </a:lnTo>
                  <a:lnTo>
                    <a:pt x="28698" y="0"/>
                  </a:lnTo>
                  <a:lnTo>
                    <a:pt x="10229725" y="0"/>
                  </a:lnTo>
                  <a:lnTo>
                    <a:pt x="10258423" y="28697"/>
                  </a:lnTo>
                  <a:lnTo>
                    <a:pt x="10258423" y="704726"/>
                  </a:lnTo>
                  <a:lnTo>
                    <a:pt x="10233945" y="732585"/>
                  </a:lnTo>
                  <a:lnTo>
                    <a:pt x="10229725" y="73342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5787" y="5138737"/>
              <a:ext cx="10258425" cy="733425"/>
            </a:xfrm>
            <a:custGeom>
              <a:avLst/>
              <a:gdLst/>
              <a:ahLst/>
              <a:cxnLst/>
              <a:rect l="l" t="t" r="r" b="b"/>
              <a:pathLst>
                <a:path w="10258425" h="733425">
                  <a:moveTo>
                    <a:pt x="0" y="700339"/>
                  </a:moveTo>
                  <a:lnTo>
                    <a:pt x="0" y="33085"/>
                  </a:lnTo>
                  <a:lnTo>
                    <a:pt x="0" y="28697"/>
                  </a:lnTo>
                  <a:lnTo>
                    <a:pt x="839" y="24476"/>
                  </a:lnTo>
                  <a:lnTo>
                    <a:pt x="2518" y="20423"/>
                  </a:lnTo>
                  <a:lnTo>
                    <a:pt x="4197" y="16369"/>
                  </a:lnTo>
                  <a:lnTo>
                    <a:pt x="6588" y="12792"/>
                  </a:lnTo>
                  <a:lnTo>
                    <a:pt x="9690" y="9690"/>
                  </a:lnTo>
                  <a:lnTo>
                    <a:pt x="12792" y="6587"/>
                  </a:lnTo>
                  <a:lnTo>
                    <a:pt x="16370" y="4196"/>
                  </a:lnTo>
                  <a:lnTo>
                    <a:pt x="20424" y="2517"/>
                  </a:lnTo>
                  <a:lnTo>
                    <a:pt x="24477" y="839"/>
                  </a:lnTo>
                  <a:lnTo>
                    <a:pt x="28698" y="0"/>
                  </a:lnTo>
                  <a:lnTo>
                    <a:pt x="33085" y="0"/>
                  </a:lnTo>
                  <a:lnTo>
                    <a:pt x="10225339" y="0"/>
                  </a:lnTo>
                  <a:lnTo>
                    <a:pt x="10229725" y="0"/>
                  </a:lnTo>
                  <a:lnTo>
                    <a:pt x="10233945" y="839"/>
                  </a:lnTo>
                  <a:lnTo>
                    <a:pt x="10255904" y="20423"/>
                  </a:lnTo>
                  <a:lnTo>
                    <a:pt x="10257583" y="24476"/>
                  </a:lnTo>
                  <a:lnTo>
                    <a:pt x="10258423" y="28697"/>
                  </a:lnTo>
                  <a:lnTo>
                    <a:pt x="10258424" y="33085"/>
                  </a:lnTo>
                  <a:lnTo>
                    <a:pt x="10258424" y="700339"/>
                  </a:lnTo>
                  <a:lnTo>
                    <a:pt x="10237998" y="730906"/>
                  </a:lnTo>
                  <a:lnTo>
                    <a:pt x="10233945" y="732585"/>
                  </a:lnTo>
                  <a:lnTo>
                    <a:pt x="10229725" y="733424"/>
                  </a:lnTo>
                  <a:lnTo>
                    <a:pt x="10225339" y="733424"/>
                  </a:lnTo>
                  <a:lnTo>
                    <a:pt x="33085" y="733424"/>
                  </a:lnTo>
                  <a:lnTo>
                    <a:pt x="28698" y="733424"/>
                  </a:lnTo>
                  <a:lnTo>
                    <a:pt x="24477" y="732585"/>
                  </a:lnTo>
                  <a:lnTo>
                    <a:pt x="20424" y="730906"/>
                  </a:lnTo>
                  <a:lnTo>
                    <a:pt x="16370" y="729227"/>
                  </a:lnTo>
                  <a:lnTo>
                    <a:pt x="12792" y="726836"/>
                  </a:lnTo>
                  <a:lnTo>
                    <a:pt x="9690" y="723734"/>
                  </a:lnTo>
                  <a:lnTo>
                    <a:pt x="6588" y="720631"/>
                  </a:lnTo>
                  <a:lnTo>
                    <a:pt x="4197" y="717053"/>
                  </a:lnTo>
                  <a:lnTo>
                    <a:pt x="2518" y="712999"/>
                  </a:lnTo>
                  <a:lnTo>
                    <a:pt x="839" y="708946"/>
                  </a:lnTo>
                  <a:lnTo>
                    <a:pt x="0" y="704726"/>
                  </a:lnTo>
                  <a:lnTo>
                    <a:pt x="0" y="700339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0549" y="5143499"/>
              <a:ext cx="433705" cy="723900"/>
            </a:xfrm>
            <a:custGeom>
              <a:avLst/>
              <a:gdLst/>
              <a:ahLst/>
              <a:cxnLst/>
              <a:rect l="l" t="t" r="r" b="b"/>
              <a:pathLst>
                <a:path w="433705" h="723900">
                  <a:moveTo>
                    <a:pt x="433387" y="723899"/>
                  </a:moveTo>
                  <a:lnTo>
                    <a:pt x="24567" y="723899"/>
                  </a:lnTo>
                  <a:lnTo>
                    <a:pt x="0" y="699332"/>
                  </a:lnTo>
                  <a:lnTo>
                    <a:pt x="0" y="695576"/>
                  </a:lnTo>
                  <a:lnTo>
                    <a:pt x="0" y="24567"/>
                  </a:lnTo>
                  <a:lnTo>
                    <a:pt x="24567" y="0"/>
                  </a:lnTo>
                  <a:lnTo>
                    <a:pt x="433387" y="0"/>
                  </a:lnTo>
                  <a:lnTo>
                    <a:pt x="433387" y="723899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19174" y="5143499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952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72389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598850" y="5387784"/>
            <a:ext cx="420370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25"/>
              </a:spcBef>
            </a:pPr>
            <a:r>
              <a:rPr sz="1250" spc="-50">
                <a:solidFill>
                  <a:srgbClr val="66534E"/>
                </a:solidFill>
                <a:latin typeface="Tahoma"/>
                <a:cs typeface="Tahoma"/>
              </a:rPr>
              <a:t>6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28699" y="5195773"/>
            <a:ext cx="9807575" cy="57340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484"/>
              </a:spcBef>
            </a:pP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docker</a:t>
            </a:r>
            <a:r>
              <a:rPr sz="1200" spc="14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66534E"/>
                </a:solidFill>
                <a:latin typeface="Tahoma"/>
                <a:cs typeface="Tahoma"/>
              </a:rPr>
              <a:t>compose</a:t>
            </a:r>
            <a:r>
              <a:rPr sz="1200" spc="14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200" spc="-20">
                <a:solidFill>
                  <a:srgbClr val="66534E"/>
                </a:solidFill>
                <a:latin typeface="Tahoma"/>
                <a:cs typeface="Tahoma"/>
              </a:rPr>
              <a:t>stop</a:t>
            </a:r>
            <a:endParaRPr sz="1200">
              <a:latin typeface="Tahoma"/>
              <a:cs typeface="Tahoma"/>
            </a:endParaRPr>
          </a:p>
          <a:p>
            <a:pPr marL="60960">
              <a:lnSpc>
                <a:spcPct val="100000"/>
              </a:lnSpc>
              <a:spcBef>
                <a:spcPts val="260"/>
              </a:spcBef>
            </a:pPr>
            <a:r>
              <a:rPr sz="850" spc="-10">
                <a:solidFill>
                  <a:srgbClr val="66534E"/>
                </a:solidFill>
                <a:latin typeface="Verdana"/>
                <a:cs typeface="Verdana"/>
              </a:rPr>
              <a:t>Stops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20">
                <a:solidFill>
                  <a:srgbClr val="66534E"/>
                </a:solidFill>
                <a:latin typeface="Verdana"/>
                <a:cs typeface="Verdana"/>
              </a:rPr>
              <a:t>all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>
                <a:solidFill>
                  <a:srgbClr val="66534E"/>
                </a:solidFill>
                <a:latin typeface="Verdana"/>
                <a:cs typeface="Verdana"/>
              </a:rPr>
              <a:t>running</a:t>
            </a:r>
            <a:r>
              <a:rPr sz="85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spc="-10">
                <a:solidFill>
                  <a:srgbClr val="66534E"/>
                </a:solidFill>
                <a:latin typeface="Verdana"/>
                <a:cs typeface="Verdana"/>
              </a:rPr>
              <a:t>containers</a:t>
            </a:r>
            <a:endParaRPr sz="850">
              <a:latin typeface="Verdana"/>
              <a:cs typeface="Verdana"/>
            </a:endParaRPr>
          </a:p>
          <a:p>
            <a:pPr marL="60960">
              <a:lnSpc>
                <a:spcPct val="100000"/>
              </a:lnSpc>
              <a:spcBef>
                <a:spcPts val="180"/>
              </a:spcBef>
            </a:pP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When</a:t>
            </a:r>
            <a:r>
              <a:rPr sz="850" i="1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shutting</a:t>
            </a:r>
            <a:r>
              <a:rPr sz="850" i="1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down</a:t>
            </a:r>
            <a:r>
              <a:rPr sz="850" i="1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850" i="1" spc="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850" i="1" spc="-10">
                <a:solidFill>
                  <a:srgbClr val="66534E"/>
                </a:solidFill>
                <a:latin typeface="Verdana"/>
                <a:cs typeface="Verdana"/>
              </a:rPr>
              <a:t>application</a:t>
            </a:r>
            <a:endParaRPr sz="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171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5"/>
            <a:ext cx="4286250" cy="642937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2668" y="625475"/>
            <a:ext cx="6568609" cy="11380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88694">
              <a:lnSpc>
                <a:spcPct val="109400"/>
              </a:lnSpc>
              <a:spcBef>
                <a:spcPts val="95"/>
              </a:spcBef>
            </a:pPr>
            <a:r>
              <a:rPr sz="4000" spc="-40">
                <a:solidFill>
                  <a:srgbClr val="522317"/>
                </a:solidFill>
              </a:rPr>
              <a:t>Tableau</a:t>
            </a:r>
            <a:r>
              <a:rPr sz="4000" spc="-254">
                <a:solidFill>
                  <a:srgbClr val="522317"/>
                </a:solidFill>
              </a:rPr>
              <a:t> </a:t>
            </a:r>
            <a:r>
              <a:rPr sz="4000" spc="-20">
                <a:solidFill>
                  <a:srgbClr val="522317"/>
                </a:solidFill>
              </a:rPr>
              <a:t>with </a:t>
            </a:r>
            <a:r>
              <a:rPr sz="4000" spc="55">
                <a:solidFill>
                  <a:srgbClr val="522317"/>
                </a:solidFill>
              </a:rPr>
              <a:t>Docker</a:t>
            </a:r>
            <a:endParaRPr sz="4000"/>
          </a:p>
          <a:p>
            <a:pPr marL="12700" marR="5080">
              <a:lnSpc>
                <a:spcPct val="109400"/>
              </a:lnSpc>
              <a:spcBef>
                <a:spcPts val="655"/>
              </a:spcBef>
            </a:pPr>
            <a:r>
              <a:rPr sz="2400">
                <a:solidFill>
                  <a:srgbClr val="522317"/>
                </a:solidFill>
              </a:rPr>
              <a:t>Two</a:t>
            </a:r>
            <a:r>
              <a:rPr sz="2400" spc="-40">
                <a:solidFill>
                  <a:srgbClr val="522317"/>
                </a:solidFill>
              </a:rPr>
              <a:t> </a:t>
            </a:r>
            <a:r>
              <a:rPr sz="2400" spc="-70">
                <a:solidFill>
                  <a:srgbClr val="522317"/>
                </a:solidFill>
              </a:rPr>
              <a:t>ways</a:t>
            </a:r>
            <a:r>
              <a:rPr sz="2400" spc="-35">
                <a:solidFill>
                  <a:srgbClr val="522317"/>
                </a:solidFill>
              </a:rPr>
              <a:t> </a:t>
            </a:r>
            <a:r>
              <a:rPr sz="2400">
                <a:solidFill>
                  <a:srgbClr val="522317"/>
                </a:solidFill>
              </a:rPr>
              <a:t>Docker</a:t>
            </a:r>
            <a:r>
              <a:rPr sz="2400" spc="-35">
                <a:solidFill>
                  <a:srgbClr val="522317"/>
                </a:solidFill>
              </a:rPr>
              <a:t> </a:t>
            </a:r>
            <a:r>
              <a:rPr sz="2400">
                <a:solidFill>
                  <a:srgbClr val="522317"/>
                </a:solidFill>
              </a:rPr>
              <a:t>comes</a:t>
            </a:r>
            <a:r>
              <a:rPr sz="2400" spc="-35">
                <a:solidFill>
                  <a:srgbClr val="522317"/>
                </a:solidFill>
              </a:rPr>
              <a:t> </a:t>
            </a:r>
            <a:r>
              <a:rPr sz="2400">
                <a:solidFill>
                  <a:srgbClr val="522317"/>
                </a:solidFill>
              </a:rPr>
              <a:t>in</a:t>
            </a:r>
            <a:r>
              <a:rPr sz="2400" spc="-35">
                <a:solidFill>
                  <a:srgbClr val="522317"/>
                </a:solidFill>
              </a:rPr>
              <a:t> </a:t>
            </a:r>
            <a:r>
              <a:rPr sz="2400">
                <a:solidFill>
                  <a:srgbClr val="522317"/>
                </a:solidFill>
              </a:rPr>
              <a:t>handy</a:t>
            </a:r>
            <a:r>
              <a:rPr sz="2400" spc="-35">
                <a:solidFill>
                  <a:srgbClr val="522317"/>
                </a:solidFill>
              </a:rPr>
              <a:t> </a:t>
            </a:r>
            <a:r>
              <a:rPr sz="2400" spc="-20">
                <a:solidFill>
                  <a:srgbClr val="522317"/>
                </a:solidFill>
              </a:rPr>
              <a:t>with </a:t>
            </a:r>
            <a:r>
              <a:rPr sz="2400" spc="-10">
                <a:solidFill>
                  <a:srgbClr val="522317"/>
                </a:solidFill>
              </a:rPr>
              <a:t>Tableau:</a:t>
            </a:r>
            <a:endParaRPr sz="2400"/>
          </a:p>
        </p:txBody>
      </p:sp>
      <p:grpSp>
        <p:nvGrpSpPr>
          <p:cNvPr id="8" name="object 8"/>
          <p:cNvGrpSpPr/>
          <p:nvPr/>
        </p:nvGrpSpPr>
        <p:grpSpPr>
          <a:xfrm>
            <a:off x="544222" y="2300573"/>
            <a:ext cx="5905500" cy="1295400"/>
            <a:chOff x="619125" y="3067049"/>
            <a:chExt cx="5905500" cy="1295400"/>
          </a:xfrm>
        </p:grpSpPr>
        <p:sp>
          <p:nvSpPr>
            <p:cNvPr id="9" name="object 9"/>
            <p:cNvSpPr/>
            <p:nvPr/>
          </p:nvSpPr>
          <p:spPr>
            <a:xfrm>
              <a:off x="628650" y="3076574"/>
              <a:ext cx="5886450" cy="1276350"/>
            </a:xfrm>
            <a:custGeom>
              <a:avLst/>
              <a:gdLst/>
              <a:ahLst/>
              <a:cxnLst/>
              <a:rect l="l" t="t" r="r" b="b"/>
              <a:pathLst>
                <a:path w="5886450" h="1276350">
                  <a:moveTo>
                    <a:pt x="5837402" y="0"/>
                  </a:moveTo>
                  <a:lnTo>
                    <a:pt x="49048" y="0"/>
                  </a:lnTo>
                  <a:lnTo>
                    <a:pt x="45636" y="330"/>
                  </a:lnTo>
                  <a:lnTo>
                    <a:pt x="10760" y="20459"/>
                  </a:lnTo>
                  <a:lnTo>
                    <a:pt x="0" y="49047"/>
                  </a:lnTo>
                  <a:lnTo>
                    <a:pt x="0" y="1223848"/>
                  </a:lnTo>
                  <a:lnTo>
                    <a:pt x="0" y="1227302"/>
                  </a:lnTo>
                  <a:lnTo>
                    <a:pt x="17814" y="1263408"/>
                  </a:lnTo>
                  <a:lnTo>
                    <a:pt x="42256" y="1275334"/>
                  </a:lnTo>
                  <a:lnTo>
                    <a:pt x="45636" y="1276019"/>
                  </a:lnTo>
                  <a:lnTo>
                    <a:pt x="49048" y="1276350"/>
                  </a:lnTo>
                  <a:lnTo>
                    <a:pt x="5837402" y="1276350"/>
                  </a:lnTo>
                  <a:lnTo>
                    <a:pt x="5873508" y="1258531"/>
                  </a:lnTo>
                  <a:lnTo>
                    <a:pt x="5886450" y="1227302"/>
                  </a:lnTo>
                  <a:lnTo>
                    <a:pt x="5886450" y="49047"/>
                  </a:lnTo>
                  <a:lnTo>
                    <a:pt x="5868631" y="12941"/>
                  </a:lnTo>
                  <a:lnTo>
                    <a:pt x="5840818" y="330"/>
                  </a:lnTo>
                  <a:lnTo>
                    <a:pt x="5837402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28650" y="3076574"/>
              <a:ext cx="5886450" cy="1276350"/>
            </a:xfrm>
            <a:custGeom>
              <a:avLst/>
              <a:gdLst/>
              <a:ahLst/>
              <a:cxnLst/>
              <a:rect l="l" t="t" r="r" b="b"/>
              <a:pathLst>
                <a:path w="5886450" h="1276350">
                  <a:moveTo>
                    <a:pt x="0" y="1223848"/>
                  </a:moveTo>
                  <a:lnTo>
                    <a:pt x="0" y="52501"/>
                  </a:lnTo>
                  <a:lnTo>
                    <a:pt x="0" y="49047"/>
                  </a:lnTo>
                  <a:lnTo>
                    <a:pt x="337" y="45631"/>
                  </a:lnTo>
                  <a:lnTo>
                    <a:pt x="1007" y="42252"/>
                  </a:lnTo>
                  <a:lnTo>
                    <a:pt x="1681" y="38874"/>
                  </a:lnTo>
                  <a:lnTo>
                    <a:pt x="2678" y="35585"/>
                  </a:lnTo>
                  <a:lnTo>
                    <a:pt x="3997" y="32410"/>
                  </a:lnTo>
                  <a:lnTo>
                    <a:pt x="5313" y="29222"/>
                  </a:lnTo>
                  <a:lnTo>
                    <a:pt x="6930" y="26200"/>
                  </a:lnTo>
                  <a:lnTo>
                    <a:pt x="8845" y="23329"/>
                  </a:lnTo>
                  <a:lnTo>
                    <a:pt x="10760" y="20459"/>
                  </a:lnTo>
                  <a:lnTo>
                    <a:pt x="12938" y="17805"/>
                  </a:lnTo>
                  <a:lnTo>
                    <a:pt x="15373" y="15379"/>
                  </a:lnTo>
                  <a:lnTo>
                    <a:pt x="17814" y="12941"/>
                  </a:lnTo>
                  <a:lnTo>
                    <a:pt x="20463" y="10756"/>
                  </a:lnTo>
                  <a:lnTo>
                    <a:pt x="23331" y="8851"/>
                  </a:lnTo>
                  <a:lnTo>
                    <a:pt x="26198" y="6934"/>
                  </a:lnTo>
                  <a:lnTo>
                    <a:pt x="29225" y="5308"/>
                  </a:lnTo>
                  <a:lnTo>
                    <a:pt x="32410" y="4000"/>
                  </a:lnTo>
                  <a:lnTo>
                    <a:pt x="35594" y="2679"/>
                  </a:lnTo>
                  <a:lnTo>
                    <a:pt x="38873" y="1676"/>
                  </a:lnTo>
                  <a:lnTo>
                    <a:pt x="42256" y="1003"/>
                  </a:lnTo>
                  <a:lnTo>
                    <a:pt x="45636" y="330"/>
                  </a:lnTo>
                  <a:lnTo>
                    <a:pt x="49048" y="0"/>
                  </a:lnTo>
                  <a:lnTo>
                    <a:pt x="52496" y="0"/>
                  </a:lnTo>
                  <a:lnTo>
                    <a:pt x="5833948" y="0"/>
                  </a:lnTo>
                  <a:lnTo>
                    <a:pt x="5837402" y="0"/>
                  </a:lnTo>
                  <a:lnTo>
                    <a:pt x="5840818" y="330"/>
                  </a:lnTo>
                  <a:lnTo>
                    <a:pt x="5844197" y="1003"/>
                  </a:lnTo>
                  <a:lnTo>
                    <a:pt x="5847575" y="1676"/>
                  </a:lnTo>
                  <a:lnTo>
                    <a:pt x="5850851" y="2679"/>
                  </a:lnTo>
                  <a:lnTo>
                    <a:pt x="5854039" y="4000"/>
                  </a:lnTo>
                  <a:lnTo>
                    <a:pt x="5857227" y="5308"/>
                  </a:lnTo>
                  <a:lnTo>
                    <a:pt x="5860249" y="6934"/>
                  </a:lnTo>
                  <a:lnTo>
                    <a:pt x="5863120" y="8851"/>
                  </a:lnTo>
                  <a:lnTo>
                    <a:pt x="5865990" y="10756"/>
                  </a:lnTo>
                  <a:lnTo>
                    <a:pt x="5868631" y="12941"/>
                  </a:lnTo>
                  <a:lnTo>
                    <a:pt x="5871070" y="15379"/>
                  </a:lnTo>
                  <a:lnTo>
                    <a:pt x="5873508" y="17805"/>
                  </a:lnTo>
                  <a:lnTo>
                    <a:pt x="5882449" y="32410"/>
                  </a:lnTo>
                  <a:lnTo>
                    <a:pt x="5883770" y="35585"/>
                  </a:lnTo>
                  <a:lnTo>
                    <a:pt x="5884773" y="38874"/>
                  </a:lnTo>
                  <a:lnTo>
                    <a:pt x="5885446" y="42252"/>
                  </a:lnTo>
                  <a:lnTo>
                    <a:pt x="5886107" y="45631"/>
                  </a:lnTo>
                  <a:lnTo>
                    <a:pt x="5886450" y="49047"/>
                  </a:lnTo>
                  <a:lnTo>
                    <a:pt x="5886450" y="52501"/>
                  </a:lnTo>
                  <a:lnTo>
                    <a:pt x="5886450" y="1223848"/>
                  </a:lnTo>
                  <a:lnTo>
                    <a:pt x="5886450" y="1227302"/>
                  </a:lnTo>
                  <a:lnTo>
                    <a:pt x="5886107" y="1230706"/>
                  </a:lnTo>
                  <a:lnTo>
                    <a:pt x="5885446" y="1234097"/>
                  </a:lnTo>
                  <a:lnTo>
                    <a:pt x="5884773" y="1237475"/>
                  </a:lnTo>
                  <a:lnTo>
                    <a:pt x="5883770" y="1240751"/>
                  </a:lnTo>
                  <a:lnTo>
                    <a:pt x="5882449" y="1243939"/>
                  </a:lnTo>
                  <a:lnTo>
                    <a:pt x="5881128" y="1247127"/>
                  </a:lnTo>
                  <a:lnTo>
                    <a:pt x="5871070" y="1260970"/>
                  </a:lnTo>
                  <a:lnTo>
                    <a:pt x="5868631" y="1263408"/>
                  </a:lnTo>
                  <a:lnTo>
                    <a:pt x="5865990" y="1265580"/>
                  </a:lnTo>
                  <a:lnTo>
                    <a:pt x="5863120" y="1267498"/>
                  </a:lnTo>
                  <a:lnTo>
                    <a:pt x="5860249" y="1269415"/>
                  </a:lnTo>
                  <a:lnTo>
                    <a:pt x="5857227" y="1271028"/>
                  </a:lnTo>
                  <a:lnTo>
                    <a:pt x="5854039" y="1272349"/>
                  </a:lnTo>
                  <a:lnTo>
                    <a:pt x="5850851" y="1273670"/>
                  </a:lnTo>
                  <a:lnTo>
                    <a:pt x="5847575" y="1274673"/>
                  </a:lnTo>
                  <a:lnTo>
                    <a:pt x="5844197" y="1275334"/>
                  </a:lnTo>
                  <a:lnTo>
                    <a:pt x="5840818" y="1276019"/>
                  </a:lnTo>
                  <a:lnTo>
                    <a:pt x="5837402" y="1276350"/>
                  </a:lnTo>
                  <a:lnTo>
                    <a:pt x="5833948" y="1276350"/>
                  </a:lnTo>
                  <a:lnTo>
                    <a:pt x="52496" y="1276350"/>
                  </a:lnTo>
                  <a:lnTo>
                    <a:pt x="49048" y="1276350"/>
                  </a:lnTo>
                  <a:lnTo>
                    <a:pt x="45636" y="1276019"/>
                  </a:lnTo>
                  <a:lnTo>
                    <a:pt x="42256" y="1275334"/>
                  </a:lnTo>
                  <a:lnTo>
                    <a:pt x="38873" y="1274673"/>
                  </a:lnTo>
                  <a:lnTo>
                    <a:pt x="35594" y="1273670"/>
                  </a:lnTo>
                  <a:lnTo>
                    <a:pt x="32410" y="1272349"/>
                  </a:lnTo>
                  <a:lnTo>
                    <a:pt x="29225" y="1271028"/>
                  </a:lnTo>
                  <a:lnTo>
                    <a:pt x="26198" y="1269415"/>
                  </a:lnTo>
                  <a:lnTo>
                    <a:pt x="23331" y="1267498"/>
                  </a:lnTo>
                  <a:lnTo>
                    <a:pt x="20463" y="1265580"/>
                  </a:lnTo>
                  <a:lnTo>
                    <a:pt x="3997" y="1243939"/>
                  </a:lnTo>
                  <a:lnTo>
                    <a:pt x="2678" y="1240751"/>
                  </a:lnTo>
                  <a:lnTo>
                    <a:pt x="1681" y="1237475"/>
                  </a:lnTo>
                  <a:lnTo>
                    <a:pt x="1007" y="1234097"/>
                  </a:lnTo>
                  <a:lnTo>
                    <a:pt x="337" y="1230706"/>
                  </a:lnTo>
                  <a:lnTo>
                    <a:pt x="0" y="1227302"/>
                  </a:lnTo>
                  <a:lnTo>
                    <a:pt x="0" y="1223848"/>
                  </a:lnTo>
                  <a:close/>
                </a:path>
              </a:pathLst>
            </a:custGeom>
            <a:ln w="19050">
              <a:solidFill>
                <a:srgbClr val="FFE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03621" y="2524771"/>
            <a:ext cx="5386705" cy="906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>
                <a:solidFill>
                  <a:srgbClr val="66524F"/>
                </a:solidFill>
                <a:latin typeface="Tahoma"/>
                <a:cs typeface="Tahoma"/>
              </a:rPr>
              <a:t>Tableau</a:t>
            </a:r>
            <a:r>
              <a:rPr sz="2000" spc="-7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 spc="60">
                <a:solidFill>
                  <a:srgbClr val="66524F"/>
                </a:solidFill>
                <a:latin typeface="Tahoma"/>
                <a:cs typeface="Tahoma"/>
              </a:rPr>
              <a:t>Cloud</a:t>
            </a:r>
            <a:r>
              <a:rPr sz="2000" spc="-7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 spc="70">
                <a:solidFill>
                  <a:srgbClr val="66524F"/>
                </a:solidFill>
                <a:latin typeface="Tahoma"/>
                <a:cs typeface="Tahoma"/>
              </a:rPr>
              <a:t>or</a:t>
            </a:r>
            <a:r>
              <a:rPr sz="2000" spc="-7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 spc="-25">
                <a:solidFill>
                  <a:srgbClr val="66524F"/>
                </a:solidFill>
                <a:latin typeface="Tahoma"/>
                <a:cs typeface="Tahoma"/>
              </a:rPr>
              <a:t>Tableau</a:t>
            </a:r>
            <a:r>
              <a:rPr sz="2000" spc="-7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 spc="-10">
                <a:solidFill>
                  <a:srgbClr val="66524F"/>
                </a:solidFill>
                <a:latin typeface="Tahoma"/>
                <a:cs typeface="Tahoma"/>
              </a:rPr>
              <a:t>Server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7100"/>
              </a:lnSpc>
              <a:spcBef>
                <a:spcPts val="930"/>
              </a:spcBef>
            </a:pP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Docker</a:t>
            </a:r>
            <a:r>
              <a:rPr sz="14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containers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can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connect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to</a:t>
            </a:r>
            <a:r>
              <a:rPr sz="14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20">
                <a:solidFill>
                  <a:srgbClr val="66524F"/>
                </a:solidFill>
                <a:latin typeface="Verdana"/>
                <a:cs typeface="Verdana"/>
              </a:rPr>
              <a:t>Tableau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Cloud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5">
                <a:solidFill>
                  <a:srgbClr val="66524F"/>
                </a:solidFill>
                <a:latin typeface="Verdana"/>
                <a:cs typeface="Verdana"/>
              </a:rPr>
              <a:t>or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 Server</a:t>
            </a:r>
            <a:r>
              <a:rPr sz="1400" spc="-6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25">
                <a:solidFill>
                  <a:srgbClr val="66524F"/>
                </a:solidFill>
                <a:latin typeface="Verdana"/>
                <a:cs typeface="Verdana"/>
              </a:rPr>
              <a:t>to 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extract,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40">
                <a:solidFill>
                  <a:srgbClr val="66524F"/>
                </a:solidFill>
                <a:latin typeface="Verdana"/>
                <a:cs typeface="Verdana"/>
              </a:rPr>
              <a:t>transform,</a:t>
            </a:r>
            <a:r>
              <a:rPr sz="1400" spc="-7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load</a:t>
            </a:r>
            <a:r>
              <a:rPr sz="1400" spc="-7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data</a:t>
            </a:r>
            <a:r>
              <a:rPr sz="1400" spc="-8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25">
                <a:solidFill>
                  <a:srgbClr val="66524F"/>
                </a:solidFill>
                <a:latin typeface="Verdana"/>
                <a:cs typeface="Verdana"/>
              </a:rPr>
              <a:t>for</a:t>
            </a:r>
            <a:r>
              <a:rPr sz="1400" spc="-7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visualization.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4222" y="4034072"/>
            <a:ext cx="5905500" cy="1295400"/>
            <a:chOff x="619125" y="4533900"/>
            <a:chExt cx="5905500" cy="1295400"/>
          </a:xfrm>
        </p:grpSpPr>
        <p:sp>
          <p:nvSpPr>
            <p:cNvPr id="13" name="object 13"/>
            <p:cNvSpPr/>
            <p:nvPr/>
          </p:nvSpPr>
          <p:spPr>
            <a:xfrm>
              <a:off x="628650" y="4543425"/>
              <a:ext cx="5886450" cy="1276350"/>
            </a:xfrm>
            <a:custGeom>
              <a:avLst/>
              <a:gdLst/>
              <a:ahLst/>
              <a:cxnLst/>
              <a:rect l="l" t="t" r="r" b="b"/>
              <a:pathLst>
                <a:path w="5886450" h="1276350">
                  <a:moveTo>
                    <a:pt x="5837402" y="0"/>
                  </a:moveTo>
                  <a:lnTo>
                    <a:pt x="49048" y="0"/>
                  </a:lnTo>
                  <a:lnTo>
                    <a:pt x="45636" y="330"/>
                  </a:lnTo>
                  <a:lnTo>
                    <a:pt x="10760" y="20459"/>
                  </a:lnTo>
                  <a:lnTo>
                    <a:pt x="0" y="49047"/>
                  </a:lnTo>
                  <a:lnTo>
                    <a:pt x="0" y="1223849"/>
                  </a:lnTo>
                  <a:lnTo>
                    <a:pt x="0" y="1227297"/>
                  </a:lnTo>
                  <a:lnTo>
                    <a:pt x="17814" y="1263407"/>
                  </a:lnTo>
                  <a:lnTo>
                    <a:pt x="49048" y="1276346"/>
                  </a:lnTo>
                  <a:lnTo>
                    <a:pt x="5837402" y="1276346"/>
                  </a:lnTo>
                  <a:lnTo>
                    <a:pt x="5873508" y="1258535"/>
                  </a:lnTo>
                  <a:lnTo>
                    <a:pt x="5886450" y="1227297"/>
                  </a:lnTo>
                  <a:lnTo>
                    <a:pt x="5886450" y="49047"/>
                  </a:lnTo>
                  <a:lnTo>
                    <a:pt x="5868631" y="12941"/>
                  </a:lnTo>
                  <a:lnTo>
                    <a:pt x="5840818" y="330"/>
                  </a:lnTo>
                  <a:lnTo>
                    <a:pt x="5837402" y="0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8650" y="4543425"/>
              <a:ext cx="5886450" cy="1276350"/>
            </a:xfrm>
            <a:custGeom>
              <a:avLst/>
              <a:gdLst/>
              <a:ahLst/>
              <a:cxnLst/>
              <a:rect l="l" t="t" r="r" b="b"/>
              <a:pathLst>
                <a:path w="5886450" h="1276350">
                  <a:moveTo>
                    <a:pt x="0" y="1223849"/>
                  </a:moveTo>
                  <a:lnTo>
                    <a:pt x="0" y="52501"/>
                  </a:lnTo>
                  <a:lnTo>
                    <a:pt x="0" y="49047"/>
                  </a:lnTo>
                  <a:lnTo>
                    <a:pt x="337" y="45631"/>
                  </a:lnTo>
                  <a:lnTo>
                    <a:pt x="1007" y="42252"/>
                  </a:lnTo>
                  <a:lnTo>
                    <a:pt x="1681" y="38874"/>
                  </a:lnTo>
                  <a:lnTo>
                    <a:pt x="2678" y="35585"/>
                  </a:lnTo>
                  <a:lnTo>
                    <a:pt x="3997" y="32410"/>
                  </a:lnTo>
                  <a:lnTo>
                    <a:pt x="5313" y="29222"/>
                  </a:lnTo>
                  <a:lnTo>
                    <a:pt x="6930" y="26200"/>
                  </a:lnTo>
                  <a:lnTo>
                    <a:pt x="8845" y="23329"/>
                  </a:lnTo>
                  <a:lnTo>
                    <a:pt x="10760" y="20459"/>
                  </a:lnTo>
                  <a:lnTo>
                    <a:pt x="12938" y="17805"/>
                  </a:lnTo>
                  <a:lnTo>
                    <a:pt x="15373" y="15379"/>
                  </a:lnTo>
                  <a:lnTo>
                    <a:pt x="17814" y="12941"/>
                  </a:lnTo>
                  <a:lnTo>
                    <a:pt x="20463" y="10756"/>
                  </a:lnTo>
                  <a:lnTo>
                    <a:pt x="23331" y="8851"/>
                  </a:lnTo>
                  <a:lnTo>
                    <a:pt x="26198" y="6934"/>
                  </a:lnTo>
                  <a:lnTo>
                    <a:pt x="29225" y="5308"/>
                  </a:lnTo>
                  <a:lnTo>
                    <a:pt x="32410" y="4000"/>
                  </a:lnTo>
                  <a:lnTo>
                    <a:pt x="35594" y="2679"/>
                  </a:lnTo>
                  <a:lnTo>
                    <a:pt x="38873" y="1676"/>
                  </a:lnTo>
                  <a:lnTo>
                    <a:pt x="42256" y="1003"/>
                  </a:lnTo>
                  <a:lnTo>
                    <a:pt x="45636" y="330"/>
                  </a:lnTo>
                  <a:lnTo>
                    <a:pt x="49048" y="0"/>
                  </a:lnTo>
                  <a:lnTo>
                    <a:pt x="52496" y="0"/>
                  </a:lnTo>
                  <a:lnTo>
                    <a:pt x="5833948" y="0"/>
                  </a:lnTo>
                  <a:lnTo>
                    <a:pt x="5837402" y="0"/>
                  </a:lnTo>
                  <a:lnTo>
                    <a:pt x="5840818" y="330"/>
                  </a:lnTo>
                  <a:lnTo>
                    <a:pt x="5844197" y="1003"/>
                  </a:lnTo>
                  <a:lnTo>
                    <a:pt x="5847575" y="1676"/>
                  </a:lnTo>
                  <a:lnTo>
                    <a:pt x="5850851" y="2679"/>
                  </a:lnTo>
                  <a:lnTo>
                    <a:pt x="5854039" y="4000"/>
                  </a:lnTo>
                  <a:lnTo>
                    <a:pt x="5857227" y="5308"/>
                  </a:lnTo>
                  <a:lnTo>
                    <a:pt x="5860249" y="6934"/>
                  </a:lnTo>
                  <a:lnTo>
                    <a:pt x="5863120" y="8851"/>
                  </a:lnTo>
                  <a:lnTo>
                    <a:pt x="5865990" y="10756"/>
                  </a:lnTo>
                  <a:lnTo>
                    <a:pt x="5868631" y="12941"/>
                  </a:lnTo>
                  <a:lnTo>
                    <a:pt x="5871070" y="15379"/>
                  </a:lnTo>
                  <a:lnTo>
                    <a:pt x="5873508" y="17805"/>
                  </a:lnTo>
                  <a:lnTo>
                    <a:pt x="5882449" y="32410"/>
                  </a:lnTo>
                  <a:lnTo>
                    <a:pt x="5883770" y="35585"/>
                  </a:lnTo>
                  <a:lnTo>
                    <a:pt x="5884773" y="38874"/>
                  </a:lnTo>
                  <a:lnTo>
                    <a:pt x="5885446" y="42252"/>
                  </a:lnTo>
                  <a:lnTo>
                    <a:pt x="5886107" y="45631"/>
                  </a:lnTo>
                  <a:lnTo>
                    <a:pt x="5886450" y="49047"/>
                  </a:lnTo>
                  <a:lnTo>
                    <a:pt x="5886450" y="52501"/>
                  </a:lnTo>
                  <a:lnTo>
                    <a:pt x="5886450" y="1223849"/>
                  </a:lnTo>
                  <a:lnTo>
                    <a:pt x="5886450" y="1227297"/>
                  </a:lnTo>
                  <a:lnTo>
                    <a:pt x="5886107" y="1230710"/>
                  </a:lnTo>
                  <a:lnTo>
                    <a:pt x="5885446" y="1234093"/>
                  </a:lnTo>
                  <a:lnTo>
                    <a:pt x="5884773" y="1237471"/>
                  </a:lnTo>
                  <a:lnTo>
                    <a:pt x="5883770" y="1240755"/>
                  </a:lnTo>
                  <a:lnTo>
                    <a:pt x="5882449" y="1243940"/>
                  </a:lnTo>
                  <a:lnTo>
                    <a:pt x="5881128" y="1247126"/>
                  </a:lnTo>
                  <a:lnTo>
                    <a:pt x="5879515" y="1250147"/>
                  </a:lnTo>
                  <a:lnTo>
                    <a:pt x="5877598" y="1253015"/>
                  </a:lnTo>
                  <a:lnTo>
                    <a:pt x="5875680" y="1255882"/>
                  </a:lnTo>
                  <a:lnTo>
                    <a:pt x="5873508" y="1258535"/>
                  </a:lnTo>
                  <a:lnTo>
                    <a:pt x="5871070" y="1260971"/>
                  </a:lnTo>
                  <a:lnTo>
                    <a:pt x="5868631" y="1263407"/>
                  </a:lnTo>
                  <a:lnTo>
                    <a:pt x="5865990" y="1265585"/>
                  </a:lnTo>
                  <a:lnTo>
                    <a:pt x="5863120" y="1267500"/>
                  </a:lnTo>
                  <a:lnTo>
                    <a:pt x="5860249" y="1269415"/>
                  </a:lnTo>
                  <a:lnTo>
                    <a:pt x="5857227" y="1271032"/>
                  </a:lnTo>
                  <a:lnTo>
                    <a:pt x="5854039" y="1272352"/>
                  </a:lnTo>
                  <a:lnTo>
                    <a:pt x="5850851" y="1273671"/>
                  </a:lnTo>
                  <a:lnTo>
                    <a:pt x="5847575" y="1274669"/>
                  </a:lnTo>
                  <a:lnTo>
                    <a:pt x="5844197" y="1275339"/>
                  </a:lnTo>
                  <a:lnTo>
                    <a:pt x="5840818" y="1276013"/>
                  </a:lnTo>
                  <a:lnTo>
                    <a:pt x="5837402" y="1276346"/>
                  </a:lnTo>
                  <a:lnTo>
                    <a:pt x="5833948" y="1276351"/>
                  </a:lnTo>
                  <a:lnTo>
                    <a:pt x="52496" y="1276351"/>
                  </a:lnTo>
                  <a:lnTo>
                    <a:pt x="49048" y="1276346"/>
                  </a:lnTo>
                  <a:lnTo>
                    <a:pt x="45636" y="1276013"/>
                  </a:lnTo>
                  <a:lnTo>
                    <a:pt x="42256" y="1275339"/>
                  </a:lnTo>
                  <a:lnTo>
                    <a:pt x="38873" y="1274669"/>
                  </a:lnTo>
                  <a:lnTo>
                    <a:pt x="35594" y="1273671"/>
                  </a:lnTo>
                  <a:lnTo>
                    <a:pt x="32410" y="1272352"/>
                  </a:lnTo>
                  <a:lnTo>
                    <a:pt x="29225" y="1271032"/>
                  </a:lnTo>
                  <a:lnTo>
                    <a:pt x="26198" y="1269415"/>
                  </a:lnTo>
                  <a:lnTo>
                    <a:pt x="23331" y="1267500"/>
                  </a:lnTo>
                  <a:lnTo>
                    <a:pt x="20463" y="1265585"/>
                  </a:lnTo>
                  <a:lnTo>
                    <a:pt x="8845" y="1253015"/>
                  </a:lnTo>
                  <a:lnTo>
                    <a:pt x="6930" y="1250152"/>
                  </a:lnTo>
                  <a:lnTo>
                    <a:pt x="5313" y="1247126"/>
                  </a:lnTo>
                  <a:lnTo>
                    <a:pt x="3997" y="1243940"/>
                  </a:lnTo>
                  <a:lnTo>
                    <a:pt x="2678" y="1240755"/>
                  </a:lnTo>
                  <a:lnTo>
                    <a:pt x="1681" y="1237471"/>
                  </a:lnTo>
                  <a:lnTo>
                    <a:pt x="1007" y="1234093"/>
                  </a:lnTo>
                  <a:lnTo>
                    <a:pt x="337" y="1230710"/>
                  </a:lnTo>
                  <a:lnTo>
                    <a:pt x="0" y="1227297"/>
                  </a:lnTo>
                  <a:lnTo>
                    <a:pt x="0" y="1223849"/>
                  </a:lnTo>
                  <a:close/>
                </a:path>
              </a:pathLst>
            </a:custGeom>
            <a:ln w="19050">
              <a:solidFill>
                <a:srgbClr val="FFE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03621" y="4228700"/>
            <a:ext cx="5189220" cy="906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5">
                <a:solidFill>
                  <a:srgbClr val="66524F"/>
                </a:solidFill>
                <a:latin typeface="Tahoma"/>
                <a:cs typeface="Tahoma"/>
              </a:rPr>
              <a:t>TabPy</a:t>
            </a:r>
            <a:r>
              <a:rPr sz="200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 spc="-105">
                <a:solidFill>
                  <a:srgbClr val="66524F"/>
                </a:solidFill>
                <a:latin typeface="Tahoma"/>
                <a:cs typeface="Tahoma"/>
              </a:rPr>
              <a:t>(a</a:t>
            </a:r>
            <a:r>
              <a:rPr sz="2000" spc="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>
                <a:solidFill>
                  <a:srgbClr val="66524F"/>
                </a:solidFill>
                <a:latin typeface="Tahoma"/>
                <a:cs typeface="Tahoma"/>
              </a:rPr>
              <a:t>bridge</a:t>
            </a:r>
            <a:r>
              <a:rPr sz="2000" spc="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>
                <a:solidFill>
                  <a:srgbClr val="66524F"/>
                </a:solidFill>
                <a:latin typeface="Tahoma"/>
                <a:cs typeface="Tahoma"/>
              </a:rPr>
              <a:t>between </a:t>
            </a:r>
            <a:r>
              <a:rPr sz="2000" spc="-25">
                <a:solidFill>
                  <a:srgbClr val="66524F"/>
                </a:solidFill>
                <a:latin typeface="Tahoma"/>
                <a:cs typeface="Tahoma"/>
              </a:rPr>
              <a:t>Tableau</a:t>
            </a:r>
            <a:r>
              <a:rPr sz="2000" spc="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>
                <a:solidFill>
                  <a:srgbClr val="66524F"/>
                </a:solidFill>
                <a:latin typeface="Tahoma"/>
                <a:cs typeface="Tahoma"/>
              </a:rPr>
              <a:t>and</a:t>
            </a:r>
            <a:r>
              <a:rPr sz="2000" spc="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2000" spc="-10">
                <a:solidFill>
                  <a:srgbClr val="66524F"/>
                </a:solidFill>
                <a:latin typeface="Tahoma"/>
                <a:cs typeface="Tahoma"/>
              </a:rPr>
              <a:t>Python)</a:t>
            </a:r>
            <a:endParaRPr sz="2000">
              <a:latin typeface="Tahoma"/>
              <a:cs typeface="Tahoma"/>
            </a:endParaRPr>
          </a:p>
          <a:p>
            <a:pPr marL="12700" marR="365760">
              <a:lnSpc>
                <a:spcPct val="107100"/>
              </a:lnSpc>
              <a:spcBef>
                <a:spcPts val="930"/>
              </a:spcBef>
            </a:pP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Use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Docker</a:t>
            </a:r>
            <a:r>
              <a:rPr sz="1400" spc="-6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to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containerize</a:t>
            </a:r>
            <a:r>
              <a:rPr sz="1400" spc="-6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55">
                <a:solidFill>
                  <a:srgbClr val="66524F"/>
                </a:solidFill>
                <a:latin typeface="Verdana"/>
                <a:cs typeface="Verdana"/>
              </a:rPr>
              <a:t>TabPy,</a:t>
            </a:r>
            <a:r>
              <a:rPr sz="1400" spc="-6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enabling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20">
                <a:solidFill>
                  <a:srgbClr val="66524F"/>
                </a:solidFill>
                <a:latin typeface="Verdana"/>
                <a:cs typeface="Verdana"/>
              </a:rPr>
              <a:t>Tableau</a:t>
            </a:r>
            <a:r>
              <a:rPr sz="1400" spc="-6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25">
                <a:solidFill>
                  <a:srgbClr val="66524F"/>
                </a:solidFill>
                <a:latin typeface="Verdana"/>
                <a:cs typeface="Verdana"/>
              </a:rPr>
              <a:t>to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execute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Python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scripts</a:t>
            </a:r>
            <a:r>
              <a:rPr sz="1400" spc="-6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directly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in</a:t>
            </a:r>
            <a:r>
              <a:rPr sz="1400" spc="-6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>
                <a:solidFill>
                  <a:srgbClr val="66524F"/>
                </a:solidFill>
                <a:latin typeface="Verdana"/>
                <a:cs typeface="Verdana"/>
              </a:rPr>
              <a:t>calculated</a:t>
            </a:r>
            <a:r>
              <a:rPr sz="1400" spc="-7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400" spc="-10">
                <a:solidFill>
                  <a:srgbClr val="66524F"/>
                </a:solidFill>
                <a:latin typeface="Verdana"/>
                <a:cs typeface="Verdana"/>
              </a:rPr>
              <a:t>fields.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0DEBF2E-56B1-18CC-E50A-7BD58C353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6075" y="1154112"/>
            <a:ext cx="4221600" cy="4137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1297177"/>
            <a:ext cx="10123170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 spc="65"/>
              <a:t>Docker</a:t>
            </a:r>
            <a:r>
              <a:rPr sz="4000" spc="-130"/>
              <a:t> </a:t>
            </a:r>
            <a:r>
              <a:rPr sz="4000"/>
              <a:t>with</a:t>
            </a:r>
            <a:r>
              <a:rPr sz="4000" spc="-125"/>
              <a:t> </a:t>
            </a:r>
            <a:r>
              <a:rPr sz="4000" spc="-40"/>
              <a:t>Tableau</a:t>
            </a:r>
            <a:r>
              <a:rPr sz="4000" spc="-125"/>
              <a:t> </a:t>
            </a:r>
            <a:r>
              <a:rPr sz="4000" spc="125"/>
              <a:t>Cloud</a:t>
            </a:r>
            <a:r>
              <a:rPr sz="4000" spc="-130"/>
              <a:t> </a:t>
            </a:r>
            <a:r>
              <a:rPr sz="4000" spc="-254"/>
              <a:t>vs</a:t>
            </a:r>
            <a:r>
              <a:rPr sz="4000" spc="-125"/>
              <a:t> </a:t>
            </a:r>
            <a:r>
              <a:rPr sz="4000" spc="-40"/>
              <a:t>Tableau</a:t>
            </a:r>
            <a:r>
              <a:rPr sz="4000" spc="-125"/>
              <a:t> </a:t>
            </a:r>
            <a:r>
              <a:rPr sz="4000" spc="-10"/>
              <a:t>Server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619124" y="2333624"/>
            <a:ext cx="10191750" cy="2790825"/>
            <a:chOff x="619124" y="2333624"/>
            <a:chExt cx="10191750" cy="2790825"/>
          </a:xfrm>
        </p:grpSpPr>
        <p:sp>
          <p:nvSpPr>
            <p:cNvPr id="4" name="object 4"/>
            <p:cNvSpPr/>
            <p:nvPr/>
          </p:nvSpPr>
          <p:spPr>
            <a:xfrm>
              <a:off x="623887" y="2338387"/>
              <a:ext cx="10182225" cy="2781300"/>
            </a:xfrm>
            <a:custGeom>
              <a:avLst/>
              <a:gdLst/>
              <a:ahLst/>
              <a:cxnLst/>
              <a:rect l="l" t="t" r="r" b="b"/>
              <a:pathLst>
                <a:path w="10182225" h="2781300">
                  <a:moveTo>
                    <a:pt x="0" y="2724038"/>
                  </a:moveTo>
                  <a:lnTo>
                    <a:pt x="0" y="57260"/>
                  </a:lnTo>
                  <a:lnTo>
                    <a:pt x="0" y="53500"/>
                  </a:lnTo>
                  <a:lnTo>
                    <a:pt x="366" y="49777"/>
                  </a:lnTo>
                  <a:lnTo>
                    <a:pt x="1100" y="46089"/>
                  </a:lnTo>
                  <a:lnTo>
                    <a:pt x="1833" y="42401"/>
                  </a:lnTo>
                  <a:lnTo>
                    <a:pt x="2919" y="38821"/>
                  </a:lnTo>
                  <a:lnTo>
                    <a:pt x="4358" y="35347"/>
                  </a:lnTo>
                  <a:lnTo>
                    <a:pt x="5797" y="31873"/>
                  </a:lnTo>
                  <a:lnTo>
                    <a:pt x="7561" y="28574"/>
                  </a:lnTo>
                  <a:lnTo>
                    <a:pt x="38821" y="2919"/>
                  </a:lnTo>
                  <a:lnTo>
                    <a:pt x="46089" y="1100"/>
                  </a:lnTo>
                  <a:lnTo>
                    <a:pt x="49777" y="366"/>
                  </a:lnTo>
                  <a:lnTo>
                    <a:pt x="53501" y="0"/>
                  </a:lnTo>
                  <a:lnTo>
                    <a:pt x="57260" y="0"/>
                  </a:lnTo>
                  <a:lnTo>
                    <a:pt x="10124963" y="0"/>
                  </a:lnTo>
                  <a:lnTo>
                    <a:pt x="10128722" y="0"/>
                  </a:lnTo>
                  <a:lnTo>
                    <a:pt x="10132445" y="366"/>
                  </a:lnTo>
                  <a:lnTo>
                    <a:pt x="10168110" y="19429"/>
                  </a:lnTo>
                  <a:lnTo>
                    <a:pt x="10182224" y="57260"/>
                  </a:lnTo>
                  <a:lnTo>
                    <a:pt x="10182224" y="2724038"/>
                  </a:lnTo>
                  <a:lnTo>
                    <a:pt x="10168110" y="2761869"/>
                  </a:lnTo>
                  <a:lnTo>
                    <a:pt x="10136132" y="2780199"/>
                  </a:lnTo>
                  <a:lnTo>
                    <a:pt x="10132445" y="2780932"/>
                  </a:lnTo>
                  <a:lnTo>
                    <a:pt x="10128722" y="2781299"/>
                  </a:lnTo>
                  <a:lnTo>
                    <a:pt x="10124963" y="2781299"/>
                  </a:lnTo>
                  <a:lnTo>
                    <a:pt x="57260" y="2781299"/>
                  </a:lnTo>
                  <a:lnTo>
                    <a:pt x="53501" y="2781299"/>
                  </a:lnTo>
                  <a:lnTo>
                    <a:pt x="49777" y="2780932"/>
                  </a:lnTo>
                  <a:lnTo>
                    <a:pt x="46089" y="2780199"/>
                  </a:lnTo>
                  <a:lnTo>
                    <a:pt x="42402" y="2779465"/>
                  </a:lnTo>
                  <a:lnTo>
                    <a:pt x="38821" y="2778379"/>
                  </a:lnTo>
                  <a:lnTo>
                    <a:pt x="35348" y="2776940"/>
                  </a:lnTo>
                  <a:lnTo>
                    <a:pt x="31874" y="2775501"/>
                  </a:lnTo>
                  <a:lnTo>
                    <a:pt x="4358" y="2745950"/>
                  </a:lnTo>
                  <a:lnTo>
                    <a:pt x="1100" y="2735208"/>
                  </a:lnTo>
                  <a:lnTo>
                    <a:pt x="366" y="2731521"/>
                  </a:lnTo>
                  <a:lnTo>
                    <a:pt x="0" y="2727798"/>
                  </a:lnTo>
                  <a:lnTo>
                    <a:pt x="0" y="2724038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8637" y="2343149"/>
              <a:ext cx="10172700" cy="2771775"/>
            </a:xfrm>
            <a:custGeom>
              <a:avLst/>
              <a:gdLst/>
              <a:ahLst/>
              <a:cxnLst/>
              <a:rect l="l" t="t" r="r" b="b"/>
              <a:pathLst>
                <a:path w="10172700" h="2771775">
                  <a:moveTo>
                    <a:pt x="3048000" y="2076450"/>
                  </a:moveTo>
                  <a:lnTo>
                    <a:pt x="0" y="2076450"/>
                  </a:lnTo>
                  <a:lnTo>
                    <a:pt x="0" y="2717977"/>
                  </a:lnTo>
                  <a:lnTo>
                    <a:pt x="23990" y="2759430"/>
                  </a:lnTo>
                  <a:lnTo>
                    <a:pt x="53809" y="2771775"/>
                  </a:lnTo>
                  <a:lnTo>
                    <a:pt x="3048000" y="2771775"/>
                  </a:lnTo>
                  <a:lnTo>
                    <a:pt x="3048000" y="2076450"/>
                  </a:lnTo>
                  <a:close/>
                </a:path>
                <a:path w="10172700" h="2771775">
                  <a:moveTo>
                    <a:pt x="3048000" y="0"/>
                  </a:moveTo>
                  <a:lnTo>
                    <a:pt x="53809" y="0"/>
                  </a:lnTo>
                  <a:lnTo>
                    <a:pt x="45897" y="1574"/>
                  </a:lnTo>
                  <a:lnTo>
                    <a:pt x="12357" y="23990"/>
                  </a:lnTo>
                  <a:lnTo>
                    <a:pt x="0" y="53809"/>
                  </a:lnTo>
                  <a:lnTo>
                    <a:pt x="0" y="457200"/>
                  </a:lnTo>
                  <a:lnTo>
                    <a:pt x="3048000" y="457200"/>
                  </a:lnTo>
                  <a:lnTo>
                    <a:pt x="3048000" y="0"/>
                  </a:lnTo>
                  <a:close/>
                </a:path>
                <a:path w="10172700" h="2771775">
                  <a:moveTo>
                    <a:pt x="10172700" y="2076450"/>
                  </a:moveTo>
                  <a:lnTo>
                    <a:pt x="6619875" y="2076450"/>
                  </a:lnTo>
                  <a:lnTo>
                    <a:pt x="6619875" y="2771775"/>
                  </a:lnTo>
                  <a:lnTo>
                    <a:pt x="10118903" y="2771775"/>
                  </a:lnTo>
                  <a:lnTo>
                    <a:pt x="10126815" y="2770200"/>
                  </a:lnTo>
                  <a:lnTo>
                    <a:pt x="10160356" y="2747797"/>
                  </a:lnTo>
                  <a:lnTo>
                    <a:pt x="10172700" y="2717977"/>
                  </a:lnTo>
                  <a:lnTo>
                    <a:pt x="10172700" y="2076450"/>
                  </a:lnTo>
                  <a:close/>
                </a:path>
                <a:path w="10172700" h="2771775">
                  <a:moveTo>
                    <a:pt x="10172700" y="53809"/>
                  </a:moveTo>
                  <a:lnTo>
                    <a:pt x="10148722" y="12357"/>
                  </a:lnTo>
                  <a:lnTo>
                    <a:pt x="10118903" y="0"/>
                  </a:lnTo>
                  <a:lnTo>
                    <a:pt x="6619875" y="0"/>
                  </a:lnTo>
                  <a:lnTo>
                    <a:pt x="6619875" y="457200"/>
                  </a:lnTo>
                  <a:lnTo>
                    <a:pt x="10172700" y="457200"/>
                  </a:lnTo>
                  <a:lnTo>
                    <a:pt x="10172700" y="53809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8649" y="2343149"/>
          <a:ext cx="10170793" cy="276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2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b="1" spc="-1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Feature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b="1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Docker</a:t>
                      </a:r>
                      <a:r>
                        <a:rPr sz="1400" b="1" spc="95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325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400" b="1" spc="10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Tableau</a:t>
                      </a:r>
                      <a:r>
                        <a:rPr sz="1400" b="1" spc="10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2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Cloud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b="1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Docker</a:t>
                      </a:r>
                      <a:r>
                        <a:rPr sz="1400" b="1" spc="95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325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+</a:t>
                      </a:r>
                      <a:r>
                        <a:rPr sz="1400" b="1" spc="10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Tableau</a:t>
                      </a:r>
                      <a:r>
                        <a:rPr sz="1400" b="1" spc="10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400" b="1" spc="-10">
                          <a:solidFill>
                            <a:srgbClr val="66534E"/>
                          </a:solidFill>
                          <a:latin typeface="Tahoma"/>
                          <a:cs typeface="Tahoma"/>
                        </a:rPr>
                        <a:t>Server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090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Maintenance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17475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 spc="-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Low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High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6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(server</a:t>
                      </a: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upkeep)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17475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sz="1400" spc="-1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Refresh</a:t>
                      </a:r>
                      <a:r>
                        <a:rPr sz="1400" spc="-12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Method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Bridge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or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API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from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Docker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Services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595630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Direct</a:t>
                      </a:r>
                      <a:r>
                        <a:rPr sz="1400" spc="-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Connection</a:t>
                      </a:r>
                      <a:r>
                        <a:rPr sz="1400" spc="-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from</a:t>
                      </a:r>
                      <a:r>
                        <a:rPr sz="1400" spc="-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Docker containers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3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Security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Control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 spc="-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Tableau</a:t>
                      </a:r>
                      <a:r>
                        <a:rPr sz="1400" spc="-8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manages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Direct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managing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690"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Docker</a:t>
                      </a:r>
                      <a:r>
                        <a:rPr sz="1400" spc="-7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Purpose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R w="9525">
                      <a:solidFill>
                        <a:srgbClr val="FFFFF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Data</a:t>
                      </a:r>
                      <a:r>
                        <a:rPr sz="1400" spc="-12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pipelines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107950" marB="0">
                    <a:lnL w="9525">
                      <a:solidFill>
                        <a:srgbClr val="FFFFF4"/>
                      </a:solidFill>
                      <a:prstDash val="solid"/>
                    </a:lnL>
                    <a:lnR w="9525">
                      <a:solidFill>
                        <a:srgbClr val="FFFFF4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8435" marR="464820">
                        <a:lnSpc>
                          <a:spcPct val="107100"/>
                        </a:lnSpc>
                        <a:spcBef>
                          <a:spcPts val="730"/>
                        </a:spcBef>
                      </a:pPr>
                      <a:r>
                        <a:rPr sz="140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Pipelines</a:t>
                      </a:r>
                      <a:r>
                        <a:rPr sz="1400" spc="-85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36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+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infrastructure</a:t>
                      </a:r>
                      <a:r>
                        <a:rPr sz="1400" spc="-8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1400" spc="-10">
                          <a:solidFill>
                            <a:srgbClr val="66534E"/>
                          </a:solidFill>
                          <a:latin typeface="Verdana"/>
                          <a:cs typeface="Verdana"/>
                        </a:rPr>
                        <a:t>around server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T="92710" marB="0">
                    <a:lnL w="9525">
                      <a:solidFill>
                        <a:srgbClr val="FFFFF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55"/>
              <a:t>TabPy:</a:t>
            </a:r>
            <a:r>
              <a:rPr spc="-100"/>
              <a:t> </a:t>
            </a:r>
            <a:r>
              <a:rPr spc="-25"/>
              <a:t>Tableau</a:t>
            </a:r>
            <a:r>
              <a:rPr spc="-100"/>
              <a:t> </a:t>
            </a:r>
            <a:r>
              <a:t>Python</a:t>
            </a:r>
            <a:r>
              <a:rPr spc="-95"/>
              <a:t> </a:t>
            </a:r>
            <a:r>
              <a:rPr spc="-10"/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9899" y="1885299"/>
            <a:ext cx="834390" cy="4079240"/>
            <a:chOff x="589899" y="1885299"/>
            <a:chExt cx="834390" cy="4079240"/>
          </a:xfrm>
        </p:grpSpPr>
        <p:sp>
          <p:nvSpPr>
            <p:cNvPr id="4" name="object 4"/>
            <p:cNvSpPr/>
            <p:nvPr/>
          </p:nvSpPr>
          <p:spPr>
            <a:xfrm>
              <a:off x="600074" y="1895474"/>
              <a:ext cx="814069" cy="977265"/>
            </a:xfrm>
            <a:custGeom>
              <a:avLst/>
              <a:gdLst/>
              <a:ahLst/>
              <a:cxnLst/>
              <a:rect l="l" t="t" r="r" b="b"/>
              <a:pathLst>
                <a:path w="814069" h="977264">
                  <a:moveTo>
                    <a:pt x="407003" y="976758"/>
                  </a:moveTo>
                  <a:lnTo>
                    <a:pt x="0" y="813957"/>
                  </a:lnTo>
                  <a:lnTo>
                    <a:pt x="0" y="0"/>
                  </a:lnTo>
                  <a:lnTo>
                    <a:pt x="407003" y="162801"/>
                  </a:lnTo>
                  <a:lnTo>
                    <a:pt x="814006" y="0"/>
                  </a:lnTo>
                  <a:lnTo>
                    <a:pt x="814006" y="813957"/>
                  </a:lnTo>
                  <a:lnTo>
                    <a:pt x="407003" y="97675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074" y="1895474"/>
              <a:ext cx="814069" cy="977265"/>
            </a:xfrm>
            <a:custGeom>
              <a:avLst/>
              <a:gdLst/>
              <a:ahLst/>
              <a:cxnLst/>
              <a:rect l="l" t="t" r="r" b="b"/>
              <a:pathLst>
                <a:path w="814069" h="977264">
                  <a:moveTo>
                    <a:pt x="0" y="813957"/>
                  </a:moveTo>
                  <a:lnTo>
                    <a:pt x="407003" y="976758"/>
                  </a:lnTo>
                  <a:lnTo>
                    <a:pt x="814006" y="813957"/>
                  </a:lnTo>
                  <a:lnTo>
                    <a:pt x="814006" y="0"/>
                  </a:lnTo>
                  <a:lnTo>
                    <a:pt x="407003" y="162801"/>
                  </a:lnTo>
                  <a:lnTo>
                    <a:pt x="0" y="0"/>
                  </a:lnTo>
                  <a:lnTo>
                    <a:pt x="0" y="813957"/>
                  </a:lnTo>
                  <a:close/>
                </a:path>
              </a:pathLst>
            </a:custGeom>
            <a:ln w="20350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3214" y="2252019"/>
              <a:ext cx="189485" cy="25488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0074" y="2876549"/>
              <a:ext cx="814069" cy="977265"/>
            </a:xfrm>
            <a:custGeom>
              <a:avLst/>
              <a:gdLst/>
              <a:ahLst/>
              <a:cxnLst/>
              <a:rect l="l" t="t" r="r" b="b"/>
              <a:pathLst>
                <a:path w="814069" h="977264">
                  <a:moveTo>
                    <a:pt x="407003" y="976758"/>
                  </a:moveTo>
                  <a:lnTo>
                    <a:pt x="0" y="813957"/>
                  </a:lnTo>
                  <a:lnTo>
                    <a:pt x="0" y="0"/>
                  </a:lnTo>
                  <a:lnTo>
                    <a:pt x="407003" y="162801"/>
                  </a:lnTo>
                  <a:lnTo>
                    <a:pt x="814006" y="0"/>
                  </a:lnTo>
                  <a:lnTo>
                    <a:pt x="814006" y="813957"/>
                  </a:lnTo>
                  <a:lnTo>
                    <a:pt x="407003" y="97675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0074" y="2876549"/>
              <a:ext cx="814069" cy="977265"/>
            </a:xfrm>
            <a:custGeom>
              <a:avLst/>
              <a:gdLst/>
              <a:ahLst/>
              <a:cxnLst/>
              <a:rect l="l" t="t" r="r" b="b"/>
              <a:pathLst>
                <a:path w="814069" h="977264">
                  <a:moveTo>
                    <a:pt x="0" y="813957"/>
                  </a:moveTo>
                  <a:lnTo>
                    <a:pt x="407003" y="976758"/>
                  </a:lnTo>
                  <a:lnTo>
                    <a:pt x="814006" y="813957"/>
                  </a:lnTo>
                  <a:lnTo>
                    <a:pt x="814006" y="0"/>
                  </a:lnTo>
                  <a:lnTo>
                    <a:pt x="407003" y="162801"/>
                  </a:lnTo>
                  <a:lnTo>
                    <a:pt x="0" y="0"/>
                  </a:lnTo>
                  <a:lnTo>
                    <a:pt x="0" y="813957"/>
                  </a:lnTo>
                  <a:close/>
                </a:path>
              </a:pathLst>
            </a:custGeom>
            <a:ln w="20350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250" y="3252869"/>
              <a:ext cx="255180" cy="21563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0074" y="3848099"/>
              <a:ext cx="814069" cy="977265"/>
            </a:xfrm>
            <a:custGeom>
              <a:avLst/>
              <a:gdLst/>
              <a:ahLst/>
              <a:cxnLst/>
              <a:rect l="l" t="t" r="r" b="b"/>
              <a:pathLst>
                <a:path w="814069" h="977264">
                  <a:moveTo>
                    <a:pt x="407003" y="976758"/>
                  </a:moveTo>
                  <a:lnTo>
                    <a:pt x="0" y="813957"/>
                  </a:lnTo>
                  <a:lnTo>
                    <a:pt x="0" y="0"/>
                  </a:lnTo>
                  <a:lnTo>
                    <a:pt x="407003" y="162801"/>
                  </a:lnTo>
                  <a:lnTo>
                    <a:pt x="814006" y="0"/>
                  </a:lnTo>
                  <a:lnTo>
                    <a:pt x="814006" y="813957"/>
                  </a:lnTo>
                  <a:lnTo>
                    <a:pt x="407003" y="976758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0074" y="3848099"/>
              <a:ext cx="814069" cy="977265"/>
            </a:xfrm>
            <a:custGeom>
              <a:avLst/>
              <a:gdLst/>
              <a:ahLst/>
              <a:cxnLst/>
              <a:rect l="l" t="t" r="r" b="b"/>
              <a:pathLst>
                <a:path w="814069" h="977264">
                  <a:moveTo>
                    <a:pt x="0" y="813957"/>
                  </a:moveTo>
                  <a:lnTo>
                    <a:pt x="407003" y="976758"/>
                  </a:lnTo>
                  <a:lnTo>
                    <a:pt x="814006" y="813957"/>
                  </a:lnTo>
                  <a:lnTo>
                    <a:pt x="814006" y="0"/>
                  </a:lnTo>
                  <a:lnTo>
                    <a:pt x="407003" y="162801"/>
                  </a:lnTo>
                  <a:lnTo>
                    <a:pt x="0" y="0"/>
                  </a:lnTo>
                  <a:lnTo>
                    <a:pt x="0" y="813957"/>
                  </a:lnTo>
                  <a:close/>
                </a:path>
              </a:pathLst>
            </a:custGeom>
            <a:ln w="20350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0418" y="4215405"/>
              <a:ext cx="254866" cy="25243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00074" y="4829174"/>
              <a:ext cx="814069" cy="1125220"/>
            </a:xfrm>
            <a:custGeom>
              <a:avLst/>
              <a:gdLst/>
              <a:ahLst/>
              <a:cxnLst/>
              <a:rect l="l" t="t" r="r" b="b"/>
              <a:pathLst>
                <a:path w="814069" h="1125220">
                  <a:moveTo>
                    <a:pt x="407003" y="1124991"/>
                  </a:moveTo>
                  <a:lnTo>
                    <a:pt x="0" y="962190"/>
                  </a:lnTo>
                  <a:lnTo>
                    <a:pt x="0" y="0"/>
                  </a:lnTo>
                  <a:lnTo>
                    <a:pt x="407003" y="162801"/>
                  </a:lnTo>
                  <a:lnTo>
                    <a:pt x="814006" y="0"/>
                  </a:lnTo>
                  <a:lnTo>
                    <a:pt x="814006" y="962190"/>
                  </a:lnTo>
                  <a:lnTo>
                    <a:pt x="407003" y="1124991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0074" y="4829174"/>
              <a:ext cx="814069" cy="1125220"/>
            </a:xfrm>
            <a:custGeom>
              <a:avLst/>
              <a:gdLst/>
              <a:ahLst/>
              <a:cxnLst/>
              <a:rect l="l" t="t" r="r" b="b"/>
              <a:pathLst>
                <a:path w="814069" h="1125220">
                  <a:moveTo>
                    <a:pt x="0" y="962190"/>
                  </a:moveTo>
                  <a:lnTo>
                    <a:pt x="407003" y="1124991"/>
                  </a:lnTo>
                  <a:lnTo>
                    <a:pt x="814006" y="962190"/>
                  </a:lnTo>
                  <a:lnTo>
                    <a:pt x="814006" y="0"/>
                  </a:lnTo>
                  <a:lnTo>
                    <a:pt x="407003" y="162801"/>
                  </a:lnTo>
                  <a:lnTo>
                    <a:pt x="0" y="0"/>
                  </a:lnTo>
                  <a:lnTo>
                    <a:pt x="0" y="962190"/>
                  </a:lnTo>
                  <a:close/>
                </a:path>
              </a:pathLst>
            </a:custGeom>
            <a:ln w="20350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3089" y="5261919"/>
              <a:ext cx="249549" cy="25488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87077" y="1310417"/>
            <a:ext cx="10234930" cy="44786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466725">
              <a:lnSpc>
                <a:spcPct val="105000"/>
              </a:lnSpc>
              <a:spcBef>
                <a:spcPts val="55"/>
              </a:spcBef>
            </a:pP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TabPy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allows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Tableau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execute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55">
                <a:solidFill>
                  <a:srgbClr val="66534E"/>
                </a:solidFill>
                <a:latin typeface="Verdana"/>
                <a:cs typeface="Verdana"/>
              </a:rPr>
              <a:t>Python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scripts,</a:t>
            </a:r>
            <a:r>
              <a:rPr sz="1250" spc="-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45">
                <a:solidFill>
                  <a:srgbClr val="66534E"/>
                </a:solidFill>
                <a:latin typeface="Verdana"/>
                <a:cs typeface="Verdana"/>
              </a:rPr>
              <a:t>bringing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advanced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analytics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directly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into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your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dashboards.</a:t>
            </a:r>
            <a:r>
              <a:rPr sz="1250" spc="-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66534E"/>
                </a:solidFill>
                <a:latin typeface="Verdana"/>
                <a:cs typeface="Verdana"/>
              </a:rPr>
              <a:t>Here's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60">
                <a:solidFill>
                  <a:srgbClr val="66534E"/>
                </a:solidFill>
                <a:latin typeface="Verdana"/>
                <a:cs typeface="Verdana"/>
              </a:rPr>
              <a:t>how</a:t>
            </a:r>
            <a:r>
              <a:rPr sz="1250" spc="-3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25">
                <a:solidFill>
                  <a:srgbClr val="66534E"/>
                </a:solidFill>
                <a:latin typeface="Verdana"/>
                <a:cs typeface="Verdana"/>
              </a:rPr>
              <a:t>it </a:t>
            </a:r>
            <a:r>
              <a:rPr sz="1250" spc="-10">
                <a:solidFill>
                  <a:srgbClr val="66534E"/>
                </a:solidFill>
                <a:latin typeface="Verdana"/>
                <a:cs typeface="Verdana"/>
              </a:rPr>
              <a:t>works: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250">
              <a:latin typeface="Verdana"/>
              <a:cs typeface="Verdana"/>
            </a:endParaRPr>
          </a:p>
          <a:p>
            <a:pPr marL="975994">
              <a:lnSpc>
                <a:spcPct val="100000"/>
              </a:lnSpc>
            </a:pPr>
            <a:r>
              <a:rPr sz="1850" spc="-20">
                <a:solidFill>
                  <a:srgbClr val="66534E"/>
                </a:solidFill>
                <a:latin typeface="Tahoma"/>
                <a:cs typeface="Tahoma"/>
              </a:rPr>
              <a:t>Launch</a:t>
            </a:r>
            <a:r>
              <a:rPr sz="1850" spc="-7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850" spc="-60">
                <a:solidFill>
                  <a:srgbClr val="66534E"/>
                </a:solidFill>
                <a:latin typeface="Tahoma"/>
                <a:cs typeface="Tahoma"/>
              </a:rPr>
              <a:t>TabPy</a:t>
            </a:r>
            <a:r>
              <a:rPr sz="1850" spc="-7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850" spc="-10">
                <a:solidFill>
                  <a:srgbClr val="66534E"/>
                </a:solidFill>
                <a:latin typeface="Tahoma"/>
                <a:cs typeface="Tahoma"/>
              </a:rPr>
              <a:t>Container</a:t>
            </a:r>
            <a:endParaRPr sz="1850">
              <a:latin typeface="Tahoma"/>
              <a:cs typeface="Tahoma"/>
            </a:endParaRPr>
          </a:p>
          <a:p>
            <a:pPr marL="975994">
              <a:lnSpc>
                <a:spcPct val="100000"/>
              </a:lnSpc>
              <a:spcBef>
                <a:spcPts val="930"/>
              </a:spcBef>
            </a:pP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Start</a:t>
            </a:r>
            <a:r>
              <a:rPr sz="1250" spc="-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your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Docker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container</a:t>
            </a:r>
            <a:r>
              <a:rPr sz="125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with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TabPy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25">
                <a:solidFill>
                  <a:srgbClr val="66534E"/>
                </a:solidFill>
                <a:latin typeface="Verdana"/>
                <a:cs typeface="Verdana"/>
              </a:rPr>
              <a:t>server</a:t>
            </a:r>
            <a:r>
              <a:rPr sz="125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66534E"/>
                </a:solidFill>
                <a:latin typeface="Verdana"/>
                <a:cs typeface="Verdana"/>
              </a:rPr>
              <a:t>running.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Verdana"/>
              <a:cs typeface="Verdana"/>
            </a:endParaRPr>
          </a:p>
          <a:p>
            <a:pPr marL="975994">
              <a:lnSpc>
                <a:spcPct val="100000"/>
              </a:lnSpc>
              <a:spcBef>
                <a:spcPts val="5"/>
              </a:spcBef>
            </a:pPr>
            <a:r>
              <a:rPr sz="1850">
                <a:solidFill>
                  <a:srgbClr val="66534E"/>
                </a:solidFill>
                <a:latin typeface="Tahoma"/>
                <a:cs typeface="Tahoma"/>
              </a:rPr>
              <a:t>Connect</a:t>
            </a:r>
            <a:r>
              <a:rPr sz="1850" spc="6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850" spc="-30">
                <a:solidFill>
                  <a:srgbClr val="66534E"/>
                </a:solidFill>
                <a:latin typeface="Tahoma"/>
                <a:cs typeface="Tahoma"/>
              </a:rPr>
              <a:t>Tableau</a:t>
            </a:r>
            <a:r>
              <a:rPr sz="1850" spc="6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850" spc="-10">
                <a:solidFill>
                  <a:srgbClr val="66534E"/>
                </a:solidFill>
                <a:latin typeface="Tahoma"/>
                <a:cs typeface="Tahoma"/>
              </a:rPr>
              <a:t>Desktop</a:t>
            </a:r>
            <a:endParaRPr sz="1850">
              <a:latin typeface="Tahoma"/>
              <a:cs typeface="Tahoma"/>
            </a:endParaRPr>
          </a:p>
          <a:p>
            <a:pPr marL="975994">
              <a:lnSpc>
                <a:spcPct val="100000"/>
              </a:lnSpc>
              <a:spcBef>
                <a:spcPts val="930"/>
              </a:spcBef>
            </a:pP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Configure</a:t>
            </a:r>
            <a:r>
              <a:rPr sz="125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Tableau</a:t>
            </a:r>
            <a:r>
              <a:rPr sz="1250" spc="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Desktop</a:t>
            </a:r>
            <a:r>
              <a:rPr sz="125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250" spc="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point</a:t>
            </a:r>
            <a:r>
              <a:rPr sz="125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250" spc="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250" spc="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50">
                <a:solidFill>
                  <a:srgbClr val="66534E"/>
                </a:solidFill>
                <a:latin typeface="Verdana"/>
                <a:cs typeface="Verdana"/>
              </a:rPr>
              <a:t>running</a:t>
            </a:r>
            <a:r>
              <a:rPr sz="125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TabPy</a:t>
            </a:r>
            <a:r>
              <a:rPr sz="1250" spc="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66534E"/>
                </a:solidFill>
                <a:latin typeface="Verdana"/>
                <a:cs typeface="Verdana"/>
              </a:rPr>
              <a:t>container.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250">
              <a:latin typeface="Verdana"/>
              <a:cs typeface="Verdana"/>
            </a:endParaRPr>
          </a:p>
          <a:p>
            <a:pPr marL="975994">
              <a:lnSpc>
                <a:spcPct val="100000"/>
              </a:lnSpc>
            </a:pPr>
            <a:r>
              <a:rPr sz="1850">
                <a:solidFill>
                  <a:srgbClr val="66534E"/>
                </a:solidFill>
                <a:latin typeface="Tahoma"/>
                <a:cs typeface="Tahoma"/>
              </a:rPr>
              <a:t>Embed</a:t>
            </a:r>
            <a:r>
              <a:rPr sz="1850" spc="-7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850">
                <a:solidFill>
                  <a:srgbClr val="66534E"/>
                </a:solidFill>
                <a:latin typeface="Tahoma"/>
                <a:cs typeface="Tahoma"/>
              </a:rPr>
              <a:t>Python</a:t>
            </a:r>
            <a:r>
              <a:rPr sz="1850" spc="-6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850" spc="-10">
                <a:solidFill>
                  <a:srgbClr val="66534E"/>
                </a:solidFill>
                <a:latin typeface="Tahoma"/>
                <a:cs typeface="Tahoma"/>
              </a:rPr>
              <a:t>Script</a:t>
            </a:r>
            <a:endParaRPr sz="1850">
              <a:latin typeface="Tahoma"/>
              <a:cs typeface="Tahoma"/>
            </a:endParaRPr>
          </a:p>
          <a:p>
            <a:pPr marL="975994">
              <a:lnSpc>
                <a:spcPct val="100000"/>
              </a:lnSpc>
              <a:spcBef>
                <a:spcPts val="930"/>
              </a:spcBef>
            </a:pP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Write your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55">
                <a:solidFill>
                  <a:srgbClr val="66534E"/>
                </a:solidFill>
                <a:latin typeface="Verdana"/>
                <a:cs typeface="Verdana"/>
              </a:rPr>
              <a:t>Python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script directly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within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Tableau calculated</a:t>
            </a:r>
            <a:r>
              <a:rPr sz="125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66534E"/>
                </a:solidFill>
                <a:latin typeface="Verdana"/>
                <a:cs typeface="Verdana"/>
              </a:rPr>
              <a:t>field.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50">
              <a:latin typeface="Verdana"/>
              <a:cs typeface="Verdana"/>
            </a:endParaRPr>
          </a:p>
          <a:p>
            <a:pPr marL="975994">
              <a:lnSpc>
                <a:spcPct val="100000"/>
              </a:lnSpc>
            </a:pPr>
            <a:r>
              <a:rPr sz="1850" spc="-50">
                <a:solidFill>
                  <a:srgbClr val="66534E"/>
                </a:solidFill>
                <a:latin typeface="Tahoma"/>
                <a:cs typeface="Tahoma"/>
              </a:rPr>
              <a:t>Instant</a:t>
            </a:r>
            <a:r>
              <a:rPr sz="1850" spc="-75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850" spc="-10">
                <a:solidFill>
                  <a:srgbClr val="66534E"/>
                </a:solidFill>
                <a:latin typeface="Tahoma"/>
                <a:cs typeface="Tahoma"/>
              </a:rPr>
              <a:t>Results</a:t>
            </a:r>
            <a:endParaRPr sz="1850">
              <a:latin typeface="Tahoma"/>
              <a:cs typeface="Tahoma"/>
            </a:endParaRPr>
          </a:p>
          <a:p>
            <a:pPr marL="975994" marR="5080">
              <a:lnSpc>
                <a:spcPct val="105000"/>
              </a:lnSpc>
              <a:spcBef>
                <a:spcPts val="855"/>
              </a:spcBef>
            </a:pP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Inside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container,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TabPy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runs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code,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generates</a:t>
            </a:r>
            <a:r>
              <a:rPr sz="1250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a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prediction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or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cluster, </a:t>
            </a:r>
            <a:r>
              <a:rPr sz="1250" spc="50">
                <a:solidFill>
                  <a:srgbClr val="66534E"/>
                </a:solidFill>
                <a:latin typeface="Verdana"/>
                <a:cs typeface="Verdana"/>
              </a:rPr>
              <a:t>and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sends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250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result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back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to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>
                <a:solidFill>
                  <a:srgbClr val="66534E"/>
                </a:solidFill>
                <a:latin typeface="Verdana"/>
                <a:cs typeface="Verdana"/>
              </a:rPr>
              <a:t>the</a:t>
            </a:r>
            <a:r>
              <a:rPr sz="125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250" spc="-10">
                <a:solidFill>
                  <a:srgbClr val="66534E"/>
                </a:solidFill>
                <a:latin typeface="Verdana"/>
                <a:cs typeface="Verdana"/>
              </a:rPr>
              <a:t>chart instantly.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525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FFFFF4">
              <a:alpha val="9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589184"/>
            <a:ext cx="8673465" cy="606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800" spc="-45">
                <a:solidFill>
                  <a:srgbClr val="522317"/>
                </a:solidFill>
              </a:rPr>
              <a:t>Industry</a:t>
            </a:r>
            <a:r>
              <a:rPr sz="3800" spc="-210">
                <a:solidFill>
                  <a:srgbClr val="522317"/>
                </a:solidFill>
              </a:rPr>
              <a:t> </a:t>
            </a:r>
            <a:r>
              <a:rPr sz="3800">
                <a:solidFill>
                  <a:srgbClr val="522317"/>
                </a:solidFill>
              </a:rPr>
              <a:t>Relevance</a:t>
            </a:r>
            <a:r>
              <a:rPr sz="3800" spc="-210">
                <a:solidFill>
                  <a:srgbClr val="522317"/>
                </a:solidFill>
              </a:rPr>
              <a:t> </a:t>
            </a:r>
            <a:r>
              <a:rPr sz="3800" spc="355">
                <a:solidFill>
                  <a:srgbClr val="522317"/>
                </a:solidFill>
              </a:rPr>
              <a:t>&amp;</a:t>
            </a:r>
            <a:r>
              <a:rPr sz="3800" spc="-210">
                <a:solidFill>
                  <a:srgbClr val="522317"/>
                </a:solidFill>
              </a:rPr>
              <a:t> </a:t>
            </a:r>
            <a:r>
              <a:rPr sz="3800" spc="-10">
                <a:solidFill>
                  <a:srgbClr val="522317"/>
                </a:solidFill>
              </a:rPr>
              <a:t>Recommendations</a:t>
            </a:r>
            <a:endParaRPr sz="3800"/>
          </a:p>
        </p:txBody>
      </p:sp>
      <p:sp>
        <p:nvSpPr>
          <p:cNvPr id="4" name="object 4"/>
          <p:cNvSpPr/>
          <p:nvPr/>
        </p:nvSpPr>
        <p:spPr>
          <a:xfrm>
            <a:off x="647700" y="25241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47700" y="2800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6652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7466" y="1286033"/>
            <a:ext cx="7855584" cy="1637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>
                <a:solidFill>
                  <a:srgbClr val="522317"/>
                </a:solidFill>
                <a:latin typeface="Tahoma"/>
                <a:cs typeface="Tahoma"/>
              </a:rPr>
              <a:t>Key</a:t>
            </a:r>
            <a:r>
              <a:rPr sz="3050" spc="-14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3050" spc="-40">
                <a:solidFill>
                  <a:srgbClr val="522317"/>
                </a:solidFill>
                <a:latin typeface="Tahoma"/>
                <a:cs typeface="Tahoma"/>
              </a:rPr>
              <a:t>Industry</a:t>
            </a:r>
            <a:r>
              <a:rPr sz="3050" spc="-14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3050" spc="-10">
                <a:solidFill>
                  <a:srgbClr val="522317"/>
                </a:solidFill>
                <a:latin typeface="Tahoma"/>
                <a:cs typeface="Tahoma"/>
              </a:rPr>
              <a:t>Use</a:t>
            </a:r>
            <a:r>
              <a:rPr sz="3050" spc="-140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3050" spc="-10">
                <a:solidFill>
                  <a:srgbClr val="522317"/>
                </a:solidFill>
                <a:latin typeface="Tahoma"/>
                <a:cs typeface="Tahoma"/>
              </a:rPr>
              <a:t>Cases</a:t>
            </a:r>
            <a:endParaRPr sz="3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Docker's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30">
                <a:solidFill>
                  <a:srgbClr val="66524F"/>
                </a:solidFill>
                <a:latin typeface="Verdana"/>
                <a:cs typeface="Verdana"/>
              </a:rPr>
              <a:t>versatility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has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55">
                <a:solidFill>
                  <a:srgbClr val="66524F"/>
                </a:solidFill>
                <a:latin typeface="Verdana"/>
                <a:cs typeface="Verdana"/>
              </a:rPr>
              <a:t>made</a:t>
            </a:r>
            <a:r>
              <a:rPr sz="1300" spc="-1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it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a</a:t>
            </a:r>
            <a:r>
              <a:rPr sz="1300" spc="-1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cornerstone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in</a:t>
            </a:r>
            <a:r>
              <a:rPr sz="1300" spc="-1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modern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software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development</a:t>
            </a:r>
            <a:r>
              <a:rPr sz="1300" spc="-1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00" spc="-2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research:</a:t>
            </a:r>
            <a:endParaRPr sz="1300">
              <a:latin typeface="Verdana"/>
              <a:cs typeface="Verdana"/>
            </a:endParaRPr>
          </a:p>
          <a:p>
            <a:pPr marL="281305">
              <a:lnSpc>
                <a:spcPct val="100000"/>
              </a:lnSpc>
              <a:spcBef>
                <a:spcPts val="1515"/>
              </a:spcBef>
            </a:pPr>
            <a:r>
              <a:rPr sz="1300" b="1" spc="60">
                <a:solidFill>
                  <a:srgbClr val="66524F"/>
                </a:solidFill>
                <a:latin typeface="Tahoma"/>
                <a:cs typeface="Tahoma"/>
              </a:rPr>
              <a:t>Cloud</a:t>
            </a:r>
            <a:r>
              <a:rPr sz="1300" b="1" spc="8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00" b="1">
                <a:solidFill>
                  <a:srgbClr val="66524F"/>
                </a:solidFill>
                <a:latin typeface="Tahoma"/>
                <a:cs typeface="Tahoma"/>
              </a:rPr>
              <a:t>&amp;</a:t>
            </a:r>
            <a:r>
              <a:rPr sz="1300" b="1" spc="8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00" b="1">
                <a:solidFill>
                  <a:srgbClr val="66524F"/>
                </a:solidFill>
                <a:latin typeface="Tahoma"/>
                <a:cs typeface="Tahoma"/>
              </a:rPr>
              <a:t>DevOps:</a:t>
            </a:r>
            <a:r>
              <a:rPr sz="1300" b="1" spc="5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Used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in</a:t>
            </a:r>
            <a:r>
              <a:rPr sz="1300" spc="-3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cloud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55">
                <a:solidFill>
                  <a:srgbClr val="66524F"/>
                </a:solidFill>
                <a:latin typeface="Verdana"/>
                <a:cs typeface="Verdana"/>
              </a:rPr>
              <a:t>computing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and</a:t>
            </a:r>
            <a:r>
              <a:rPr sz="1300" spc="-3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CI/CD</a:t>
            </a:r>
            <a:r>
              <a:rPr sz="1300" spc="-2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pipelines.</a:t>
            </a:r>
            <a:endParaRPr sz="1300">
              <a:latin typeface="Verdana"/>
              <a:cs typeface="Verdana"/>
            </a:endParaRPr>
          </a:p>
          <a:p>
            <a:pPr marL="281305">
              <a:lnSpc>
                <a:spcPct val="100000"/>
              </a:lnSpc>
              <a:spcBef>
                <a:spcPts val="615"/>
              </a:spcBef>
            </a:pPr>
            <a:r>
              <a:rPr sz="1300" b="1" spc="75">
                <a:solidFill>
                  <a:srgbClr val="66524F"/>
                </a:solidFill>
                <a:latin typeface="Tahoma"/>
                <a:cs typeface="Tahoma"/>
              </a:rPr>
              <a:t>Academic</a:t>
            </a:r>
            <a:r>
              <a:rPr sz="1300" b="1" spc="55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00" b="1">
                <a:solidFill>
                  <a:srgbClr val="66524F"/>
                </a:solidFill>
                <a:latin typeface="Tahoma"/>
                <a:cs typeface="Tahoma"/>
              </a:rPr>
              <a:t>Use:</a:t>
            </a:r>
            <a:r>
              <a:rPr sz="1300" b="1" spc="30">
                <a:solidFill>
                  <a:srgbClr val="66524F"/>
                </a:solidFill>
                <a:latin typeface="Tahoma"/>
                <a:cs typeface="Tahom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Ensures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projects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run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the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same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across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different</a:t>
            </a:r>
            <a:r>
              <a:rPr sz="1300" spc="-50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systems.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350" y="3171825"/>
            <a:ext cx="752475" cy="514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48075" y="3171825"/>
            <a:ext cx="685800" cy="5143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00600" y="3171825"/>
            <a:ext cx="904875" cy="5143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72200" y="3171825"/>
            <a:ext cx="619125" cy="5143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67575" y="3171825"/>
            <a:ext cx="771525" cy="5143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05825" y="3171825"/>
            <a:ext cx="504825" cy="51435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07466" y="4095908"/>
            <a:ext cx="9349105" cy="1541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50" spc="105">
                <a:solidFill>
                  <a:srgbClr val="522317"/>
                </a:solidFill>
                <a:latin typeface="Tahoma"/>
                <a:cs typeface="Tahoma"/>
              </a:rPr>
              <a:t>Our</a:t>
            </a:r>
            <a:r>
              <a:rPr sz="3050" spc="-105">
                <a:solidFill>
                  <a:srgbClr val="522317"/>
                </a:solidFill>
                <a:latin typeface="Tahoma"/>
                <a:cs typeface="Tahoma"/>
              </a:rPr>
              <a:t> </a:t>
            </a:r>
            <a:r>
              <a:rPr sz="3050" spc="-10">
                <a:solidFill>
                  <a:srgbClr val="522317"/>
                </a:solidFill>
                <a:latin typeface="Tahoma"/>
                <a:cs typeface="Tahoma"/>
              </a:rPr>
              <a:t>Recommendation</a:t>
            </a:r>
            <a:endParaRPr sz="3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sz="1300" spc="60">
                <a:solidFill>
                  <a:srgbClr val="66524F"/>
                </a:solidFill>
                <a:latin typeface="Verdana"/>
                <a:cs typeface="Verdana"/>
              </a:rPr>
              <a:t>We</a:t>
            </a:r>
            <a:r>
              <a:rPr sz="1300" spc="-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50">
                <a:solidFill>
                  <a:srgbClr val="66524F"/>
                </a:solidFill>
                <a:latin typeface="Verdana"/>
                <a:cs typeface="Verdana"/>
              </a:rPr>
              <a:t>recommend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 utilizing</a:t>
            </a:r>
            <a:r>
              <a:rPr sz="1300" spc="-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Docker within</a:t>
            </a:r>
            <a:r>
              <a:rPr sz="1300" spc="-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your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 projects to</a:t>
            </a:r>
            <a:r>
              <a:rPr sz="1300" spc="-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significantly</a:t>
            </a:r>
            <a:r>
              <a:rPr sz="1300" spc="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enhance collaboration</a:t>
            </a:r>
            <a:r>
              <a:rPr sz="1300" spc="-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and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reproducibility.</a:t>
            </a:r>
            <a:endParaRPr sz="13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60"/>
              </a:spcBef>
            </a:pPr>
            <a:endParaRPr sz="1300">
              <a:latin typeface="Verdana"/>
              <a:cs typeface="Verdana"/>
            </a:endParaRPr>
          </a:p>
          <a:p>
            <a:pPr marL="264795">
              <a:lnSpc>
                <a:spcPct val="100000"/>
              </a:lnSpc>
            </a:pP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Use Docker to</a:t>
            </a:r>
            <a:r>
              <a:rPr sz="1300" spc="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share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 both</a:t>
            </a:r>
            <a:r>
              <a:rPr sz="1300" spc="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>
                <a:solidFill>
                  <a:srgbClr val="66524F"/>
                </a:solidFill>
                <a:latin typeface="Verdana"/>
                <a:cs typeface="Verdana"/>
              </a:rPr>
              <a:t>code and</a:t>
            </a:r>
            <a:r>
              <a:rPr sz="1300" spc="5">
                <a:solidFill>
                  <a:srgbClr val="66524F"/>
                </a:solidFill>
                <a:latin typeface="Verdana"/>
                <a:cs typeface="Verdana"/>
              </a:rPr>
              <a:t> </a:t>
            </a:r>
            <a:r>
              <a:rPr sz="1300" spc="-10">
                <a:solidFill>
                  <a:srgbClr val="66524F"/>
                </a:solidFill>
                <a:latin typeface="Verdana"/>
                <a:cs typeface="Verdana"/>
              </a:rPr>
              <a:t>environment.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125" y="5257801"/>
            <a:ext cx="19050" cy="571500"/>
          </a:xfrm>
          <a:custGeom>
            <a:avLst/>
            <a:gdLst/>
            <a:ahLst/>
            <a:cxnLst/>
            <a:rect l="l" t="t" r="r" b="b"/>
            <a:pathLst>
              <a:path w="19050" h="571500">
                <a:moveTo>
                  <a:pt x="19050" y="0"/>
                </a:moveTo>
                <a:lnTo>
                  <a:pt x="0" y="0"/>
                </a:lnTo>
                <a:lnTo>
                  <a:pt x="0" y="571500"/>
                </a:lnTo>
                <a:lnTo>
                  <a:pt x="19050" y="571500"/>
                </a:lnTo>
                <a:lnTo>
                  <a:pt x="19050" y="0"/>
                </a:lnTo>
                <a:close/>
              </a:path>
            </a:pathLst>
          </a:custGeom>
          <a:solidFill>
            <a:srgbClr val="FF944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7466" y="627475"/>
            <a:ext cx="6807200" cy="5149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/>
              <a:t>Docker:</a:t>
            </a:r>
            <a:r>
              <a:rPr sz="3200" spc="-140"/>
              <a:t> </a:t>
            </a:r>
            <a:r>
              <a:rPr sz="3200"/>
              <a:t>Advantages</a:t>
            </a:r>
            <a:r>
              <a:rPr sz="3200" spc="-135"/>
              <a:t> </a:t>
            </a:r>
            <a:r>
              <a:rPr sz="3200" spc="300"/>
              <a:t>&amp;</a:t>
            </a:r>
            <a:r>
              <a:rPr sz="3200" spc="-140"/>
              <a:t> </a:t>
            </a:r>
            <a:r>
              <a:rPr sz="3200" spc="-10"/>
              <a:t>Considerations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619124" y="1409699"/>
            <a:ext cx="3324225" cy="419100"/>
            <a:chOff x="619124" y="1409699"/>
            <a:chExt cx="3324225" cy="419100"/>
          </a:xfrm>
        </p:grpSpPr>
        <p:sp>
          <p:nvSpPr>
            <p:cNvPr id="4" name="object 4"/>
            <p:cNvSpPr/>
            <p:nvPr/>
          </p:nvSpPr>
          <p:spPr>
            <a:xfrm>
              <a:off x="623887" y="1414462"/>
              <a:ext cx="3314700" cy="409575"/>
            </a:xfrm>
            <a:custGeom>
              <a:avLst/>
              <a:gdLst/>
              <a:ahLst/>
              <a:cxnLst/>
              <a:rect l="l" t="t" r="r" b="b"/>
              <a:pathLst>
                <a:path w="3314700" h="409575">
                  <a:moveTo>
                    <a:pt x="3116619" y="409574"/>
                  </a:moveTo>
                  <a:lnTo>
                    <a:pt x="198080" y="409574"/>
                  </a:lnTo>
                  <a:lnTo>
                    <a:pt x="191389" y="409246"/>
                  </a:lnTo>
                  <a:lnTo>
                    <a:pt x="151758" y="402703"/>
                  </a:lnTo>
                  <a:lnTo>
                    <a:pt x="114166" y="388555"/>
                  </a:lnTo>
                  <a:lnTo>
                    <a:pt x="80056" y="367345"/>
                  </a:lnTo>
                  <a:lnTo>
                    <a:pt x="50739" y="339887"/>
                  </a:lnTo>
                  <a:lnTo>
                    <a:pt x="27342" y="307238"/>
                  </a:lnTo>
                  <a:lnTo>
                    <a:pt x="10765" y="270652"/>
                  </a:lnTo>
                  <a:lnTo>
                    <a:pt x="1643" y="231535"/>
                  </a:lnTo>
                  <a:lnTo>
                    <a:pt x="0" y="20478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9" y="85436"/>
                  </a:lnTo>
                  <a:lnTo>
                    <a:pt x="64723" y="55238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116619" y="0"/>
                  </a:lnTo>
                  <a:lnTo>
                    <a:pt x="3156442" y="5243"/>
                  </a:lnTo>
                  <a:lnTo>
                    <a:pt x="3194477" y="18155"/>
                  </a:lnTo>
                  <a:lnTo>
                    <a:pt x="3229262" y="38239"/>
                  </a:lnTo>
                  <a:lnTo>
                    <a:pt x="3259461" y="64723"/>
                  </a:lnTo>
                  <a:lnTo>
                    <a:pt x="3283912" y="96590"/>
                  </a:lnTo>
                  <a:lnTo>
                    <a:pt x="3301677" y="132615"/>
                  </a:lnTo>
                  <a:lnTo>
                    <a:pt x="3312073" y="171413"/>
                  </a:lnTo>
                  <a:lnTo>
                    <a:pt x="3314699" y="198080"/>
                  </a:lnTo>
                  <a:lnTo>
                    <a:pt x="3314699" y="211494"/>
                  </a:lnTo>
                  <a:lnTo>
                    <a:pt x="3309455" y="251317"/>
                  </a:lnTo>
                  <a:lnTo>
                    <a:pt x="3296544" y="289352"/>
                  </a:lnTo>
                  <a:lnTo>
                    <a:pt x="3276460" y="324138"/>
                  </a:lnTo>
                  <a:lnTo>
                    <a:pt x="3249976" y="354336"/>
                  </a:lnTo>
                  <a:lnTo>
                    <a:pt x="3218109" y="378788"/>
                  </a:lnTo>
                  <a:lnTo>
                    <a:pt x="3182084" y="396552"/>
                  </a:lnTo>
                  <a:lnTo>
                    <a:pt x="3143285" y="406948"/>
                  </a:lnTo>
                  <a:lnTo>
                    <a:pt x="3116619" y="4095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3887" y="1414462"/>
              <a:ext cx="3314700" cy="409575"/>
            </a:xfrm>
            <a:custGeom>
              <a:avLst/>
              <a:gdLst/>
              <a:ahLst/>
              <a:cxnLst/>
              <a:rect l="l" t="t" r="r" b="b"/>
              <a:pathLst>
                <a:path w="3314700" h="409575">
                  <a:moveTo>
                    <a:pt x="0" y="204787"/>
                  </a:moveTo>
                  <a:lnTo>
                    <a:pt x="3934" y="164835"/>
                  </a:lnTo>
                  <a:lnTo>
                    <a:pt x="15588" y="126418"/>
                  </a:lnTo>
                  <a:lnTo>
                    <a:pt x="34512" y="91013"/>
                  </a:lnTo>
                  <a:lnTo>
                    <a:pt x="59980" y="59980"/>
                  </a:lnTo>
                  <a:lnTo>
                    <a:pt x="64723" y="55238"/>
                  </a:lnTo>
                  <a:lnTo>
                    <a:pt x="69687" y="50739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108251" y="24181"/>
                  </a:lnTo>
                  <a:lnTo>
                    <a:pt x="114166" y="21019"/>
                  </a:lnTo>
                  <a:lnTo>
                    <a:pt x="151758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3109912" y="0"/>
                  </a:lnTo>
                  <a:lnTo>
                    <a:pt x="3116619" y="0"/>
                  </a:lnTo>
                  <a:lnTo>
                    <a:pt x="3123310" y="328"/>
                  </a:lnTo>
                  <a:lnTo>
                    <a:pt x="3162940" y="6871"/>
                  </a:lnTo>
                  <a:lnTo>
                    <a:pt x="3200533" y="21019"/>
                  </a:lnTo>
                  <a:lnTo>
                    <a:pt x="3206448" y="24181"/>
                  </a:lnTo>
                  <a:lnTo>
                    <a:pt x="3212363" y="27342"/>
                  </a:lnTo>
                  <a:lnTo>
                    <a:pt x="3218109" y="30786"/>
                  </a:lnTo>
                  <a:lnTo>
                    <a:pt x="3223685" y="34512"/>
                  </a:lnTo>
                  <a:lnTo>
                    <a:pt x="3229262" y="38239"/>
                  </a:lnTo>
                  <a:lnTo>
                    <a:pt x="3234643" y="42229"/>
                  </a:lnTo>
                  <a:lnTo>
                    <a:pt x="3239827" y="46484"/>
                  </a:lnTo>
                  <a:lnTo>
                    <a:pt x="3245012" y="50739"/>
                  </a:lnTo>
                  <a:lnTo>
                    <a:pt x="3249976" y="55238"/>
                  </a:lnTo>
                  <a:lnTo>
                    <a:pt x="3254718" y="59980"/>
                  </a:lnTo>
                  <a:lnTo>
                    <a:pt x="3259461" y="64723"/>
                  </a:lnTo>
                  <a:lnTo>
                    <a:pt x="3283912" y="96590"/>
                  </a:lnTo>
                  <a:lnTo>
                    <a:pt x="3301677" y="132615"/>
                  </a:lnTo>
                  <a:lnTo>
                    <a:pt x="3310764" y="164835"/>
                  </a:lnTo>
                  <a:lnTo>
                    <a:pt x="3312073" y="171413"/>
                  </a:lnTo>
                  <a:lnTo>
                    <a:pt x="3313056" y="178040"/>
                  </a:lnTo>
                  <a:lnTo>
                    <a:pt x="3313713" y="184714"/>
                  </a:lnTo>
                  <a:lnTo>
                    <a:pt x="3314370" y="191389"/>
                  </a:lnTo>
                  <a:lnTo>
                    <a:pt x="3314699" y="198080"/>
                  </a:lnTo>
                  <a:lnTo>
                    <a:pt x="3314699" y="204787"/>
                  </a:lnTo>
                  <a:lnTo>
                    <a:pt x="3314699" y="211494"/>
                  </a:lnTo>
                  <a:lnTo>
                    <a:pt x="3314370" y="218185"/>
                  </a:lnTo>
                  <a:lnTo>
                    <a:pt x="3313713" y="224860"/>
                  </a:lnTo>
                  <a:lnTo>
                    <a:pt x="3313056" y="231535"/>
                  </a:lnTo>
                  <a:lnTo>
                    <a:pt x="3312073" y="238161"/>
                  </a:lnTo>
                  <a:lnTo>
                    <a:pt x="3310764" y="244739"/>
                  </a:lnTo>
                  <a:lnTo>
                    <a:pt x="3309455" y="251317"/>
                  </a:lnTo>
                  <a:lnTo>
                    <a:pt x="3307828" y="257815"/>
                  </a:lnTo>
                  <a:lnTo>
                    <a:pt x="3305881" y="264233"/>
                  </a:lnTo>
                  <a:lnTo>
                    <a:pt x="3303934" y="270652"/>
                  </a:lnTo>
                  <a:lnTo>
                    <a:pt x="3301677" y="276959"/>
                  </a:lnTo>
                  <a:lnTo>
                    <a:pt x="3299110" y="283156"/>
                  </a:lnTo>
                  <a:lnTo>
                    <a:pt x="3296544" y="289352"/>
                  </a:lnTo>
                  <a:lnTo>
                    <a:pt x="3280186" y="318561"/>
                  </a:lnTo>
                  <a:lnTo>
                    <a:pt x="3276460" y="324138"/>
                  </a:lnTo>
                  <a:lnTo>
                    <a:pt x="3272469" y="329518"/>
                  </a:lnTo>
                  <a:lnTo>
                    <a:pt x="3268214" y="334703"/>
                  </a:lnTo>
                  <a:lnTo>
                    <a:pt x="3263960" y="339887"/>
                  </a:lnTo>
                  <a:lnTo>
                    <a:pt x="3259461" y="344851"/>
                  </a:lnTo>
                  <a:lnTo>
                    <a:pt x="3254718" y="349594"/>
                  </a:lnTo>
                  <a:lnTo>
                    <a:pt x="3249976" y="354336"/>
                  </a:lnTo>
                  <a:lnTo>
                    <a:pt x="3245012" y="358835"/>
                  </a:lnTo>
                  <a:lnTo>
                    <a:pt x="3239827" y="363090"/>
                  </a:lnTo>
                  <a:lnTo>
                    <a:pt x="3234643" y="367345"/>
                  </a:lnTo>
                  <a:lnTo>
                    <a:pt x="3229262" y="371335"/>
                  </a:lnTo>
                  <a:lnTo>
                    <a:pt x="3223685" y="375061"/>
                  </a:lnTo>
                  <a:lnTo>
                    <a:pt x="3218109" y="378788"/>
                  </a:lnTo>
                  <a:lnTo>
                    <a:pt x="3212363" y="382232"/>
                  </a:lnTo>
                  <a:lnTo>
                    <a:pt x="3206448" y="385393"/>
                  </a:lnTo>
                  <a:lnTo>
                    <a:pt x="3200533" y="388555"/>
                  </a:lnTo>
                  <a:lnTo>
                    <a:pt x="3194477" y="391419"/>
                  </a:lnTo>
                  <a:lnTo>
                    <a:pt x="3188280" y="393986"/>
                  </a:lnTo>
                  <a:lnTo>
                    <a:pt x="3182084" y="396552"/>
                  </a:lnTo>
                  <a:lnTo>
                    <a:pt x="3175776" y="398809"/>
                  </a:lnTo>
                  <a:lnTo>
                    <a:pt x="3169358" y="400756"/>
                  </a:lnTo>
                  <a:lnTo>
                    <a:pt x="3162940" y="402703"/>
                  </a:lnTo>
                  <a:lnTo>
                    <a:pt x="3156442" y="404331"/>
                  </a:lnTo>
                  <a:lnTo>
                    <a:pt x="3149863" y="405639"/>
                  </a:lnTo>
                  <a:lnTo>
                    <a:pt x="3143285" y="406948"/>
                  </a:lnTo>
                  <a:lnTo>
                    <a:pt x="3136659" y="407931"/>
                  </a:lnTo>
                  <a:lnTo>
                    <a:pt x="3129984" y="408588"/>
                  </a:lnTo>
                  <a:lnTo>
                    <a:pt x="3123310" y="409246"/>
                  </a:lnTo>
                  <a:lnTo>
                    <a:pt x="3116619" y="409574"/>
                  </a:lnTo>
                  <a:lnTo>
                    <a:pt x="3109912" y="409574"/>
                  </a:lnTo>
                  <a:lnTo>
                    <a:pt x="204787" y="409574"/>
                  </a:lnTo>
                  <a:lnTo>
                    <a:pt x="198080" y="409574"/>
                  </a:lnTo>
                  <a:lnTo>
                    <a:pt x="191389" y="409246"/>
                  </a:lnTo>
                  <a:lnTo>
                    <a:pt x="151758" y="402703"/>
                  </a:lnTo>
                  <a:lnTo>
                    <a:pt x="126418" y="393986"/>
                  </a:lnTo>
                  <a:lnTo>
                    <a:pt x="120222" y="391419"/>
                  </a:lnTo>
                  <a:lnTo>
                    <a:pt x="91013" y="375061"/>
                  </a:lnTo>
                  <a:lnTo>
                    <a:pt x="85436" y="371335"/>
                  </a:lnTo>
                  <a:lnTo>
                    <a:pt x="80056" y="367345"/>
                  </a:lnTo>
                  <a:lnTo>
                    <a:pt x="74871" y="363090"/>
                  </a:lnTo>
                  <a:lnTo>
                    <a:pt x="69687" y="358835"/>
                  </a:lnTo>
                  <a:lnTo>
                    <a:pt x="42229" y="329518"/>
                  </a:lnTo>
                  <a:lnTo>
                    <a:pt x="34512" y="318561"/>
                  </a:lnTo>
                  <a:lnTo>
                    <a:pt x="30786" y="312984"/>
                  </a:lnTo>
                  <a:lnTo>
                    <a:pt x="13021" y="276959"/>
                  </a:lnTo>
                  <a:lnTo>
                    <a:pt x="8818" y="264233"/>
                  </a:lnTo>
                  <a:lnTo>
                    <a:pt x="6871" y="257815"/>
                  </a:lnTo>
                  <a:lnTo>
                    <a:pt x="328" y="218185"/>
                  </a:lnTo>
                  <a:lnTo>
                    <a:pt x="0" y="211494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18082" y="1514474"/>
              <a:ext cx="120014" cy="212725"/>
            </a:xfrm>
            <a:custGeom>
              <a:avLst/>
              <a:gdLst/>
              <a:ahLst/>
              <a:cxnLst/>
              <a:rect l="l" t="t" r="r" b="b"/>
              <a:pathLst>
                <a:path w="120014" h="212725">
                  <a:moveTo>
                    <a:pt x="5144" y="40978"/>
                  </a:moveTo>
                  <a:lnTo>
                    <a:pt x="62855" y="0"/>
                  </a:lnTo>
                </a:path>
                <a:path w="120014" h="212725">
                  <a:moveTo>
                    <a:pt x="62882" y="212452"/>
                  </a:moveTo>
                  <a:lnTo>
                    <a:pt x="62855" y="0"/>
                  </a:lnTo>
                </a:path>
                <a:path w="120014" h="212725">
                  <a:moveTo>
                    <a:pt x="0" y="212526"/>
                  </a:moveTo>
                  <a:lnTo>
                    <a:pt x="119762" y="212493"/>
                  </a:lnTo>
                </a:path>
              </a:pathLst>
            </a:custGeom>
            <a:ln w="9413">
              <a:solidFill>
                <a:srgbClr val="665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49151" y="1819311"/>
            <a:ext cx="2973705" cy="6223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-10">
                <a:solidFill>
                  <a:srgbClr val="66534E"/>
                </a:solidFill>
                <a:latin typeface="Tahoma"/>
                <a:cs typeface="Tahoma"/>
              </a:rPr>
              <a:t>Consistency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Eliminates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 "works</a:t>
            </a:r>
            <a:r>
              <a:rPr sz="1100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on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my</a:t>
            </a:r>
            <a:r>
              <a:rPr sz="1100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machine"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issues.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57649" y="1409699"/>
            <a:ext cx="3314700" cy="419100"/>
            <a:chOff x="4057649" y="1409699"/>
            <a:chExt cx="3314700" cy="419100"/>
          </a:xfrm>
        </p:grpSpPr>
        <p:sp>
          <p:nvSpPr>
            <p:cNvPr id="9" name="object 9"/>
            <p:cNvSpPr/>
            <p:nvPr/>
          </p:nvSpPr>
          <p:spPr>
            <a:xfrm>
              <a:off x="4062412" y="1414462"/>
              <a:ext cx="3305175" cy="409575"/>
            </a:xfrm>
            <a:custGeom>
              <a:avLst/>
              <a:gdLst/>
              <a:ahLst/>
              <a:cxnLst/>
              <a:rect l="l" t="t" r="r" b="b"/>
              <a:pathLst>
                <a:path w="3305175" h="409575">
                  <a:moveTo>
                    <a:pt x="3107094" y="409574"/>
                  </a:moveTo>
                  <a:lnTo>
                    <a:pt x="198080" y="409574"/>
                  </a:lnTo>
                  <a:lnTo>
                    <a:pt x="191389" y="409246"/>
                  </a:lnTo>
                  <a:lnTo>
                    <a:pt x="151759" y="402703"/>
                  </a:lnTo>
                  <a:lnTo>
                    <a:pt x="114166" y="388555"/>
                  </a:lnTo>
                  <a:lnTo>
                    <a:pt x="80056" y="367345"/>
                  </a:lnTo>
                  <a:lnTo>
                    <a:pt x="50739" y="339887"/>
                  </a:lnTo>
                  <a:lnTo>
                    <a:pt x="27342" y="307238"/>
                  </a:lnTo>
                  <a:lnTo>
                    <a:pt x="10764" y="270652"/>
                  </a:lnTo>
                  <a:lnTo>
                    <a:pt x="1643" y="231535"/>
                  </a:lnTo>
                  <a:lnTo>
                    <a:pt x="0" y="204787"/>
                  </a:lnTo>
                  <a:lnTo>
                    <a:pt x="0" y="198080"/>
                  </a:lnTo>
                  <a:lnTo>
                    <a:pt x="5243" y="158257"/>
                  </a:lnTo>
                  <a:lnTo>
                    <a:pt x="18155" y="120222"/>
                  </a:lnTo>
                  <a:lnTo>
                    <a:pt x="38238" y="85436"/>
                  </a:lnTo>
                  <a:lnTo>
                    <a:pt x="64723" y="55238"/>
                  </a:lnTo>
                  <a:lnTo>
                    <a:pt x="96589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107094" y="0"/>
                  </a:lnTo>
                  <a:lnTo>
                    <a:pt x="3146916" y="5243"/>
                  </a:lnTo>
                  <a:lnTo>
                    <a:pt x="3184951" y="18155"/>
                  </a:lnTo>
                  <a:lnTo>
                    <a:pt x="3219736" y="38239"/>
                  </a:lnTo>
                  <a:lnTo>
                    <a:pt x="3249935" y="64723"/>
                  </a:lnTo>
                  <a:lnTo>
                    <a:pt x="3274387" y="96590"/>
                  </a:lnTo>
                  <a:lnTo>
                    <a:pt x="3292152" y="132615"/>
                  </a:lnTo>
                  <a:lnTo>
                    <a:pt x="3302548" y="171413"/>
                  </a:lnTo>
                  <a:lnTo>
                    <a:pt x="3305175" y="198080"/>
                  </a:lnTo>
                  <a:lnTo>
                    <a:pt x="3305175" y="211494"/>
                  </a:lnTo>
                  <a:lnTo>
                    <a:pt x="3299930" y="251317"/>
                  </a:lnTo>
                  <a:lnTo>
                    <a:pt x="3287018" y="289352"/>
                  </a:lnTo>
                  <a:lnTo>
                    <a:pt x="3266934" y="324138"/>
                  </a:lnTo>
                  <a:lnTo>
                    <a:pt x="3240450" y="354336"/>
                  </a:lnTo>
                  <a:lnTo>
                    <a:pt x="3208583" y="378788"/>
                  </a:lnTo>
                  <a:lnTo>
                    <a:pt x="3172559" y="396552"/>
                  </a:lnTo>
                  <a:lnTo>
                    <a:pt x="3133760" y="406948"/>
                  </a:lnTo>
                  <a:lnTo>
                    <a:pt x="3107094" y="4095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2412" y="1414462"/>
              <a:ext cx="3305175" cy="409575"/>
            </a:xfrm>
            <a:custGeom>
              <a:avLst/>
              <a:gdLst/>
              <a:ahLst/>
              <a:cxnLst/>
              <a:rect l="l" t="t" r="r" b="b"/>
              <a:pathLst>
                <a:path w="3305175" h="409575">
                  <a:moveTo>
                    <a:pt x="0" y="204787"/>
                  </a:moveTo>
                  <a:lnTo>
                    <a:pt x="0" y="198080"/>
                  </a:lnTo>
                  <a:lnTo>
                    <a:pt x="329" y="191389"/>
                  </a:lnTo>
                  <a:lnTo>
                    <a:pt x="986" y="184714"/>
                  </a:lnTo>
                  <a:lnTo>
                    <a:pt x="1643" y="178040"/>
                  </a:lnTo>
                  <a:lnTo>
                    <a:pt x="10764" y="138922"/>
                  </a:lnTo>
                  <a:lnTo>
                    <a:pt x="27342" y="102336"/>
                  </a:lnTo>
                  <a:lnTo>
                    <a:pt x="50739" y="69687"/>
                  </a:lnTo>
                  <a:lnTo>
                    <a:pt x="80056" y="42229"/>
                  </a:lnTo>
                  <a:lnTo>
                    <a:pt x="114166" y="21019"/>
                  </a:lnTo>
                  <a:lnTo>
                    <a:pt x="151759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3100387" y="0"/>
                  </a:lnTo>
                  <a:lnTo>
                    <a:pt x="3107094" y="0"/>
                  </a:lnTo>
                  <a:lnTo>
                    <a:pt x="3113785" y="328"/>
                  </a:lnTo>
                  <a:lnTo>
                    <a:pt x="3153414" y="6871"/>
                  </a:lnTo>
                  <a:lnTo>
                    <a:pt x="3159833" y="8818"/>
                  </a:lnTo>
                  <a:lnTo>
                    <a:pt x="3166251" y="10765"/>
                  </a:lnTo>
                  <a:lnTo>
                    <a:pt x="3172559" y="13021"/>
                  </a:lnTo>
                  <a:lnTo>
                    <a:pt x="3178755" y="15588"/>
                  </a:lnTo>
                  <a:lnTo>
                    <a:pt x="3184951" y="18155"/>
                  </a:lnTo>
                  <a:lnTo>
                    <a:pt x="3214159" y="34512"/>
                  </a:lnTo>
                  <a:lnTo>
                    <a:pt x="3219736" y="38239"/>
                  </a:lnTo>
                  <a:lnTo>
                    <a:pt x="3245192" y="59980"/>
                  </a:lnTo>
                  <a:lnTo>
                    <a:pt x="3249935" y="64723"/>
                  </a:lnTo>
                  <a:lnTo>
                    <a:pt x="3270660" y="91013"/>
                  </a:lnTo>
                  <a:lnTo>
                    <a:pt x="3274387" y="96590"/>
                  </a:lnTo>
                  <a:lnTo>
                    <a:pt x="3292152" y="132615"/>
                  </a:lnTo>
                  <a:lnTo>
                    <a:pt x="3296356" y="145340"/>
                  </a:lnTo>
                  <a:lnTo>
                    <a:pt x="3298303" y="151759"/>
                  </a:lnTo>
                  <a:lnTo>
                    <a:pt x="3299930" y="158257"/>
                  </a:lnTo>
                  <a:lnTo>
                    <a:pt x="3301239" y="164835"/>
                  </a:lnTo>
                  <a:lnTo>
                    <a:pt x="3302548" y="171413"/>
                  </a:lnTo>
                  <a:lnTo>
                    <a:pt x="3303531" y="178040"/>
                  </a:lnTo>
                  <a:lnTo>
                    <a:pt x="3304189" y="184714"/>
                  </a:lnTo>
                  <a:lnTo>
                    <a:pt x="3304846" y="191389"/>
                  </a:lnTo>
                  <a:lnTo>
                    <a:pt x="3305175" y="198080"/>
                  </a:lnTo>
                  <a:lnTo>
                    <a:pt x="3305174" y="204787"/>
                  </a:lnTo>
                  <a:lnTo>
                    <a:pt x="3305175" y="211494"/>
                  </a:lnTo>
                  <a:lnTo>
                    <a:pt x="3301239" y="244739"/>
                  </a:lnTo>
                  <a:lnTo>
                    <a:pt x="3299930" y="251317"/>
                  </a:lnTo>
                  <a:lnTo>
                    <a:pt x="3298303" y="257815"/>
                  </a:lnTo>
                  <a:lnTo>
                    <a:pt x="3296356" y="264233"/>
                  </a:lnTo>
                  <a:lnTo>
                    <a:pt x="3294409" y="270652"/>
                  </a:lnTo>
                  <a:lnTo>
                    <a:pt x="3292152" y="276959"/>
                  </a:lnTo>
                  <a:lnTo>
                    <a:pt x="3289585" y="283156"/>
                  </a:lnTo>
                  <a:lnTo>
                    <a:pt x="3287018" y="289352"/>
                  </a:lnTo>
                  <a:lnTo>
                    <a:pt x="3270660" y="318561"/>
                  </a:lnTo>
                  <a:lnTo>
                    <a:pt x="3266934" y="324138"/>
                  </a:lnTo>
                  <a:lnTo>
                    <a:pt x="3245192" y="349594"/>
                  </a:lnTo>
                  <a:lnTo>
                    <a:pt x="3240450" y="354336"/>
                  </a:lnTo>
                  <a:lnTo>
                    <a:pt x="3235487" y="358835"/>
                  </a:lnTo>
                  <a:lnTo>
                    <a:pt x="3230302" y="363090"/>
                  </a:lnTo>
                  <a:lnTo>
                    <a:pt x="3225117" y="367345"/>
                  </a:lnTo>
                  <a:lnTo>
                    <a:pt x="3219736" y="371335"/>
                  </a:lnTo>
                  <a:lnTo>
                    <a:pt x="3214159" y="375061"/>
                  </a:lnTo>
                  <a:lnTo>
                    <a:pt x="3208583" y="378788"/>
                  </a:lnTo>
                  <a:lnTo>
                    <a:pt x="3178755" y="393986"/>
                  </a:lnTo>
                  <a:lnTo>
                    <a:pt x="3172559" y="396552"/>
                  </a:lnTo>
                  <a:lnTo>
                    <a:pt x="3140338" y="405639"/>
                  </a:lnTo>
                  <a:lnTo>
                    <a:pt x="3133760" y="406948"/>
                  </a:lnTo>
                  <a:lnTo>
                    <a:pt x="3127134" y="407931"/>
                  </a:lnTo>
                  <a:lnTo>
                    <a:pt x="3120459" y="408588"/>
                  </a:lnTo>
                  <a:lnTo>
                    <a:pt x="3113785" y="409246"/>
                  </a:lnTo>
                  <a:lnTo>
                    <a:pt x="3107094" y="409574"/>
                  </a:lnTo>
                  <a:lnTo>
                    <a:pt x="3100387" y="409574"/>
                  </a:lnTo>
                  <a:lnTo>
                    <a:pt x="204787" y="409574"/>
                  </a:lnTo>
                  <a:lnTo>
                    <a:pt x="198080" y="409574"/>
                  </a:lnTo>
                  <a:lnTo>
                    <a:pt x="191389" y="409246"/>
                  </a:lnTo>
                  <a:lnTo>
                    <a:pt x="151759" y="402703"/>
                  </a:lnTo>
                  <a:lnTo>
                    <a:pt x="126418" y="393986"/>
                  </a:lnTo>
                  <a:lnTo>
                    <a:pt x="120221" y="391419"/>
                  </a:lnTo>
                  <a:lnTo>
                    <a:pt x="114166" y="388555"/>
                  </a:lnTo>
                  <a:lnTo>
                    <a:pt x="108251" y="385393"/>
                  </a:lnTo>
                  <a:lnTo>
                    <a:pt x="102335" y="382232"/>
                  </a:lnTo>
                  <a:lnTo>
                    <a:pt x="69686" y="358835"/>
                  </a:lnTo>
                  <a:lnTo>
                    <a:pt x="46484" y="334703"/>
                  </a:lnTo>
                  <a:lnTo>
                    <a:pt x="42229" y="329518"/>
                  </a:lnTo>
                  <a:lnTo>
                    <a:pt x="38238" y="324137"/>
                  </a:lnTo>
                  <a:lnTo>
                    <a:pt x="34512" y="318561"/>
                  </a:lnTo>
                  <a:lnTo>
                    <a:pt x="30786" y="312984"/>
                  </a:lnTo>
                  <a:lnTo>
                    <a:pt x="27342" y="307238"/>
                  </a:lnTo>
                  <a:lnTo>
                    <a:pt x="24181" y="301323"/>
                  </a:lnTo>
                  <a:lnTo>
                    <a:pt x="21019" y="295408"/>
                  </a:lnTo>
                  <a:lnTo>
                    <a:pt x="8818" y="264233"/>
                  </a:lnTo>
                  <a:lnTo>
                    <a:pt x="6871" y="257815"/>
                  </a:lnTo>
                  <a:lnTo>
                    <a:pt x="329" y="218185"/>
                  </a:lnTo>
                  <a:lnTo>
                    <a:pt x="0" y="211494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6767" y="1509257"/>
              <a:ext cx="139440" cy="22253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183508" y="1819311"/>
            <a:ext cx="2802255" cy="79375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-10">
                <a:solidFill>
                  <a:srgbClr val="66534E"/>
                </a:solidFill>
                <a:latin typeface="Tahoma"/>
                <a:cs typeface="Tahoma"/>
              </a:rPr>
              <a:t>Efficiency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02299"/>
              </a:lnSpc>
              <a:spcBef>
                <a:spcPts val="575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Lightweight,</a:t>
            </a:r>
            <a:r>
              <a:rPr sz="110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uses</a:t>
            </a:r>
            <a:r>
              <a:rPr sz="110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fewer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resources</a:t>
            </a:r>
            <a:r>
              <a:rPr sz="110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than VMs.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486649" y="1409699"/>
            <a:ext cx="3324225" cy="419100"/>
            <a:chOff x="7486649" y="1409699"/>
            <a:chExt cx="3324225" cy="419100"/>
          </a:xfrm>
        </p:grpSpPr>
        <p:sp>
          <p:nvSpPr>
            <p:cNvPr id="14" name="object 14"/>
            <p:cNvSpPr/>
            <p:nvPr/>
          </p:nvSpPr>
          <p:spPr>
            <a:xfrm>
              <a:off x="7491411" y="1414462"/>
              <a:ext cx="3314700" cy="409575"/>
            </a:xfrm>
            <a:custGeom>
              <a:avLst/>
              <a:gdLst/>
              <a:ahLst/>
              <a:cxnLst/>
              <a:rect l="l" t="t" r="r" b="b"/>
              <a:pathLst>
                <a:path w="3314700" h="409575">
                  <a:moveTo>
                    <a:pt x="3116619" y="409574"/>
                  </a:moveTo>
                  <a:lnTo>
                    <a:pt x="198080" y="409574"/>
                  </a:lnTo>
                  <a:lnTo>
                    <a:pt x="191389" y="409246"/>
                  </a:lnTo>
                  <a:lnTo>
                    <a:pt x="151758" y="402703"/>
                  </a:lnTo>
                  <a:lnTo>
                    <a:pt x="114165" y="388555"/>
                  </a:lnTo>
                  <a:lnTo>
                    <a:pt x="80054" y="367345"/>
                  </a:lnTo>
                  <a:lnTo>
                    <a:pt x="50739" y="339887"/>
                  </a:lnTo>
                  <a:lnTo>
                    <a:pt x="27341" y="307238"/>
                  </a:lnTo>
                  <a:lnTo>
                    <a:pt x="10763" y="270652"/>
                  </a:lnTo>
                  <a:lnTo>
                    <a:pt x="1643" y="231535"/>
                  </a:lnTo>
                  <a:lnTo>
                    <a:pt x="0" y="211494"/>
                  </a:lnTo>
                  <a:lnTo>
                    <a:pt x="0" y="204787"/>
                  </a:lnTo>
                  <a:lnTo>
                    <a:pt x="0" y="198080"/>
                  </a:lnTo>
                  <a:lnTo>
                    <a:pt x="5242" y="158257"/>
                  </a:lnTo>
                  <a:lnTo>
                    <a:pt x="18153" y="120222"/>
                  </a:lnTo>
                  <a:lnTo>
                    <a:pt x="38238" y="85436"/>
                  </a:lnTo>
                  <a:lnTo>
                    <a:pt x="64722" y="55238"/>
                  </a:lnTo>
                  <a:lnTo>
                    <a:pt x="96589" y="30786"/>
                  </a:lnTo>
                  <a:lnTo>
                    <a:pt x="132614" y="13021"/>
                  </a:lnTo>
                  <a:lnTo>
                    <a:pt x="171412" y="2626"/>
                  </a:lnTo>
                  <a:lnTo>
                    <a:pt x="198080" y="0"/>
                  </a:lnTo>
                  <a:lnTo>
                    <a:pt x="3116619" y="0"/>
                  </a:lnTo>
                  <a:lnTo>
                    <a:pt x="3156440" y="5243"/>
                  </a:lnTo>
                  <a:lnTo>
                    <a:pt x="3194475" y="18155"/>
                  </a:lnTo>
                  <a:lnTo>
                    <a:pt x="3229263" y="38239"/>
                  </a:lnTo>
                  <a:lnTo>
                    <a:pt x="3259461" y="64723"/>
                  </a:lnTo>
                  <a:lnTo>
                    <a:pt x="3283912" y="96590"/>
                  </a:lnTo>
                  <a:lnTo>
                    <a:pt x="3301676" y="132615"/>
                  </a:lnTo>
                  <a:lnTo>
                    <a:pt x="3312071" y="171413"/>
                  </a:lnTo>
                  <a:lnTo>
                    <a:pt x="3314700" y="198080"/>
                  </a:lnTo>
                  <a:lnTo>
                    <a:pt x="3314700" y="211494"/>
                  </a:lnTo>
                  <a:lnTo>
                    <a:pt x="3309454" y="251317"/>
                  </a:lnTo>
                  <a:lnTo>
                    <a:pt x="3296542" y="289352"/>
                  </a:lnTo>
                  <a:lnTo>
                    <a:pt x="3276460" y="324138"/>
                  </a:lnTo>
                  <a:lnTo>
                    <a:pt x="3249975" y="354336"/>
                  </a:lnTo>
                  <a:lnTo>
                    <a:pt x="3218109" y="378788"/>
                  </a:lnTo>
                  <a:lnTo>
                    <a:pt x="3182083" y="396552"/>
                  </a:lnTo>
                  <a:lnTo>
                    <a:pt x="3143285" y="406948"/>
                  </a:lnTo>
                  <a:lnTo>
                    <a:pt x="3123310" y="409246"/>
                  </a:lnTo>
                  <a:lnTo>
                    <a:pt x="3116619" y="4095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91411" y="1414462"/>
              <a:ext cx="3314700" cy="409575"/>
            </a:xfrm>
            <a:custGeom>
              <a:avLst/>
              <a:gdLst/>
              <a:ahLst/>
              <a:cxnLst/>
              <a:rect l="l" t="t" r="r" b="b"/>
              <a:pathLst>
                <a:path w="3314700" h="409575">
                  <a:moveTo>
                    <a:pt x="0" y="204787"/>
                  </a:moveTo>
                  <a:lnTo>
                    <a:pt x="0" y="198080"/>
                  </a:lnTo>
                  <a:lnTo>
                    <a:pt x="328" y="191389"/>
                  </a:lnTo>
                  <a:lnTo>
                    <a:pt x="986" y="184714"/>
                  </a:lnTo>
                  <a:lnTo>
                    <a:pt x="1642" y="178040"/>
                  </a:lnTo>
                  <a:lnTo>
                    <a:pt x="8816" y="145340"/>
                  </a:lnTo>
                  <a:lnTo>
                    <a:pt x="10763" y="138922"/>
                  </a:lnTo>
                  <a:lnTo>
                    <a:pt x="24179" y="108251"/>
                  </a:lnTo>
                  <a:lnTo>
                    <a:pt x="27341" y="102336"/>
                  </a:lnTo>
                  <a:lnTo>
                    <a:pt x="50739" y="69687"/>
                  </a:lnTo>
                  <a:lnTo>
                    <a:pt x="74870" y="46484"/>
                  </a:lnTo>
                  <a:lnTo>
                    <a:pt x="80054" y="42229"/>
                  </a:lnTo>
                  <a:lnTo>
                    <a:pt x="108250" y="24181"/>
                  </a:lnTo>
                  <a:lnTo>
                    <a:pt x="114165" y="21019"/>
                  </a:lnTo>
                  <a:lnTo>
                    <a:pt x="145340" y="8818"/>
                  </a:lnTo>
                  <a:lnTo>
                    <a:pt x="151758" y="6871"/>
                  </a:lnTo>
                  <a:lnTo>
                    <a:pt x="191389" y="328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3109912" y="0"/>
                  </a:lnTo>
                  <a:lnTo>
                    <a:pt x="3116619" y="0"/>
                  </a:lnTo>
                  <a:lnTo>
                    <a:pt x="3123310" y="328"/>
                  </a:lnTo>
                  <a:lnTo>
                    <a:pt x="3162939" y="6871"/>
                  </a:lnTo>
                  <a:lnTo>
                    <a:pt x="3200532" y="21019"/>
                  </a:lnTo>
                  <a:lnTo>
                    <a:pt x="3223685" y="34512"/>
                  </a:lnTo>
                  <a:lnTo>
                    <a:pt x="3229263" y="38239"/>
                  </a:lnTo>
                  <a:lnTo>
                    <a:pt x="3259461" y="64723"/>
                  </a:lnTo>
                  <a:lnTo>
                    <a:pt x="3268214" y="74871"/>
                  </a:lnTo>
                  <a:lnTo>
                    <a:pt x="3272469" y="80056"/>
                  </a:lnTo>
                  <a:lnTo>
                    <a:pt x="3276460" y="85436"/>
                  </a:lnTo>
                  <a:lnTo>
                    <a:pt x="3280185" y="91013"/>
                  </a:lnTo>
                  <a:lnTo>
                    <a:pt x="3283912" y="96590"/>
                  </a:lnTo>
                  <a:lnTo>
                    <a:pt x="3301676" y="132615"/>
                  </a:lnTo>
                  <a:lnTo>
                    <a:pt x="3305879" y="145340"/>
                  </a:lnTo>
                  <a:lnTo>
                    <a:pt x="3307826" y="151759"/>
                  </a:lnTo>
                  <a:lnTo>
                    <a:pt x="3309454" y="158257"/>
                  </a:lnTo>
                  <a:lnTo>
                    <a:pt x="3310762" y="164835"/>
                  </a:lnTo>
                  <a:lnTo>
                    <a:pt x="3312071" y="171413"/>
                  </a:lnTo>
                  <a:lnTo>
                    <a:pt x="3313055" y="178040"/>
                  </a:lnTo>
                  <a:lnTo>
                    <a:pt x="3313713" y="184714"/>
                  </a:lnTo>
                  <a:lnTo>
                    <a:pt x="3314371" y="191389"/>
                  </a:lnTo>
                  <a:lnTo>
                    <a:pt x="3314700" y="198080"/>
                  </a:lnTo>
                  <a:lnTo>
                    <a:pt x="3314699" y="204787"/>
                  </a:lnTo>
                  <a:lnTo>
                    <a:pt x="3314700" y="211494"/>
                  </a:lnTo>
                  <a:lnTo>
                    <a:pt x="3314371" y="218185"/>
                  </a:lnTo>
                  <a:lnTo>
                    <a:pt x="3313713" y="224860"/>
                  </a:lnTo>
                  <a:lnTo>
                    <a:pt x="3313055" y="231535"/>
                  </a:lnTo>
                  <a:lnTo>
                    <a:pt x="3312071" y="238161"/>
                  </a:lnTo>
                  <a:lnTo>
                    <a:pt x="3310762" y="244739"/>
                  </a:lnTo>
                  <a:lnTo>
                    <a:pt x="3309454" y="251317"/>
                  </a:lnTo>
                  <a:lnTo>
                    <a:pt x="3307826" y="257815"/>
                  </a:lnTo>
                  <a:lnTo>
                    <a:pt x="3305879" y="264233"/>
                  </a:lnTo>
                  <a:lnTo>
                    <a:pt x="3303932" y="270652"/>
                  </a:lnTo>
                  <a:lnTo>
                    <a:pt x="3287356" y="307238"/>
                  </a:lnTo>
                  <a:lnTo>
                    <a:pt x="3280185" y="318561"/>
                  </a:lnTo>
                  <a:lnTo>
                    <a:pt x="3276460" y="324138"/>
                  </a:lnTo>
                  <a:lnTo>
                    <a:pt x="3272469" y="329518"/>
                  </a:lnTo>
                  <a:lnTo>
                    <a:pt x="3268214" y="334703"/>
                  </a:lnTo>
                  <a:lnTo>
                    <a:pt x="3263959" y="339887"/>
                  </a:lnTo>
                  <a:lnTo>
                    <a:pt x="3234644" y="367345"/>
                  </a:lnTo>
                  <a:lnTo>
                    <a:pt x="3223685" y="375061"/>
                  </a:lnTo>
                  <a:lnTo>
                    <a:pt x="3218109" y="378788"/>
                  </a:lnTo>
                  <a:lnTo>
                    <a:pt x="3188279" y="393986"/>
                  </a:lnTo>
                  <a:lnTo>
                    <a:pt x="3182083" y="396552"/>
                  </a:lnTo>
                  <a:lnTo>
                    <a:pt x="3149863" y="405639"/>
                  </a:lnTo>
                  <a:lnTo>
                    <a:pt x="3143285" y="406948"/>
                  </a:lnTo>
                  <a:lnTo>
                    <a:pt x="3136659" y="407931"/>
                  </a:lnTo>
                  <a:lnTo>
                    <a:pt x="3129984" y="408588"/>
                  </a:lnTo>
                  <a:lnTo>
                    <a:pt x="3123310" y="409246"/>
                  </a:lnTo>
                  <a:lnTo>
                    <a:pt x="3116619" y="409574"/>
                  </a:lnTo>
                  <a:lnTo>
                    <a:pt x="3109912" y="409574"/>
                  </a:lnTo>
                  <a:lnTo>
                    <a:pt x="204787" y="409574"/>
                  </a:lnTo>
                  <a:lnTo>
                    <a:pt x="198080" y="409574"/>
                  </a:lnTo>
                  <a:lnTo>
                    <a:pt x="191389" y="409246"/>
                  </a:lnTo>
                  <a:lnTo>
                    <a:pt x="151758" y="402703"/>
                  </a:lnTo>
                  <a:lnTo>
                    <a:pt x="145340" y="400756"/>
                  </a:lnTo>
                  <a:lnTo>
                    <a:pt x="138921" y="398809"/>
                  </a:lnTo>
                  <a:lnTo>
                    <a:pt x="132613" y="396552"/>
                  </a:lnTo>
                  <a:lnTo>
                    <a:pt x="126417" y="393986"/>
                  </a:lnTo>
                  <a:lnTo>
                    <a:pt x="120221" y="391419"/>
                  </a:lnTo>
                  <a:lnTo>
                    <a:pt x="85435" y="371335"/>
                  </a:lnTo>
                  <a:lnTo>
                    <a:pt x="55237" y="344851"/>
                  </a:lnTo>
                  <a:lnTo>
                    <a:pt x="30785" y="312984"/>
                  </a:lnTo>
                  <a:lnTo>
                    <a:pt x="24180" y="301323"/>
                  </a:lnTo>
                  <a:lnTo>
                    <a:pt x="21018" y="295408"/>
                  </a:lnTo>
                  <a:lnTo>
                    <a:pt x="18154" y="289352"/>
                  </a:lnTo>
                  <a:lnTo>
                    <a:pt x="15587" y="283156"/>
                  </a:lnTo>
                  <a:lnTo>
                    <a:pt x="13020" y="276959"/>
                  </a:lnTo>
                  <a:lnTo>
                    <a:pt x="10763" y="270652"/>
                  </a:lnTo>
                  <a:lnTo>
                    <a:pt x="8816" y="264233"/>
                  </a:lnTo>
                  <a:lnTo>
                    <a:pt x="6869" y="257815"/>
                  </a:lnTo>
                  <a:lnTo>
                    <a:pt x="986" y="224860"/>
                  </a:lnTo>
                  <a:lnTo>
                    <a:pt x="328" y="218185"/>
                  </a:lnTo>
                  <a:lnTo>
                    <a:pt x="0" y="211494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56889" y="1509767"/>
              <a:ext cx="177373" cy="22194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617866" y="1819311"/>
            <a:ext cx="2136140" cy="6223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>
                <a:solidFill>
                  <a:srgbClr val="66534E"/>
                </a:solidFill>
                <a:latin typeface="Tahoma"/>
                <a:cs typeface="Tahoma"/>
              </a:rPr>
              <a:t>Rapid</a:t>
            </a:r>
            <a:r>
              <a:rPr sz="1600" spc="-5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600" spc="-10">
                <a:solidFill>
                  <a:srgbClr val="66534E"/>
                </a:solidFill>
                <a:latin typeface="Tahoma"/>
                <a:cs typeface="Tahoma"/>
              </a:rPr>
              <a:t>Deployment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Containers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launch</a:t>
            </a:r>
            <a:r>
              <a:rPr sz="1100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in</a:t>
            </a:r>
            <a:r>
              <a:rPr sz="1100" spc="-2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seconds.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19124" y="2867024"/>
            <a:ext cx="3324225" cy="419100"/>
            <a:chOff x="619124" y="2867024"/>
            <a:chExt cx="3324225" cy="419100"/>
          </a:xfrm>
        </p:grpSpPr>
        <p:sp>
          <p:nvSpPr>
            <p:cNvPr id="19" name="object 19"/>
            <p:cNvSpPr/>
            <p:nvPr/>
          </p:nvSpPr>
          <p:spPr>
            <a:xfrm>
              <a:off x="623887" y="2871787"/>
              <a:ext cx="3314700" cy="409575"/>
            </a:xfrm>
            <a:custGeom>
              <a:avLst/>
              <a:gdLst/>
              <a:ahLst/>
              <a:cxnLst/>
              <a:rect l="l" t="t" r="r" b="b"/>
              <a:pathLst>
                <a:path w="3314700" h="409575">
                  <a:moveTo>
                    <a:pt x="3116619" y="409574"/>
                  </a:moveTo>
                  <a:lnTo>
                    <a:pt x="198080" y="409574"/>
                  </a:lnTo>
                  <a:lnTo>
                    <a:pt x="191389" y="409245"/>
                  </a:lnTo>
                  <a:lnTo>
                    <a:pt x="151758" y="402703"/>
                  </a:lnTo>
                  <a:lnTo>
                    <a:pt x="114166" y="388555"/>
                  </a:lnTo>
                  <a:lnTo>
                    <a:pt x="80056" y="367344"/>
                  </a:lnTo>
                  <a:lnTo>
                    <a:pt x="50739" y="339887"/>
                  </a:lnTo>
                  <a:lnTo>
                    <a:pt x="27342" y="307237"/>
                  </a:lnTo>
                  <a:lnTo>
                    <a:pt x="10765" y="270651"/>
                  </a:lnTo>
                  <a:lnTo>
                    <a:pt x="1643" y="231534"/>
                  </a:lnTo>
                  <a:lnTo>
                    <a:pt x="0" y="204787"/>
                  </a:lnTo>
                  <a:lnTo>
                    <a:pt x="0" y="198080"/>
                  </a:lnTo>
                  <a:lnTo>
                    <a:pt x="5243" y="158256"/>
                  </a:lnTo>
                  <a:lnTo>
                    <a:pt x="18155" y="120221"/>
                  </a:lnTo>
                  <a:lnTo>
                    <a:pt x="38239" y="85436"/>
                  </a:lnTo>
                  <a:lnTo>
                    <a:pt x="64723" y="55237"/>
                  </a:lnTo>
                  <a:lnTo>
                    <a:pt x="96590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116619" y="0"/>
                  </a:lnTo>
                  <a:lnTo>
                    <a:pt x="3156442" y="5242"/>
                  </a:lnTo>
                  <a:lnTo>
                    <a:pt x="3194477" y="18154"/>
                  </a:lnTo>
                  <a:lnTo>
                    <a:pt x="3229262" y="38238"/>
                  </a:lnTo>
                  <a:lnTo>
                    <a:pt x="3259461" y="64722"/>
                  </a:lnTo>
                  <a:lnTo>
                    <a:pt x="3283912" y="96589"/>
                  </a:lnTo>
                  <a:lnTo>
                    <a:pt x="3301677" y="132614"/>
                  </a:lnTo>
                  <a:lnTo>
                    <a:pt x="3312073" y="171413"/>
                  </a:lnTo>
                  <a:lnTo>
                    <a:pt x="3314699" y="198080"/>
                  </a:lnTo>
                  <a:lnTo>
                    <a:pt x="3314699" y="211494"/>
                  </a:lnTo>
                  <a:lnTo>
                    <a:pt x="3309455" y="251317"/>
                  </a:lnTo>
                  <a:lnTo>
                    <a:pt x="3296544" y="289351"/>
                  </a:lnTo>
                  <a:lnTo>
                    <a:pt x="3276460" y="324137"/>
                  </a:lnTo>
                  <a:lnTo>
                    <a:pt x="3249976" y="354336"/>
                  </a:lnTo>
                  <a:lnTo>
                    <a:pt x="3218109" y="378787"/>
                  </a:lnTo>
                  <a:lnTo>
                    <a:pt x="3182084" y="396552"/>
                  </a:lnTo>
                  <a:lnTo>
                    <a:pt x="3143285" y="406948"/>
                  </a:lnTo>
                  <a:lnTo>
                    <a:pt x="3116619" y="4095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3887" y="2871787"/>
              <a:ext cx="3314700" cy="409575"/>
            </a:xfrm>
            <a:custGeom>
              <a:avLst/>
              <a:gdLst/>
              <a:ahLst/>
              <a:cxnLst/>
              <a:rect l="l" t="t" r="r" b="b"/>
              <a:pathLst>
                <a:path w="3314700" h="409575">
                  <a:moveTo>
                    <a:pt x="0" y="204787"/>
                  </a:moveTo>
                  <a:lnTo>
                    <a:pt x="3934" y="164835"/>
                  </a:lnTo>
                  <a:lnTo>
                    <a:pt x="8817" y="145340"/>
                  </a:lnTo>
                  <a:lnTo>
                    <a:pt x="10764" y="138922"/>
                  </a:lnTo>
                  <a:lnTo>
                    <a:pt x="24180" y="108251"/>
                  </a:lnTo>
                  <a:lnTo>
                    <a:pt x="27342" y="102335"/>
                  </a:lnTo>
                  <a:lnTo>
                    <a:pt x="50739" y="69686"/>
                  </a:lnTo>
                  <a:lnTo>
                    <a:pt x="74871" y="46484"/>
                  </a:lnTo>
                  <a:lnTo>
                    <a:pt x="80056" y="42229"/>
                  </a:lnTo>
                  <a:lnTo>
                    <a:pt x="114166" y="21019"/>
                  </a:lnTo>
                  <a:lnTo>
                    <a:pt x="145340" y="8817"/>
                  </a:lnTo>
                  <a:lnTo>
                    <a:pt x="151758" y="6870"/>
                  </a:lnTo>
                  <a:lnTo>
                    <a:pt x="158257" y="5243"/>
                  </a:lnTo>
                  <a:lnTo>
                    <a:pt x="164835" y="3934"/>
                  </a:lnTo>
                  <a:lnTo>
                    <a:pt x="171413" y="2626"/>
                  </a:lnTo>
                  <a:lnTo>
                    <a:pt x="178039" y="1643"/>
                  </a:lnTo>
                  <a:lnTo>
                    <a:pt x="184714" y="986"/>
                  </a:lnTo>
                  <a:lnTo>
                    <a:pt x="191389" y="329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3109912" y="0"/>
                  </a:lnTo>
                  <a:lnTo>
                    <a:pt x="3116619" y="0"/>
                  </a:lnTo>
                  <a:lnTo>
                    <a:pt x="3123310" y="329"/>
                  </a:lnTo>
                  <a:lnTo>
                    <a:pt x="3129984" y="986"/>
                  </a:lnTo>
                  <a:lnTo>
                    <a:pt x="3136659" y="1643"/>
                  </a:lnTo>
                  <a:lnTo>
                    <a:pt x="3143285" y="2626"/>
                  </a:lnTo>
                  <a:lnTo>
                    <a:pt x="3149863" y="3934"/>
                  </a:lnTo>
                  <a:lnTo>
                    <a:pt x="3156442" y="5243"/>
                  </a:lnTo>
                  <a:lnTo>
                    <a:pt x="3162940" y="6870"/>
                  </a:lnTo>
                  <a:lnTo>
                    <a:pt x="3169358" y="8817"/>
                  </a:lnTo>
                  <a:lnTo>
                    <a:pt x="3175776" y="10764"/>
                  </a:lnTo>
                  <a:lnTo>
                    <a:pt x="3212363" y="27342"/>
                  </a:lnTo>
                  <a:lnTo>
                    <a:pt x="3223685" y="34512"/>
                  </a:lnTo>
                  <a:lnTo>
                    <a:pt x="3229262" y="38238"/>
                  </a:lnTo>
                  <a:lnTo>
                    <a:pt x="3234643" y="42229"/>
                  </a:lnTo>
                  <a:lnTo>
                    <a:pt x="3239827" y="46484"/>
                  </a:lnTo>
                  <a:lnTo>
                    <a:pt x="3245012" y="50739"/>
                  </a:lnTo>
                  <a:lnTo>
                    <a:pt x="3249976" y="55238"/>
                  </a:lnTo>
                  <a:lnTo>
                    <a:pt x="3254718" y="59980"/>
                  </a:lnTo>
                  <a:lnTo>
                    <a:pt x="3259461" y="64723"/>
                  </a:lnTo>
                  <a:lnTo>
                    <a:pt x="3283912" y="96589"/>
                  </a:lnTo>
                  <a:lnTo>
                    <a:pt x="3299110" y="126418"/>
                  </a:lnTo>
                  <a:lnTo>
                    <a:pt x="3301677" y="132614"/>
                  </a:lnTo>
                  <a:lnTo>
                    <a:pt x="3310764" y="164835"/>
                  </a:lnTo>
                  <a:lnTo>
                    <a:pt x="3312073" y="171413"/>
                  </a:lnTo>
                  <a:lnTo>
                    <a:pt x="3313056" y="178039"/>
                  </a:lnTo>
                  <a:lnTo>
                    <a:pt x="3313713" y="184714"/>
                  </a:lnTo>
                  <a:lnTo>
                    <a:pt x="3314370" y="191389"/>
                  </a:lnTo>
                  <a:lnTo>
                    <a:pt x="3314699" y="198080"/>
                  </a:lnTo>
                  <a:lnTo>
                    <a:pt x="3314699" y="204787"/>
                  </a:lnTo>
                  <a:lnTo>
                    <a:pt x="3314699" y="211494"/>
                  </a:lnTo>
                  <a:lnTo>
                    <a:pt x="3314370" y="218185"/>
                  </a:lnTo>
                  <a:lnTo>
                    <a:pt x="3313713" y="224860"/>
                  </a:lnTo>
                  <a:lnTo>
                    <a:pt x="3313056" y="231534"/>
                  </a:lnTo>
                  <a:lnTo>
                    <a:pt x="3312073" y="238160"/>
                  </a:lnTo>
                  <a:lnTo>
                    <a:pt x="3310764" y="244739"/>
                  </a:lnTo>
                  <a:lnTo>
                    <a:pt x="3309455" y="251317"/>
                  </a:lnTo>
                  <a:lnTo>
                    <a:pt x="3307828" y="257815"/>
                  </a:lnTo>
                  <a:lnTo>
                    <a:pt x="3305881" y="264233"/>
                  </a:lnTo>
                  <a:lnTo>
                    <a:pt x="3303934" y="270651"/>
                  </a:lnTo>
                  <a:lnTo>
                    <a:pt x="3301677" y="276959"/>
                  </a:lnTo>
                  <a:lnTo>
                    <a:pt x="3299110" y="283155"/>
                  </a:lnTo>
                  <a:lnTo>
                    <a:pt x="3296544" y="289352"/>
                  </a:lnTo>
                  <a:lnTo>
                    <a:pt x="3276460" y="324137"/>
                  </a:lnTo>
                  <a:lnTo>
                    <a:pt x="3268214" y="334702"/>
                  </a:lnTo>
                  <a:lnTo>
                    <a:pt x="3263960" y="339887"/>
                  </a:lnTo>
                  <a:lnTo>
                    <a:pt x="3259461" y="344851"/>
                  </a:lnTo>
                  <a:lnTo>
                    <a:pt x="3254718" y="349593"/>
                  </a:lnTo>
                  <a:lnTo>
                    <a:pt x="3249976" y="354336"/>
                  </a:lnTo>
                  <a:lnTo>
                    <a:pt x="3245012" y="358835"/>
                  </a:lnTo>
                  <a:lnTo>
                    <a:pt x="3239827" y="363090"/>
                  </a:lnTo>
                  <a:lnTo>
                    <a:pt x="3234643" y="367344"/>
                  </a:lnTo>
                  <a:lnTo>
                    <a:pt x="3229262" y="371335"/>
                  </a:lnTo>
                  <a:lnTo>
                    <a:pt x="3223685" y="375061"/>
                  </a:lnTo>
                  <a:lnTo>
                    <a:pt x="3218109" y="378787"/>
                  </a:lnTo>
                  <a:lnTo>
                    <a:pt x="3212363" y="382231"/>
                  </a:lnTo>
                  <a:lnTo>
                    <a:pt x="3206448" y="385393"/>
                  </a:lnTo>
                  <a:lnTo>
                    <a:pt x="3200533" y="388555"/>
                  </a:lnTo>
                  <a:lnTo>
                    <a:pt x="3194477" y="391419"/>
                  </a:lnTo>
                  <a:lnTo>
                    <a:pt x="3188280" y="393986"/>
                  </a:lnTo>
                  <a:lnTo>
                    <a:pt x="3182084" y="396552"/>
                  </a:lnTo>
                  <a:lnTo>
                    <a:pt x="3149863" y="405639"/>
                  </a:lnTo>
                  <a:lnTo>
                    <a:pt x="3143285" y="406948"/>
                  </a:lnTo>
                  <a:lnTo>
                    <a:pt x="3136659" y="407931"/>
                  </a:lnTo>
                  <a:lnTo>
                    <a:pt x="3129984" y="408588"/>
                  </a:lnTo>
                  <a:lnTo>
                    <a:pt x="3123310" y="409246"/>
                  </a:lnTo>
                  <a:lnTo>
                    <a:pt x="3116619" y="409574"/>
                  </a:lnTo>
                  <a:lnTo>
                    <a:pt x="3109912" y="409574"/>
                  </a:lnTo>
                  <a:lnTo>
                    <a:pt x="204787" y="409574"/>
                  </a:lnTo>
                  <a:lnTo>
                    <a:pt x="198080" y="409574"/>
                  </a:lnTo>
                  <a:lnTo>
                    <a:pt x="191389" y="409246"/>
                  </a:lnTo>
                  <a:lnTo>
                    <a:pt x="184714" y="408588"/>
                  </a:lnTo>
                  <a:lnTo>
                    <a:pt x="178039" y="407931"/>
                  </a:lnTo>
                  <a:lnTo>
                    <a:pt x="171413" y="406948"/>
                  </a:lnTo>
                  <a:lnTo>
                    <a:pt x="164835" y="405639"/>
                  </a:lnTo>
                  <a:lnTo>
                    <a:pt x="158257" y="404331"/>
                  </a:lnTo>
                  <a:lnTo>
                    <a:pt x="151758" y="402703"/>
                  </a:lnTo>
                  <a:lnTo>
                    <a:pt x="145340" y="400756"/>
                  </a:lnTo>
                  <a:lnTo>
                    <a:pt x="138922" y="398809"/>
                  </a:lnTo>
                  <a:lnTo>
                    <a:pt x="132615" y="396552"/>
                  </a:lnTo>
                  <a:lnTo>
                    <a:pt x="126418" y="393986"/>
                  </a:lnTo>
                  <a:lnTo>
                    <a:pt x="120222" y="391419"/>
                  </a:lnTo>
                  <a:lnTo>
                    <a:pt x="91013" y="375061"/>
                  </a:lnTo>
                  <a:lnTo>
                    <a:pt x="85436" y="371335"/>
                  </a:lnTo>
                  <a:lnTo>
                    <a:pt x="80056" y="367344"/>
                  </a:lnTo>
                  <a:lnTo>
                    <a:pt x="74871" y="363090"/>
                  </a:lnTo>
                  <a:lnTo>
                    <a:pt x="69687" y="358835"/>
                  </a:lnTo>
                  <a:lnTo>
                    <a:pt x="64723" y="354336"/>
                  </a:lnTo>
                  <a:lnTo>
                    <a:pt x="59980" y="349593"/>
                  </a:lnTo>
                  <a:lnTo>
                    <a:pt x="55238" y="344851"/>
                  </a:lnTo>
                  <a:lnTo>
                    <a:pt x="50739" y="339887"/>
                  </a:lnTo>
                  <a:lnTo>
                    <a:pt x="46484" y="334702"/>
                  </a:lnTo>
                  <a:lnTo>
                    <a:pt x="42229" y="329518"/>
                  </a:lnTo>
                  <a:lnTo>
                    <a:pt x="24180" y="301323"/>
                  </a:lnTo>
                  <a:lnTo>
                    <a:pt x="21019" y="295408"/>
                  </a:lnTo>
                  <a:lnTo>
                    <a:pt x="6871" y="257815"/>
                  </a:lnTo>
                  <a:lnTo>
                    <a:pt x="328" y="218185"/>
                  </a:lnTo>
                  <a:lnTo>
                    <a:pt x="0" y="211494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07950" y="2971800"/>
              <a:ext cx="140335" cy="212725"/>
            </a:xfrm>
            <a:custGeom>
              <a:avLst/>
              <a:gdLst/>
              <a:ahLst/>
              <a:cxnLst/>
              <a:rect l="l" t="t" r="r" b="b"/>
              <a:pathLst>
                <a:path w="140335" h="212725">
                  <a:moveTo>
                    <a:pt x="99975" y="0"/>
                  </a:moveTo>
                  <a:lnTo>
                    <a:pt x="0" y="150503"/>
                  </a:lnTo>
                </a:path>
                <a:path w="140335" h="212725">
                  <a:moveTo>
                    <a:pt x="99975" y="0"/>
                  </a:moveTo>
                  <a:lnTo>
                    <a:pt x="99883" y="153264"/>
                  </a:lnTo>
                </a:path>
                <a:path w="140335" h="212725">
                  <a:moveTo>
                    <a:pt x="140026" y="150453"/>
                  </a:moveTo>
                  <a:lnTo>
                    <a:pt x="0" y="150503"/>
                  </a:lnTo>
                </a:path>
                <a:path w="140335" h="212725">
                  <a:moveTo>
                    <a:pt x="99883" y="153264"/>
                  </a:moveTo>
                  <a:lnTo>
                    <a:pt x="99985" y="212526"/>
                  </a:lnTo>
                </a:path>
              </a:pathLst>
            </a:custGeom>
            <a:ln w="9413">
              <a:solidFill>
                <a:srgbClr val="665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49151" y="3276636"/>
            <a:ext cx="2140585" cy="6223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-10">
                <a:solidFill>
                  <a:srgbClr val="66534E"/>
                </a:solidFill>
                <a:latin typeface="Tahoma"/>
                <a:cs typeface="Tahoma"/>
              </a:rPr>
              <a:t>Isolation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Prevents</a:t>
            </a:r>
            <a:r>
              <a:rPr sz="1100" spc="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application</a:t>
            </a:r>
            <a:r>
              <a:rPr sz="1100" spc="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conflicts.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57649" y="2867024"/>
            <a:ext cx="3314700" cy="419100"/>
            <a:chOff x="4057649" y="2867024"/>
            <a:chExt cx="3314700" cy="419100"/>
          </a:xfrm>
        </p:grpSpPr>
        <p:sp>
          <p:nvSpPr>
            <p:cNvPr id="24" name="object 24"/>
            <p:cNvSpPr/>
            <p:nvPr/>
          </p:nvSpPr>
          <p:spPr>
            <a:xfrm>
              <a:off x="4062412" y="2871787"/>
              <a:ext cx="3305175" cy="409575"/>
            </a:xfrm>
            <a:custGeom>
              <a:avLst/>
              <a:gdLst/>
              <a:ahLst/>
              <a:cxnLst/>
              <a:rect l="l" t="t" r="r" b="b"/>
              <a:pathLst>
                <a:path w="3305175" h="409575">
                  <a:moveTo>
                    <a:pt x="3107094" y="409574"/>
                  </a:moveTo>
                  <a:lnTo>
                    <a:pt x="198080" y="409574"/>
                  </a:lnTo>
                  <a:lnTo>
                    <a:pt x="191389" y="409245"/>
                  </a:lnTo>
                  <a:lnTo>
                    <a:pt x="151759" y="402703"/>
                  </a:lnTo>
                  <a:lnTo>
                    <a:pt x="114166" y="388555"/>
                  </a:lnTo>
                  <a:lnTo>
                    <a:pt x="80056" y="367344"/>
                  </a:lnTo>
                  <a:lnTo>
                    <a:pt x="50739" y="339887"/>
                  </a:lnTo>
                  <a:lnTo>
                    <a:pt x="27342" y="307237"/>
                  </a:lnTo>
                  <a:lnTo>
                    <a:pt x="10764" y="270651"/>
                  </a:lnTo>
                  <a:lnTo>
                    <a:pt x="1643" y="231534"/>
                  </a:lnTo>
                  <a:lnTo>
                    <a:pt x="0" y="204787"/>
                  </a:lnTo>
                  <a:lnTo>
                    <a:pt x="0" y="198080"/>
                  </a:lnTo>
                  <a:lnTo>
                    <a:pt x="5243" y="158256"/>
                  </a:lnTo>
                  <a:lnTo>
                    <a:pt x="18155" y="120221"/>
                  </a:lnTo>
                  <a:lnTo>
                    <a:pt x="38238" y="85436"/>
                  </a:lnTo>
                  <a:lnTo>
                    <a:pt x="64723" y="55237"/>
                  </a:lnTo>
                  <a:lnTo>
                    <a:pt x="96589" y="30786"/>
                  </a:lnTo>
                  <a:lnTo>
                    <a:pt x="132615" y="13021"/>
                  </a:lnTo>
                  <a:lnTo>
                    <a:pt x="171413" y="2626"/>
                  </a:lnTo>
                  <a:lnTo>
                    <a:pt x="198080" y="0"/>
                  </a:lnTo>
                  <a:lnTo>
                    <a:pt x="3107094" y="0"/>
                  </a:lnTo>
                  <a:lnTo>
                    <a:pt x="3146916" y="5242"/>
                  </a:lnTo>
                  <a:lnTo>
                    <a:pt x="3184951" y="18154"/>
                  </a:lnTo>
                  <a:lnTo>
                    <a:pt x="3219736" y="38238"/>
                  </a:lnTo>
                  <a:lnTo>
                    <a:pt x="3249935" y="64722"/>
                  </a:lnTo>
                  <a:lnTo>
                    <a:pt x="3274387" y="96589"/>
                  </a:lnTo>
                  <a:lnTo>
                    <a:pt x="3292152" y="132614"/>
                  </a:lnTo>
                  <a:lnTo>
                    <a:pt x="3302548" y="171413"/>
                  </a:lnTo>
                  <a:lnTo>
                    <a:pt x="3305175" y="198080"/>
                  </a:lnTo>
                  <a:lnTo>
                    <a:pt x="3305175" y="211494"/>
                  </a:lnTo>
                  <a:lnTo>
                    <a:pt x="3299930" y="251317"/>
                  </a:lnTo>
                  <a:lnTo>
                    <a:pt x="3287018" y="289351"/>
                  </a:lnTo>
                  <a:lnTo>
                    <a:pt x="3266934" y="324137"/>
                  </a:lnTo>
                  <a:lnTo>
                    <a:pt x="3240450" y="354336"/>
                  </a:lnTo>
                  <a:lnTo>
                    <a:pt x="3208583" y="378787"/>
                  </a:lnTo>
                  <a:lnTo>
                    <a:pt x="3172559" y="396552"/>
                  </a:lnTo>
                  <a:lnTo>
                    <a:pt x="3133760" y="406948"/>
                  </a:lnTo>
                  <a:lnTo>
                    <a:pt x="3107094" y="409574"/>
                  </a:lnTo>
                  <a:close/>
                </a:path>
              </a:pathLst>
            </a:custGeom>
            <a:solidFill>
              <a:srgbClr val="FFFF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62412" y="2871787"/>
              <a:ext cx="3305175" cy="409575"/>
            </a:xfrm>
            <a:custGeom>
              <a:avLst/>
              <a:gdLst/>
              <a:ahLst/>
              <a:cxnLst/>
              <a:rect l="l" t="t" r="r" b="b"/>
              <a:pathLst>
                <a:path w="3305175" h="409575">
                  <a:moveTo>
                    <a:pt x="0" y="204787"/>
                  </a:moveTo>
                  <a:lnTo>
                    <a:pt x="0" y="198080"/>
                  </a:lnTo>
                  <a:lnTo>
                    <a:pt x="329" y="191389"/>
                  </a:lnTo>
                  <a:lnTo>
                    <a:pt x="986" y="184714"/>
                  </a:lnTo>
                  <a:lnTo>
                    <a:pt x="1643" y="178039"/>
                  </a:lnTo>
                  <a:lnTo>
                    <a:pt x="10764" y="138922"/>
                  </a:lnTo>
                  <a:lnTo>
                    <a:pt x="15588" y="126418"/>
                  </a:lnTo>
                  <a:lnTo>
                    <a:pt x="18155" y="120221"/>
                  </a:lnTo>
                  <a:lnTo>
                    <a:pt x="21019" y="114166"/>
                  </a:lnTo>
                  <a:lnTo>
                    <a:pt x="24181" y="108251"/>
                  </a:lnTo>
                  <a:lnTo>
                    <a:pt x="27342" y="102335"/>
                  </a:lnTo>
                  <a:lnTo>
                    <a:pt x="50739" y="69686"/>
                  </a:lnTo>
                  <a:lnTo>
                    <a:pt x="80056" y="42229"/>
                  </a:lnTo>
                  <a:lnTo>
                    <a:pt x="114166" y="21019"/>
                  </a:lnTo>
                  <a:lnTo>
                    <a:pt x="145340" y="8817"/>
                  </a:lnTo>
                  <a:lnTo>
                    <a:pt x="151759" y="6870"/>
                  </a:lnTo>
                  <a:lnTo>
                    <a:pt x="184715" y="986"/>
                  </a:lnTo>
                  <a:lnTo>
                    <a:pt x="191389" y="329"/>
                  </a:lnTo>
                  <a:lnTo>
                    <a:pt x="198080" y="0"/>
                  </a:lnTo>
                  <a:lnTo>
                    <a:pt x="204787" y="0"/>
                  </a:lnTo>
                  <a:lnTo>
                    <a:pt x="3100387" y="0"/>
                  </a:lnTo>
                  <a:lnTo>
                    <a:pt x="3107094" y="0"/>
                  </a:lnTo>
                  <a:lnTo>
                    <a:pt x="3113785" y="329"/>
                  </a:lnTo>
                  <a:lnTo>
                    <a:pt x="3120459" y="986"/>
                  </a:lnTo>
                  <a:lnTo>
                    <a:pt x="3127134" y="1643"/>
                  </a:lnTo>
                  <a:lnTo>
                    <a:pt x="3159833" y="8817"/>
                  </a:lnTo>
                  <a:lnTo>
                    <a:pt x="3166251" y="10764"/>
                  </a:lnTo>
                  <a:lnTo>
                    <a:pt x="3202837" y="27342"/>
                  </a:lnTo>
                  <a:lnTo>
                    <a:pt x="3214159" y="34512"/>
                  </a:lnTo>
                  <a:lnTo>
                    <a:pt x="3219736" y="38238"/>
                  </a:lnTo>
                  <a:lnTo>
                    <a:pt x="3245192" y="59980"/>
                  </a:lnTo>
                  <a:lnTo>
                    <a:pt x="3249935" y="64723"/>
                  </a:lnTo>
                  <a:lnTo>
                    <a:pt x="3270660" y="91013"/>
                  </a:lnTo>
                  <a:lnTo>
                    <a:pt x="3274387" y="96589"/>
                  </a:lnTo>
                  <a:lnTo>
                    <a:pt x="3289585" y="126418"/>
                  </a:lnTo>
                  <a:lnTo>
                    <a:pt x="3292152" y="132614"/>
                  </a:lnTo>
                  <a:lnTo>
                    <a:pt x="3294409" y="138922"/>
                  </a:lnTo>
                  <a:lnTo>
                    <a:pt x="3296356" y="145340"/>
                  </a:lnTo>
                  <a:lnTo>
                    <a:pt x="3298303" y="151759"/>
                  </a:lnTo>
                  <a:lnTo>
                    <a:pt x="3299930" y="158257"/>
                  </a:lnTo>
                  <a:lnTo>
                    <a:pt x="3301239" y="164835"/>
                  </a:lnTo>
                  <a:lnTo>
                    <a:pt x="3302548" y="171413"/>
                  </a:lnTo>
                  <a:lnTo>
                    <a:pt x="3303531" y="178039"/>
                  </a:lnTo>
                  <a:lnTo>
                    <a:pt x="3304189" y="184714"/>
                  </a:lnTo>
                  <a:lnTo>
                    <a:pt x="3304846" y="191389"/>
                  </a:lnTo>
                  <a:lnTo>
                    <a:pt x="3305175" y="198080"/>
                  </a:lnTo>
                  <a:lnTo>
                    <a:pt x="3305174" y="204787"/>
                  </a:lnTo>
                  <a:lnTo>
                    <a:pt x="3305175" y="211494"/>
                  </a:lnTo>
                  <a:lnTo>
                    <a:pt x="3301239" y="244739"/>
                  </a:lnTo>
                  <a:lnTo>
                    <a:pt x="3299930" y="251317"/>
                  </a:lnTo>
                  <a:lnTo>
                    <a:pt x="3289585" y="283155"/>
                  </a:lnTo>
                  <a:lnTo>
                    <a:pt x="3287018" y="289352"/>
                  </a:lnTo>
                  <a:lnTo>
                    <a:pt x="3270660" y="318560"/>
                  </a:lnTo>
                  <a:lnTo>
                    <a:pt x="3266934" y="324137"/>
                  </a:lnTo>
                  <a:lnTo>
                    <a:pt x="3262944" y="329518"/>
                  </a:lnTo>
                  <a:lnTo>
                    <a:pt x="3258689" y="334702"/>
                  </a:lnTo>
                  <a:lnTo>
                    <a:pt x="3254434" y="339887"/>
                  </a:lnTo>
                  <a:lnTo>
                    <a:pt x="3249935" y="344851"/>
                  </a:lnTo>
                  <a:lnTo>
                    <a:pt x="3245192" y="349593"/>
                  </a:lnTo>
                  <a:lnTo>
                    <a:pt x="3240450" y="354336"/>
                  </a:lnTo>
                  <a:lnTo>
                    <a:pt x="3235487" y="358835"/>
                  </a:lnTo>
                  <a:lnTo>
                    <a:pt x="3230302" y="363090"/>
                  </a:lnTo>
                  <a:lnTo>
                    <a:pt x="3225117" y="367344"/>
                  </a:lnTo>
                  <a:lnTo>
                    <a:pt x="3219736" y="371335"/>
                  </a:lnTo>
                  <a:lnTo>
                    <a:pt x="3214159" y="375061"/>
                  </a:lnTo>
                  <a:lnTo>
                    <a:pt x="3208583" y="378787"/>
                  </a:lnTo>
                  <a:lnTo>
                    <a:pt x="3178755" y="393986"/>
                  </a:lnTo>
                  <a:lnTo>
                    <a:pt x="3172559" y="396552"/>
                  </a:lnTo>
                  <a:lnTo>
                    <a:pt x="3140338" y="405639"/>
                  </a:lnTo>
                  <a:lnTo>
                    <a:pt x="3133760" y="406948"/>
                  </a:lnTo>
                  <a:lnTo>
                    <a:pt x="3127134" y="407931"/>
                  </a:lnTo>
                  <a:lnTo>
                    <a:pt x="3120459" y="408588"/>
                  </a:lnTo>
                  <a:lnTo>
                    <a:pt x="3113785" y="409246"/>
                  </a:lnTo>
                  <a:lnTo>
                    <a:pt x="3107094" y="409574"/>
                  </a:lnTo>
                  <a:lnTo>
                    <a:pt x="3100387" y="409574"/>
                  </a:lnTo>
                  <a:lnTo>
                    <a:pt x="204787" y="409574"/>
                  </a:lnTo>
                  <a:lnTo>
                    <a:pt x="198080" y="409574"/>
                  </a:lnTo>
                  <a:lnTo>
                    <a:pt x="191389" y="409246"/>
                  </a:lnTo>
                  <a:lnTo>
                    <a:pt x="184714" y="408588"/>
                  </a:lnTo>
                  <a:lnTo>
                    <a:pt x="178039" y="407931"/>
                  </a:lnTo>
                  <a:lnTo>
                    <a:pt x="171413" y="406948"/>
                  </a:lnTo>
                  <a:lnTo>
                    <a:pt x="164835" y="405639"/>
                  </a:lnTo>
                  <a:lnTo>
                    <a:pt x="158257" y="404331"/>
                  </a:lnTo>
                  <a:lnTo>
                    <a:pt x="151759" y="402703"/>
                  </a:lnTo>
                  <a:lnTo>
                    <a:pt x="145340" y="400756"/>
                  </a:lnTo>
                  <a:lnTo>
                    <a:pt x="138922" y="398809"/>
                  </a:lnTo>
                  <a:lnTo>
                    <a:pt x="108251" y="385393"/>
                  </a:lnTo>
                  <a:lnTo>
                    <a:pt x="102335" y="382231"/>
                  </a:lnTo>
                  <a:lnTo>
                    <a:pt x="69686" y="358835"/>
                  </a:lnTo>
                  <a:lnTo>
                    <a:pt x="46484" y="334702"/>
                  </a:lnTo>
                  <a:lnTo>
                    <a:pt x="42229" y="329518"/>
                  </a:lnTo>
                  <a:lnTo>
                    <a:pt x="24181" y="301323"/>
                  </a:lnTo>
                  <a:lnTo>
                    <a:pt x="21019" y="295408"/>
                  </a:lnTo>
                  <a:lnTo>
                    <a:pt x="8818" y="264233"/>
                  </a:lnTo>
                  <a:lnTo>
                    <a:pt x="6871" y="257815"/>
                  </a:lnTo>
                  <a:lnTo>
                    <a:pt x="986" y="224860"/>
                  </a:lnTo>
                  <a:lnTo>
                    <a:pt x="329" y="218185"/>
                  </a:lnTo>
                  <a:lnTo>
                    <a:pt x="0" y="211494"/>
                  </a:lnTo>
                  <a:lnTo>
                    <a:pt x="0" y="204787"/>
                  </a:lnTo>
                  <a:close/>
                </a:path>
              </a:pathLst>
            </a:custGeom>
            <a:ln w="9524">
              <a:solidFill>
                <a:srgbClr val="FFDF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33344" y="2967092"/>
              <a:ext cx="166421" cy="22194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183508" y="3276636"/>
            <a:ext cx="2051050" cy="6223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-10">
                <a:solidFill>
                  <a:srgbClr val="66534E"/>
                </a:solidFill>
                <a:latin typeface="Tahoma"/>
                <a:cs typeface="Tahoma"/>
              </a:rPr>
              <a:t>Portability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Runs</a:t>
            </a:r>
            <a:r>
              <a:rPr sz="1100" spc="-1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anywhere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with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 Docker.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9124" y="4245491"/>
            <a:ext cx="10191750" cy="28575"/>
            <a:chOff x="619124" y="4245491"/>
            <a:chExt cx="10191750" cy="28575"/>
          </a:xfrm>
        </p:grpSpPr>
        <p:sp>
          <p:nvSpPr>
            <p:cNvPr id="29" name="object 29"/>
            <p:cNvSpPr/>
            <p:nvPr/>
          </p:nvSpPr>
          <p:spPr>
            <a:xfrm>
              <a:off x="619124" y="4245491"/>
              <a:ext cx="10191750" cy="28575"/>
            </a:xfrm>
            <a:custGeom>
              <a:avLst/>
              <a:gdLst/>
              <a:ahLst/>
              <a:cxnLst/>
              <a:rect l="l" t="t" r="r" b="b"/>
              <a:pathLst>
                <a:path w="10191750" h="28575">
                  <a:moveTo>
                    <a:pt x="1019174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28574"/>
                  </a:lnTo>
                  <a:close/>
                </a:path>
              </a:pathLst>
            </a:custGeom>
            <a:solidFill>
              <a:srgbClr val="66534E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9124" y="4264541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101917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0191749" y="0"/>
                  </a:lnTo>
                  <a:lnTo>
                    <a:pt x="10191749" y="9524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619124" y="4400549"/>
            <a:ext cx="3324225" cy="1390650"/>
            <a:chOff x="619124" y="4400549"/>
            <a:chExt cx="3324225" cy="1390650"/>
          </a:xfrm>
        </p:grpSpPr>
        <p:sp>
          <p:nvSpPr>
            <p:cNvPr id="32" name="object 32"/>
            <p:cNvSpPr/>
            <p:nvPr/>
          </p:nvSpPr>
          <p:spPr>
            <a:xfrm>
              <a:off x="628649" y="4610099"/>
              <a:ext cx="3305175" cy="1171575"/>
            </a:xfrm>
            <a:custGeom>
              <a:avLst/>
              <a:gdLst/>
              <a:ahLst/>
              <a:cxnLst/>
              <a:rect l="l" t="t" r="r" b="b"/>
              <a:pathLst>
                <a:path w="3305175" h="1171575">
                  <a:moveTo>
                    <a:pt x="3270398" y="1171574"/>
                  </a:moveTo>
                  <a:lnTo>
                    <a:pt x="34776" y="1171574"/>
                  </a:lnTo>
                  <a:lnTo>
                    <a:pt x="29662" y="1170557"/>
                  </a:lnTo>
                  <a:lnTo>
                    <a:pt x="1017" y="1141912"/>
                  </a:lnTo>
                  <a:lnTo>
                    <a:pt x="0" y="1136797"/>
                  </a:lnTo>
                  <a:lnTo>
                    <a:pt x="0" y="1131481"/>
                  </a:lnTo>
                  <a:lnTo>
                    <a:pt x="0" y="71196"/>
                  </a:lnTo>
                  <a:lnTo>
                    <a:pt x="13669" y="29704"/>
                  </a:lnTo>
                  <a:lnTo>
                    <a:pt x="45204" y="3885"/>
                  </a:lnTo>
                  <a:lnTo>
                    <a:pt x="62297" y="0"/>
                  </a:lnTo>
                  <a:lnTo>
                    <a:pt x="3242877" y="0"/>
                  </a:lnTo>
                  <a:lnTo>
                    <a:pt x="3279181" y="15621"/>
                  </a:lnTo>
                  <a:lnTo>
                    <a:pt x="3301774" y="51661"/>
                  </a:lnTo>
                  <a:lnTo>
                    <a:pt x="3305174" y="71196"/>
                  </a:lnTo>
                  <a:lnTo>
                    <a:pt x="3305174" y="1136797"/>
                  </a:lnTo>
                  <a:lnTo>
                    <a:pt x="3275512" y="1170557"/>
                  </a:lnTo>
                  <a:lnTo>
                    <a:pt x="3270398" y="117157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9112" y="4610950"/>
              <a:ext cx="3324225" cy="1180465"/>
            </a:xfrm>
            <a:custGeom>
              <a:avLst/>
              <a:gdLst/>
              <a:ahLst/>
              <a:cxnLst/>
              <a:rect l="l" t="t" r="r" b="b"/>
              <a:pathLst>
                <a:path w="3324225" h="1180464">
                  <a:moveTo>
                    <a:pt x="3324225" y="75349"/>
                  </a:moveTo>
                  <a:lnTo>
                    <a:pt x="3311398" y="33007"/>
                  </a:lnTo>
                  <a:lnTo>
                    <a:pt x="3277197" y="4953"/>
                  </a:lnTo>
                  <a:lnTo>
                    <a:pt x="3258782" y="0"/>
                  </a:lnTo>
                  <a:lnTo>
                    <a:pt x="3262896" y="1092"/>
                  </a:lnTo>
                  <a:lnTo>
                    <a:pt x="3276904" y="8826"/>
                  </a:lnTo>
                  <a:lnTo>
                    <a:pt x="3300831" y="46189"/>
                  </a:lnTo>
                  <a:lnTo>
                    <a:pt x="3305175" y="75349"/>
                  </a:lnTo>
                  <a:lnTo>
                    <a:pt x="3305175" y="1139075"/>
                  </a:lnTo>
                  <a:lnTo>
                    <a:pt x="3302190" y="1146276"/>
                  </a:lnTo>
                  <a:lnTo>
                    <a:pt x="3296221" y="1152245"/>
                  </a:lnTo>
                  <a:lnTo>
                    <a:pt x="3290252" y="1158214"/>
                  </a:lnTo>
                  <a:lnTo>
                    <a:pt x="3283051" y="1161199"/>
                  </a:lnTo>
                  <a:lnTo>
                    <a:pt x="41186" y="1161199"/>
                  </a:lnTo>
                  <a:lnTo>
                    <a:pt x="33972" y="1158214"/>
                  </a:lnTo>
                  <a:lnTo>
                    <a:pt x="28486" y="1152728"/>
                  </a:lnTo>
                  <a:lnTo>
                    <a:pt x="28003" y="1152245"/>
                  </a:lnTo>
                  <a:lnTo>
                    <a:pt x="22034" y="1146276"/>
                  </a:lnTo>
                  <a:lnTo>
                    <a:pt x="19050" y="1139075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30630"/>
                  </a:lnTo>
                  <a:lnTo>
                    <a:pt x="22186" y="1172083"/>
                  </a:lnTo>
                  <a:lnTo>
                    <a:pt x="49618" y="1180249"/>
                  </a:lnTo>
                  <a:lnTo>
                    <a:pt x="3274618" y="1180249"/>
                  </a:lnTo>
                  <a:lnTo>
                    <a:pt x="3284512" y="1179347"/>
                  </a:lnTo>
                  <a:lnTo>
                    <a:pt x="3293656" y="1176616"/>
                  </a:lnTo>
                  <a:lnTo>
                    <a:pt x="3302050" y="1172083"/>
                  </a:lnTo>
                  <a:lnTo>
                    <a:pt x="3309175" y="1166152"/>
                  </a:lnTo>
                  <a:lnTo>
                    <a:pt x="3309696" y="1165720"/>
                  </a:lnTo>
                  <a:lnTo>
                    <a:pt x="3316059" y="1158074"/>
                  </a:lnTo>
                  <a:lnTo>
                    <a:pt x="3320592" y="1149680"/>
                  </a:lnTo>
                  <a:lnTo>
                    <a:pt x="3323323" y="1140536"/>
                  </a:lnTo>
                  <a:lnTo>
                    <a:pt x="3324225" y="1130630"/>
                  </a:lnTo>
                  <a:lnTo>
                    <a:pt x="3324225" y="7534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9112" y="4400549"/>
              <a:ext cx="3324225" cy="419100"/>
            </a:xfrm>
            <a:custGeom>
              <a:avLst/>
              <a:gdLst/>
              <a:ahLst/>
              <a:cxnLst/>
              <a:rect l="l" t="t" r="r" b="b"/>
              <a:pathLst>
                <a:path w="3324225" h="419100">
                  <a:moveTo>
                    <a:pt x="3324225" y="233540"/>
                  </a:moveTo>
                  <a:lnTo>
                    <a:pt x="3305048" y="200380"/>
                  </a:lnTo>
                  <a:lnTo>
                    <a:pt x="3281197" y="190500"/>
                  </a:lnTo>
                  <a:lnTo>
                    <a:pt x="1872513" y="190500"/>
                  </a:lnTo>
                  <a:lnTo>
                    <a:pt x="1871700" y="182181"/>
                  </a:lnTo>
                  <a:lnTo>
                    <a:pt x="1862366" y="142163"/>
                  </a:lnTo>
                  <a:lnTo>
                    <a:pt x="1845398" y="104724"/>
                  </a:lnTo>
                  <a:lnTo>
                    <a:pt x="1821459" y="71310"/>
                  </a:lnTo>
                  <a:lnTo>
                    <a:pt x="1791462" y="43218"/>
                  </a:lnTo>
                  <a:lnTo>
                    <a:pt x="1756562" y="21513"/>
                  </a:lnTo>
                  <a:lnTo>
                    <a:pt x="1718094" y="7035"/>
                  </a:lnTo>
                  <a:lnTo>
                    <a:pt x="1677543" y="342"/>
                  </a:lnTo>
                  <a:lnTo>
                    <a:pt x="1670697" y="0"/>
                  </a:lnTo>
                  <a:lnTo>
                    <a:pt x="1647444" y="0"/>
                  </a:lnTo>
                  <a:lnTo>
                    <a:pt x="1606689" y="5372"/>
                  </a:lnTo>
                  <a:lnTo>
                    <a:pt x="1567776" y="18580"/>
                  </a:lnTo>
                  <a:lnTo>
                    <a:pt x="1532178" y="39128"/>
                  </a:lnTo>
                  <a:lnTo>
                    <a:pt x="1501279" y="66230"/>
                  </a:lnTo>
                  <a:lnTo>
                    <a:pt x="1476260" y="98844"/>
                  </a:lnTo>
                  <a:lnTo>
                    <a:pt x="1458074" y="135699"/>
                  </a:lnTo>
                  <a:lnTo>
                    <a:pt x="1447444" y="175412"/>
                  </a:lnTo>
                  <a:lnTo>
                    <a:pt x="1445615" y="190500"/>
                  </a:lnTo>
                  <a:lnTo>
                    <a:pt x="43040" y="190500"/>
                  </a:lnTo>
                  <a:lnTo>
                    <a:pt x="9880" y="209689"/>
                  </a:lnTo>
                  <a:lnTo>
                    <a:pt x="0" y="233540"/>
                  </a:lnTo>
                  <a:lnTo>
                    <a:pt x="0" y="266700"/>
                  </a:lnTo>
                  <a:lnTo>
                    <a:pt x="1452651" y="266700"/>
                  </a:lnTo>
                  <a:lnTo>
                    <a:pt x="1455775" y="276948"/>
                  </a:lnTo>
                  <a:lnTo>
                    <a:pt x="1472730" y="314388"/>
                  </a:lnTo>
                  <a:lnTo>
                    <a:pt x="1496669" y="347802"/>
                  </a:lnTo>
                  <a:lnTo>
                    <a:pt x="1526667" y="375894"/>
                  </a:lnTo>
                  <a:lnTo>
                    <a:pt x="1561579" y="397598"/>
                  </a:lnTo>
                  <a:lnTo>
                    <a:pt x="1600047" y="412076"/>
                  </a:lnTo>
                  <a:lnTo>
                    <a:pt x="1640598" y="418769"/>
                  </a:lnTo>
                  <a:lnTo>
                    <a:pt x="1647444" y="419100"/>
                  </a:lnTo>
                  <a:lnTo>
                    <a:pt x="1670697" y="419100"/>
                  </a:lnTo>
                  <a:lnTo>
                    <a:pt x="1711439" y="413740"/>
                  </a:lnTo>
                  <a:lnTo>
                    <a:pt x="1750364" y="400532"/>
                  </a:lnTo>
                  <a:lnTo>
                    <a:pt x="1785950" y="379984"/>
                  </a:lnTo>
                  <a:lnTo>
                    <a:pt x="1816862" y="352882"/>
                  </a:lnTo>
                  <a:lnTo>
                    <a:pt x="1841881" y="320268"/>
                  </a:lnTo>
                  <a:lnTo>
                    <a:pt x="1860054" y="283400"/>
                  </a:lnTo>
                  <a:lnTo>
                    <a:pt x="1865477" y="266700"/>
                  </a:lnTo>
                  <a:lnTo>
                    <a:pt x="3324225" y="266700"/>
                  </a:lnTo>
                  <a:lnTo>
                    <a:pt x="3324225" y="233540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234349" y="4524374"/>
              <a:ext cx="95885" cy="170180"/>
            </a:xfrm>
            <a:custGeom>
              <a:avLst/>
              <a:gdLst/>
              <a:ahLst/>
              <a:cxnLst/>
              <a:rect l="l" t="t" r="r" b="b"/>
              <a:pathLst>
                <a:path w="95885" h="170179">
                  <a:moveTo>
                    <a:pt x="4117" y="32799"/>
                  </a:moveTo>
                  <a:lnTo>
                    <a:pt x="50310" y="0"/>
                  </a:lnTo>
                </a:path>
                <a:path w="95885" h="170179">
                  <a:moveTo>
                    <a:pt x="50332" y="170051"/>
                  </a:moveTo>
                  <a:lnTo>
                    <a:pt x="50310" y="0"/>
                  </a:lnTo>
                </a:path>
                <a:path w="95885" h="170179">
                  <a:moveTo>
                    <a:pt x="0" y="170110"/>
                  </a:moveTo>
                  <a:lnTo>
                    <a:pt x="95859" y="170083"/>
                  </a:lnTo>
                </a:path>
              </a:pathLst>
            </a:custGeom>
            <a:ln w="75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68201" y="4838735"/>
            <a:ext cx="2869565" cy="622300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>
                <a:solidFill>
                  <a:srgbClr val="66534E"/>
                </a:solidFill>
                <a:latin typeface="Tahoma"/>
                <a:cs typeface="Tahoma"/>
              </a:rPr>
              <a:t>Learning</a:t>
            </a:r>
            <a:r>
              <a:rPr sz="1600" spc="-90">
                <a:solidFill>
                  <a:srgbClr val="66534E"/>
                </a:solidFill>
                <a:latin typeface="Tahoma"/>
                <a:cs typeface="Tahoma"/>
              </a:rPr>
              <a:t> </a:t>
            </a:r>
            <a:r>
              <a:rPr sz="1600" spc="-20">
                <a:solidFill>
                  <a:srgbClr val="66534E"/>
                </a:solidFill>
                <a:latin typeface="Tahoma"/>
                <a:cs typeface="Tahoma"/>
              </a:rPr>
              <a:t>Curve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New</a:t>
            </a:r>
            <a:r>
              <a:rPr sz="1100" spc="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concepts</a:t>
            </a:r>
            <a:r>
              <a:rPr sz="110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30">
                <a:solidFill>
                  <a:srgbClr val="66534E"/>
                </a:solidFill>
                <a:latin typeface="Verdana"/>
                <a:cs typeface="Verdana"/>
              </a:rPr>
              <a:t>(images,</a:t>
            </a:r>
            <a:r>
              <a:rPr sz="110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Dockerfiles,</a:t>
            </a:r>
            <a:r>
              <a:rPr sz="1100" spc="1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25">
                <a:solidFill>
                  <a:srgbClr val="66534E"/>
                </a:solidFill>
                <a:latin typeface="Verdana"/>
                <a:cs typeface="Verdana"/>
              </a:rPr>
              <a:t>CLI).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057649" y="4400549"/>
            <a:ext cx="3314700" cy="1390650"/>
            <a:chOff x="4057649" y="4400549"/>
            <a:chExt cx="3314700" cy="1390650"/>
          </a:xfrm>
        </p:grpSpPr>
        <p:sp>
          <p:nvSpPr>
            <p:cNvPr id="38" name="object 38"/>
            <p:cNvSpPr/>
            <p:nvPr/>
          </p:nvSpPr>
          <p:spPr>
            <a:xfrm>
              <a:off x="4067174" y="4610099"/>
              <a:ext cx="3295650" cy="1171575"/>
            </a:xfrm>
            <a:custGeom>
              <a:avLst/>
              <a:gdLst/>
              <a:ahLst/>
              <a:cxnLst/>
              <a:rect l="l" t="t" r="r" b="b"/>
              <a:pathLst>
                <a:path w="3295650" h="1171575">
                  <a:moveTo>
                    <a:pt x="3260873" y="1171574"/>
                  </a:moveTo>
                  <a:lnTo>
                    <a:pt x="34776" y="1171574"/>
                  </a:lnTo>
                  <a:lnTo>
                    <a:pt x="29662" y="1170557"/>
                  </a:lnTo>
                  <a:lnTo>
                    <a:pt x="1017" y="1141912"/>
                  </a:lnTo>
                  <a:lnTo>
                    <a:pt x="0" y="1136797"/>
                  </a:lnTo>
                  <a:lnTo>
                    <a:pt x="0" y="1131481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3233353" y="0"/>
                  </a:lnTo>
                  <a:lnTo>
                    <a:pt x="3269656" y="15621"/>
                  </a:lnTo>
                  <a:lnTo>
                    <a:pt x="3292249" y="51661"/>
                  </a:lnTo>
                  <a:lnTo>
                    <a:pt x="3295649" y="71196"/>
                  </a:lnTo>
                  <a:lnTo>
                    <a:pt x="3295649" y="1136797"/>
                  </a:lnTo>
                  <a:lnTo>
                    <a:pt x="3265987" y="1170557"/>
                  </a:lnTo>
                  <a:lnTo>
                    <a:pt x="3260873" y="117157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57637" y="4610950"/>
              <a:ext cx="3314700" cy="1180465"/>
            </a:xfrm>
            <a:custGeom>
              <a:avLst/>
              <a:gdLst/>
              <a:ahLst/>
              <a:cxnLst/>
              <a:rect l="l" t="t" r="r" b="b"/>
              <a:pathLst>
                <a:path w="3314700" h="1180464">
                  <a:moveTo>
                    <a:pt x="3314700" y="75349"/>
                  </a:moveTo>
                  <a:lnTo>
                    <a:pt x="3301873" y="33007"/>
                  </a:lnTo>
                  <a:lnTo>
                    <a:pt x="3267672" y="4953"/>
                  </a:lnTo>
                  <a:lnTo>
                    <a:pt x="3249257" y="0"/>
                  </a:lnTo>
                  <a:lnTo>
                    <a:pt x="3253371" y="1092"/>
                  </a:lnTo>
                  <a:lnTo>
                    <a:pt x="3267379" y="8826"/>
                  </a:lnTo>
                  <a:lnTo>
                    <a:pt x="3291306" y="46189"/>
                  </a:lnTo>
                  <a:lnTo>
                    <a:pt x="3295650" y="75349"/>
                  </a:lnTo>
                  <a:lnTo>
                    <a:pt x="3295650" y="1139075"/>
                  </a:lnTo>
                  <a:lnTo>
                    <a:pt x="3292665" y="1146276"/>
                  </a:lnTo>
                  <a:lnTo>
                    <a:pt x="3286696" y="1152245"/>
                  </a:lnTo>
                  <a:lnTo>
                    <a:pt x="3280727" y="1158214"/>
                  </a:lnTo>
                  <a:lnTo>
                    <a:pt x="3273526" y="1161199"/>
                  </a:lnTo>
                  <a:lnTo>
                    <a:pt x="41186" y="1161199"/>
                  </a:lnTo>
                  <a:lnTo>
                    <a:pt x="33972" y="1158214"/>
                  </a:lnTo>
                  <a:lnTo>
                    <a:pt x="28486" y="1152728"/>
                  </a:lnTo>
                  <a:lnTo>
                    <a:pt x="28016" y="1152245"/>
                  </a:lnTo>
                  <a:lnTo>
                    <a:pt x="22034" y="1146276"/>
                  </a:lnTo>
                  <a:lnTo>
                    <a:pt x="19050" y="1139075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55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30630"/>
                  </a:lnTo>
                  <a:lnTo>
                    <a:pt x="22186" y="1172083"/>
                  </a:lnTo>
                  <a:lnTo>
                    <a:pt x="49618" y="1180249"/>
                  </a:lnTo>
                  <a:lnTo>
                    <a:pt x="3265081" y="1180249"/>
                  </a:lnTo>
                  <a:lnTo>
                    <a:pt x="3274987" y="1179347"/>
                  </a:lnTo>
                  <a:lnTo>
                    <a:pt x="3284131" y="1176616"/>
                  </a:lnTo>
                  <a:lnTo>
                    <a:pt x="3292525" y="1172083"/>
                  </a:lnTo>
                  <a:lnTo>
                    <a:pt x="3299650" y="1166152"/>
                  </a:lnTo>
                  <a:lnTo>
                    <a:pt x="3300171" y="1165720"/>
                  </a:lnTo>
                  <a:lnTo>
                    <a:pt x="3306534" y="1158074"/>
                  </a:lnTo>
                  <a:lnTo>
                    <a:pt x="3311067" y="1149680"/>
                  </a:lnTo>
                  <a:lnTo>
                    <a:pt x="3313798" y="1140536"/>
                  </a:lnTo>
                  <a:lnTo>
                    <a:pt x="3314700" y="1130630"/>
                  </a:lnTo>
                  <a:lnTo>
                    <a:pt x="3314700" y="7534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57637" y="4400549"/>
              <a:ext cx="3314700" cy="419100"/>
            </a:xfrm>
            <a:custGeom>
              <a:avLst/>
              <a:gdLst/>
              <a:ahLst/>
              <a:cxnLst/>
              <a:rect l="l" t="t" r="r" b="b"/>
              <a:pathLst>
                <a:path w="3314700" h="419100">
                  <a:moveTo>
                    <a:pt x="3314700" y="233540"/>
                  </a:moveTo>
                  <a:lnTo>
                    <a:pt x="3295523" y="200380"/>
                  </a:lnTo>
                  <a:lnTo>
                    <a:pt x="3271672" y="190500"/>
                  </a:lnTo>
                  <a:lnTo>
                    <a:pt x="1872513" y="190500"/>
                  </a:lnTo>
                  <a:lnTo>
                    <a:pt x="1871700" y="182181"/>
                  </a:lnTo>
                  <a:lnTo>
                    <a:pt x="1862366" y="142163"/>
                  </a:lnTo>
                  <a:lnTo>
                    <a:pt x="1845398" y="104724"/>
                  </a:lnTo>
                  <a:lnTo>
                    <a:pt x="1821459" y="71310"/>
                  </a:lnTo>
                  <a:lnTo>
                    <a:pt x="1791462" y="43218"/>
                  </a:lnTo>
                  <a:lnTo>
                    <a:pt x="1756562" y="21513"/>
                  </a:lnTo>
                  <a:lnTo>
                    <a:pt x="1718094" y="7035"/>
                  </a:lnTo>
                  <a:lnTo>
                    <a:pt x="1677543" y="342"/>
                  </a:lnTo>
                  <a:lnTo>
                    <a:pt x="1670697" y="0"/>
                  </a:lnTo>
                  <a:lnTo>
                    <a:pt x="1647444" y="0"/>
                  </a:lnTo>
                  <a:lnTo>
                    <a:pt x="1606689" y="5372"/>
                  </a:lnTo>
                  <a:lnTo>
                    <a:pt x="1567776" y="18580"/>
                  </a:lnTo>
                  <a:lnTo>
                    <a:pt x="1532178" y="39128"/>
                  </a:lnTo>
                  <a:lnTo>
                    <a:pt x="1501279" y="66230"/>
                  </a:lnTo>
                  <a:lnTo>
                    <a:pt x="1476260" y="98844"/>
                  </a:lnTo>
                  <a:lnTo>
                    <a:pt x="1458074" y="135699"/>
                  </a:lnTo>
                  <a:lnTo>
                    <a:pt x="1447444" y="175412"/>
                  </a:lnTo>
                  <a:lnTo>
                    <a:pt x="1445615" y="190500"/>
                  </a:lnTo>
                  <a:lnTo>
                    <a:pt x="43040" y="190500"/>
                  </a:lnTo>
                  <a:lnTo>
                    <a:pt x="9880" y="209689"/>
                  </a:lnTo>
                  <a:lnTo>
                    <a:pt x="0" y="233540"/>
                  </a:lnTo>
                  <a:lnTo>
                    <a:pt x="0" y="266700"/>
                  </a:lnTo>
                  <a:lnTo>
                    <a:pt x="1452651" y="266700"/>
                  </a:lnTo>
                  <a:lnTo>
                    <a:pt x="1455775" y="276948"/>
                  </a:lnTo>
                  <a:lnTo>
                    <a:pt x="1472730" y="314388"/>
                  </a:lnTo>
                  <a:lnTo>
                    <a:pt x="1496669" y="347802"/>
                  </a:lnTo>
                  <a:lnTo>
                    <a:pt x="1526667" y="375894"/>
                  </a:lnTo>
                  <a:lnTo>
                    <a:pt x="1561579" y="397598"/>
                  </a:lnTo>
                  <a:lnTo>
                    <a:pt x="1600047" y="412076"/>
                  </a:lnTo>
                  <a:lnTo>
                    <a:pt x="1640598" y="418769"/>
                  </a:lnTo>
                  <a:lnTo>
                    <a:pt x="1647444" y="419100"/>
                  </a:lnTo>
                  <a:lnTo>
                    <a:pt x="1670697" y="419100"/>
                  </a:lnTo>
                  <a:lnTo>
                    <a:pt x="1711439" y="413740"/>
                  </a:lnTo>
                  <a:lnTo>
                    <a:pt x="1750364" y="400532"/>
                  </a:lnTo>
                  <a:lnTo>
                    <a:pt x="1785950" y="379984"/>
                  </a:lnTo>
                  <a:lnTo>
                    <a:pt x="1816862" y="352882"/>
                  </a:lnTo>
                  <a:lnTo>
                    <a:pt x="1841881" y="320268"/>
                  </a:lnTo>
                  <a:lnTo>
                    <a:pt x="1860054" y="283400"/>
                  </a:lnTo>
                  <a:lnTo>
                    <a:pt x="1865477" y="266700"/>
                  </a:lnTo>
                  <a:lnTo>
                    <a:pt x="3314700" y="266700"/>
                  </a:lnTo>
                  <a:lnTo>
                    <a:pt x="3314700" y="233540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55473" y="4520198"/>
              <a:ext cx="111611" cy="178118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4202558" y="4838735"/>
            <a:ext cx="2628900" cy="78422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-10">
                <a:solidFill>
                  <a:srgbClr val="66534E"/>
                </a:solidFill>
                <a:latin typeface="Tahoma"/>
                <a:cs typeface="Tahoma"/>
              </a:rPr>
              <a:t>Security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280"/>
              </a:lnSpc>
              <a:spcBef>
                <a:spcPts val="680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Shared</a:t>
            </a:r>
            <a:r>
              <a:rPr sz="1100" spc="-7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host</a:t>
            </a:r>
            <a:r>
              <a:rPr sz="11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OS</a:t>
            </a:r>
            <a:r>
              <a:rPr sz="11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kernel</a:t>
            </a:r>
            <a:r>
              <a:rPr sz="11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can</a:t>
            </a:r>
            <a:r>
              <a:rPr sz="11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expose</a:t>
            </a:r>
            <a:r>
              <a:rPr sz="1100" spc="-6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25">
                <a:solidFill>
                  <a:srgbClr val="66534E"/>
                </a:solidFill>
                <a:latin typeface="Verdana"/>
                <a:cs typeface="Verdana"/>
              </a:rPr>
              <a:t>all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containers.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486648" y="4400549"/>
            <a:ext cx="3324225" cy="1390650"/>
            <a:chOff x="7486648" y="4400549"/>
            <a:chExt cx="3324225" cy="1390650"/>
          </a:xfrm>
        </p:grpSpPr>
        <p:sp>
          <p:nvSpPr>
            <p:cNvPr id="44" name="object 44"/>
            <p:cNvSpPr/>
            <p:nvPr/>
          </p:nvSpPr>
          <p:spPr>
            <a:xfrm>
              <a:off x="7496173" y="4610099"/>
              <a:ext cx="3305175" cy="1171575"/>
            </a:xfrm>
            <a:custGeom>
              <a:avLst/>
              <a:gdLst/>
              <a:ahLst/>
              <a:cxnLst/>
              <a:rect l="l" t="t" r="r" b="b"/>
              <a:pathLst>
                <a:path w="3305175" h="1171575">
                  <a:moveTo>
                    <a:pt x="3270397" y="1171574"/>
                  </a:moveTo>
                  <a:lnTo>
                    <a:pt x="34776" y="1171574"/>
                  </a:lnTo>
                  <a:lnTo>
                    <a:pt x="29662" y="1170557"/>
                  </a:lnTo>
                  <a:lnTo>
                    <a:pt x="1016" y="1141912"/>
                  </a:lnTo>
                  <a:lnTo>
                    <a:pt x="0" y="1136797"/>
                  </a:lnTo>
                  <a:lnTo>
                    <a:pt x="0" y="1131481"/>
                  </a:lnTo>
                  <a:lnTo>
                    <a:pt x="0" y="71196"/>
                  </a:lnTo>
                  <a:lnTo>
                    <a:pt x="13668" y="29704"/>
                  </a:lnTo>
                  <a:lnTo>
                    <a:pt x="45203" y="3885"/>
                  </a:lnTo>
                  <a:lnTo>
                    <a:pt x="62297" y="0"/>
                  </a:lnTo>
                  <a:lnTo>
                    <a:pt x="3242877" y="0"/>
                  </a:lnTo>
                  <a:lnTo>
                    <a:pt x="3279182" y="15621"/>
                  </a:lnTo>
                  <a:lnTo>
                    <a:pt x="3301774" y="51661"/>
                  </a:lnTo>
                  <a:lnTo>
                    <a:pt x="3305175" y="71196"/>
                  </a:lnTo>
                  <a:lnTo>
                    <a:pt x="3305174" y="1136797"/>
                  </a:lnTo>
                  <a:lnTo>
                    <a:pt x="3275510" y="1170557"/>
                  </a:lnTo>
                  <a:lnTo>
                    <a:pt x="3270397" y="1171574"/>
                  </a:lnTo>
                  <a:close/>
                </a:path>
              </a:pathLst>
            </a:custGeom>
            <a:solidFill>
              <a:srgbClr val="FFFFF4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486637" y="4610950"/>
              <a:ext cx="3324225" cy="1180465"/>
            </a:xfrm>
            <a:custGeom>
              <a:avLst/>
              <a:gdLst/>
              <a:ahLst/>
              <a:cxnLst/>
              <a:rect l="l" t="t" r="r" b="b"/>
              <a:pathLst>
                <a:path w="3324225" h="1180464">
                  <a:moveTo>
                    <a:pt x="3324225" y="75349"/>
                  </a:moveTo>
                  <a:lnTo>
                    <a:pt x="3311398" y="33007"/>
                  </a:lnTo>
                  <a:lnTo>
                    <a:pt x="3277197" y="4953"/>
                  </a:lnTo>
                  <a:lnTo>
                    <a:pt x="3258782" y="0"/>
                  </a:lnTo>
                  <a:lnTo>
                    <a:pt x="3262896" y="1092"/>
                  </a:lnTo>
                  <a:lnTo>
                    <a:pt x="3276904" y="8826"/>
                  </a:lnTo>
                  <a:lnTo>
                    <a:pt x="3300831" y="46189"/>
                  </a:lnTo>
                  <a:lnTo>
                    <a:pt x="3305175" y="75349"/>
                  </a:lnTo>
                  <a:lnTo>
                    <a:pt x="3305175" y="1139075"/>
                  </a:lnTo>
                  <a:lnTo>
                    <a:pt x="3302190" y="1146276"/>
                  </a:lnTo>
                  <a:lnTo>
                    <a:pt x="3296221" y="1152245"/>
                  </a:lnTo>
                  <a:lnTo>
                    <a:pt x="3290252" y="1158214"/>
                  </a:lnTo>
                  <a:lnTo>
                    <a:pt x="3283051" y="1161199"/>
                  </a:lnTo>
                  <a:lnTo>
                    <a:pt x="41186" y="1161199"/>
                  </a:lnTo>
                  <a:lnTo>
                    <a:pt x="33972" y="1158214"/>
                  </a:lnTo>
                  <a:lnTo>
                    <a:pt x="28486" y="1152728"/>
                  </a:lnTo>
                  <a:lnTo>
                    <a:pt x="28016" y="1152245"/>
                  </a:lnTo>
                  <a:lnTo>
                    <a:pt x="22034" y="1146276"/>
                  </a:lnTo>
                  <a:lnTo>
                    <a:pt x="19050" y="1139075"/>
                  </a:lnTo>
                  <a:lnTo>
                    <a:pt x="19050" y="75349"/>
                  </a:lnTo>
                  <a:lnTo>
                    <a:pt x="28676" y="33007"/>
                  </a:lnTo>
                  <a:lnTo>
                    <a:pt x="61341" y="1092"/>
                  </a:lnTo>
                  <a:lnTo>
                    <a:pt x="65443" y="0"/>
                  </a:lnTo>
                  <a:lnTo>
                    <a:pt x="61341" y="609"/>
                  </a:lnTo>
                  <a:lnTo>
                    <a:pt x="22326" y="21475"/>
                  </a:lnTo>
                  <a:lnTo>
                    <a:pt x="1460" y="60490"/>
                  </a:lnTo>
                  <a:lnTo>
                    <a:pt x="0" y="75349"/>
                  </a:lnTo>
                  <a:lnTo>
                    <a:pt x="0" y="1130630"/>
                  </a:lnTo>
                  <a:lnTo>
                    <a:pt x="22186" y="1172083"/>
                  </a:lnTo>
                  <a:lnTo>
                    <a:pt x="49618" y="1180249"/>
                  </a:lnTo>
                  <a:lnTo>
                    <a:pt x="3274606" y="1180249"/>
                  </a:lnTo>
                  <a:lnTo>
                    <a:pt x="3284512" y="1179347"/>
                  </a:lnTo>
                  <a:lnTo>
                    <a:pt x="3293656" y="1176616"/>
                  </a:lnTo>
                  <a:lnTo>
                    <a:pt x="3302050" y="1172083"/>
                  </a:lnTo>
                  <a:lnTo>
                    <a:pt x="3309175" y="1166152"/>
                  </a:lnTo>
                  <a:lnTo>
                    <a:pt x="3309696" y="1165720"/>
                  </a:lnTo>
                  <a:lnTo>
                    <a:pt x="3316059" y="1158074"/>
                  </a:lnTo>
                  <a:lnTo>
                    <a:pt x="3320592" y="1149680"/>
                  </a:lnTo>
                  <a:lnTo>
                    <a:pt x="3323323" y="1140536"/>
                  </a:lnTo>
                  <a:lnTo>
                    <a:pt x="3324225" y="1130630"/>
                  </a:lnTo>
                  <a:lnTo>
                    <a:pt x="3324225" y="75349"/>
                  </a:lnTo>
                  <a:close/>
                </a:path>
              </a:pathLst>
            </a:custGeom>
            <a:solidFill>
              <a:srgbClr val="FFD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486637" y="4400549"/>
              <a:ext cx="3324225" cy="419100"/>
            </a:xfrm>
            <a:custGeom>
              <a:avLst/>
              <a:gdLst/>
              <a:ahLst/>
              <a:cxnLst/>
              <a:rect l="l" t="t" r="r" b="b"/>
              <a:pathLst>
                <a:path w="3324225" h="419100">
                  <a:moveTo>
                    <a:pt x="3324225" y="233540"/>
                  </a:moveTo>
                  <a:lnTo>
                    <a:pt x="3305048" y="200380"/>
                  </a:lnTo>
                  <a:lnTo>
                    <a:pt x="3281197" y="190500"/>
                  </a:lnTo>
                  <a:lnTo>
                    <a:pt x="1872513" y="190500"/>
                  </a:lnTo>
                  <a:lnTo>
                    <a:pt x="1871700" y="182181"/>
                  </a:lnTo>
                  <a:lnTo>
                    <a:pt x="1862366" y="142163"/>
                  </a:lnTo>
                  <a:lnTo>
                    <a:pt x="1845398" y="104724"/>
                  </a:lnTo>
                  <a:lnTo>
                    <a:pt x="1821459" y="71310"/>
                  </a:lnTo>
                  <a:lnTo>
                    <a:pt x="1791462" y="43218"/>
                  </a:lnTo>
                  <a:lnTo>
                    <a:pt x="1756562" y="21513"/>
                  </a:lnTo>
                  <a:lnTo>
                    <a:pt x="1718094" y="7035"/>
                  </a:lnTo>
                  <a:lnTo>
                    <a:pt x="1677543" y="342"/>
                  </a:lnTo>
                  <a:lnTo>
                    <a:pt x="1670697" y="0"/>
                  </a:lnTo>
                  <a:lnTo>
                    <a:pt x="1656969" y="0"/>
                  </a:lnTo>
                  <a:lnTo>
                    <a:pt x="1616214" y="5372"/>
                  </a:lnTo>
                  <a:lnTo>
                    <a:pt x="1577301" y="18580"/>
                  </a:lnTo>
                  <a:lnTo>
                    <a:pt x="1541703" y="39128"/>
                  </a:lnTo>
                  <a:lnTo>
                    <a:pt x="1510804" y="66230"/>
                  </a:lnTo>
                  <a:lnTo>
                    <a:pt x="1485785" y="98844"/>
                  </a:lnTo>
                  <a:lnTo>
                    <a:pt x="1467599" y="135699"/>
                  </a:lnTo>
                  <a:lnTo>
                    <a:pt x="1456969" y="175412"/>
                  </a:lnTo>
                  <a:lnTo>
                    <a:pt x="1455140" y="190500"/>
                  </a:lnTo>
                  <a:lnTo>
                    <a:pt x="43040" y="190500"/>
                  </a:lnTo>
                  <a:lnTo>
                    <a:pt x="9880" y="209689"/>
                  </a:lnTo>
                  <a:lnTo>
                    <a:pt x="0" y="233540"/>
                  </a:lnTo>
                  <a:lnTo>
                    <a:pt x="0" y="266700"/>
                  </a:lnTo>
                  <a:lnTo>
                    <a:pt x="1462176" y="266700"/>
                  </a:lnTo>
                  <a:lnTo>
                    <a:pt x="1465300" y="276948"/>
                  </a:lnTo>
                  <a:lnTo>
                    <a:pt x="1482255" y="314388"/>
                  </a:lnTo>
                  <a:lnTo>
                    <a:pt x="1506194" y="347802"/>
                  </a:lnTo>
                  <a:lnTo>
                    <a:pt x="1536192" y="375894"/>
                  </a:lnTo>
                  <a:lnTo>
                    <a:pt x="1571104" y="397598"/>
                  </a:lnTo>
                  <a:lnTo>
                    <a:pt x="1609572" y="412076"/>
                  </a:lnTo>
                  <a:lnTo>
                    <a:pt x="1650123" y="418769"/>
                  </a:lnTo>
                  <a:lnTo>
                    <a:pt x="1656969" y="419100"/>
                  </a:lnTo>
                  <a:lnTo>
                    <a:pt x="1670697" y="419100"/>
                  </a:lnTo>
                  <a:lnTo>
                    <a:pt x="1711439" y="413740"/>
                  </a:lnTo>
                  <a:lnTo>
                    <a:pt x="1750364" y="400532"/>
                  </a:lnTo>
                  <a:lnTo>
                    <a:pt x="1785950" y="379984"/>
                  </a:lnTo>
                  <a:lnTo>
                    <a:pt x="1816862" y="352882"/>
                  </a:lnTo>
                  <a:lnTo>
                    <a:pt x="1841881" y="320268"/>
                  </a:lnTo>
                  <a:lnTo>
                    <a:pt x="1860054" y="283400"/>
                  </a:lnTo>
                  <a:lnTo>
                    <a:pt x="1865477" y="266700"/>
                  </a:lnTo>
                  <a:lnTo>
                    <a:pt x="3324225" y="266700"/>
                  </a:lnTo>
                  <a:lnTo>
                    <a:pt x="3324225" y="233540"/>
                  </a:lnTo>
                  <a:close/>
                </a:path>
              </a:pathLst>
            </a:custGeom>
            <a:solidFill>
              <a:srgbClr val="FF94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78887" y="4520606"/>
              <a:ext cx="141973" cy="177646"/>
            </a:xfrm>
            <a:prstGeom prst="rect">
              <a:avLst/>
            </a:prstGeom>
          </p:spPr>
        </p:pic>
      </p:grpSp>
      <p:sp>
        <p:nvSpPr>
          <p:cNvPr id="48" name="object 48"/>
          <p:cNvSpPr txBox="1"/>
          <p:nvPr/>
        </p:nvSpPr>
        <p:spPr>
          <a:xfrm>
            <a:off x="7636916" y="4838735"/>
            <a:ext cx="2463800" cy="784225"/>
          </a:xfrm>
          <a:prstGeom prst="rect">
            <a:avLst/>
          </a:prstGeom>
        </p:spPr>
        <p:txBody>
          <a:bodyPr vert="horz" wrap="square" lIns="0" tIns="1206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600" spc="-10">
                <a:solidFill>
                  <a:srgbClr val="66534E"/>
                </a:solidFill>
                <a:latin typeface="Tahoma"/>
                <a:cs typeface="Tahoma"/>
              </a:rPr>
              <a:t>Orchestration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ts val="1280"/>
              </a:lnSpc>
              <a:spcBef>
                <a:spcPts val="680"/>
              </a:spcBef>
            </a:pP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Complex</a:t>
            </a:r>
            <a:r>
              <a:rPr sz="1100" spc="-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for</a:t>
            </a:r>
            <a:r>
              <a:rPr sz="1100" spc="-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many</a:t>
            </a:r>
            <a:r>
              <a:rPr sz="1100" spc="-30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>
                <a:solidFill>
                  <a:srgbClr val="66534E"/>
                </a:solidFill>
                <a:latin typeface="Verdana"/>
                <a:cs typeface="Verdana"/>
              </a:rPr>
              <a:t>containers</a:t>
            </a:r>
            <a:r>
              <a:rPr sz="1100" spc="-25">
                <a:solidFill>
                  <a:srgbClr val="66534E"/>
                </a:solidFill>
                <a:latin typeface="Verdana"/>
                <a:cs typeface="Verdana"/>
              </a:rPr>
              <a:t> </a:t>
            </a:r>
            <a:r>
              <a:rPr sz="1100" spc="-80">
                <a:solidFill>
                  <a:srgbClr val="66534E"/>
                </a:solidFill>
                <a:latin typeface="Verdana"/>
                <a:cs typeface="Verdana"/>
              </a:rPr>
              <a:t>(e.g., </a:t>
            </a:r>
            <a:r>
              <a:rPr sz="1100" spc="-10">
                <a:solidFill>
                  <a:srgbClr val="66534E"/>
                </a:solidFill>
                <a:latin typeface="Verdana"/>
                <a:cs typeface="Verdana"/>
              </a:rPr>
              <a:t>Kubernetes).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7466" y="3402202"/>
            <a:ext cx="2526665" cy="6369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0">
                <a:solidFill>
                  <a:srgbClr val="532417"/>
                </a:solidFill>
                <a:latin typeface="Tahoma"/>
                <a:cs typeface="Tahoma"/>
              </a:rPr>
              <a:t>Thank</a:t>
            </a:r>
            <a:r>
              <a:rPr sz="4000" spc="-260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4000" spc="-45">
                <a:solidFill>
                  <a:srgbClr val="532417"/>
                </a:solidFill>
                <a:latin typeface="Tahoma"/>
                <a:cs typeface="Tahoma"/>
              </a:rPr>
              <a:t>You!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466" y="4815617"/>
            <a:ext cx="28505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>
                <a:solidFill>
                  <a:srgbClr val="532417"/>
                </a:solidFill>
                <a:latin typeface="Tahoma"/>
                <a:cs typeface="Tahoma"/>
              </a:rPr>
              <a:t>Questions</a:t>
            </a:r>
            <a:r>
              <a:rPr sz="2400" spc="-100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2400" spc="225">
                <a:solidFill>
                  <a:srgbClr val="532417"/>
                </a:solidFill>
                <a:latin typeface="Tahoma"/>
                <a:cs typeface="Tahoma"/>
              </a:rPr>
              <a:t>&amp;</a:t>
            </a:r>
            <a:r>
              <a:rPr sz="2400" spc="-95">
                <a:solidFill>
                  <a:srgbClr val="532417"/>
                </a:solidFill>
                <a:latin typeface="Tahoma"/>
                <a:cs typeface="Tahoma"/>
              </a:rPr>
              <a:t> </a:t>
            </a:r>
            <a:r>
              <a:rPr sz="2400" spc="-25">
                <a:solidFill>
                  <a:srgbClr val="532417"/>
                </a:solidFill>
                <a:latin typeface="Tahoma"/>
                <a:cs typeface="Tahoma"/>
              </a:rPr>
              <a:t>Answers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2EA03C6BBBA7468D501DEB7CBB53D8" ma:contentTypeVersion="9" ma:contentTypeDescription="Create a new document." ma:contentTypeScope="" ma:versionID="e879c9aa433b13f3c02146474da6d758">
  <xsd:schema xmlns:xsd="http://www.w3.org/2001/XMLSchema" xmlns:xs="http://www.w3.org/2001/XMLSchema" xmlns:p="http://schemas.microsoft.com/office/2006/metadata/properties" xmlns:ns3="2a9979ff-612b-497a-bdad-863b76c4757c" xmlns:ns4="297059fb-7c2e-4981-be75-56cbd515e6df" targetNamespace="http://schemas.microsoft.com/office/2006/metadata/properties" ma:root="true" ma:fieldsID="d8b4f7b1a24b98b154850bfaeff921fa" ns3:_="" ns4:_="">
    <xsd:import namespace="2a9979ff-612b-497a-bdad-863b76c4757c"/>
    <xsd:import namespace="297059fb-7c2e-4981-be75-56cbd515e6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9979ff-612b-497a-bdad-863b76c475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7059fb-7c2e-4981-be75-56cbd515e6d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9979ff-612b-497a-bdad-863b76c4757c" xsi:nil="true"/>
  </documentManagement>
</p:properties>
</file>

<file path=customXml/itemProps1.xml><?xml version="1.0" encoding="utf-8"?>
<ds:datastoreItem xmlns:ds="http://schemas.openxmlformats.org/officeDocument/2006/customXml" ds:itemID="{CE2056BE-2657-4D99-B132-6A0A8714DB3A}">
  <ds:schemaRefs>
    <ds:schemaRef ds:uri="297059fb-7c2e-4981-be75-56cbd515e6df"/>
    <ds:schemaRef ds:uri="2a9979ff-612b-497a-bdad-863b76c4757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3FCAE16-21EA-4E0E-8B53-8D0F2B3283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D2A84C-16D7-4FA9-8144-F5525329150F}">
  <ds:schemaRefs>
    <ds:schemaRef ds:uri="297059fb-7c2e-4981-be75-56cbd515e6df"/>
    <ds:schemaRef ds:uri="2a9979ff-612b-497a-bdad-863b76c4757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Docker</vt:lpstr>
      <vt:lpstr>What is Docker?</vt:lpstr>
      <vt:lpstr>History &amp; Evolution: From VMs to Containers</vt:lpstr>
      <vt:lpstr>Technical Overview: Images vs. Containers</vt:lpstr>
      <vt:lpstr>Local Install vs. Docker</vt:lpstr>
      <vt:lpstr>Docker Compose</vt:lpstr>
      <vt:lpstr>Docker Compose: The `compose.yml` File</vt:lpstr>
      <vt:lpstr>Docker Commands</vt:lpstr>
      <vt:lpstr>Tableau with Docker Two ways Docker comes in handy with Tableau:</vt:lpstr>
      <vt:lpstr>Docker with Tableau Cloud vs Tableau Server</vt:lpstr>
      <vt:lpstr>TabPy: Tableau Python Server</vt:lpstr>
      <vt:lpstr>Industry Relevance &amp; Recommendations</vt:lpstr>
      <vt:lpstr>Docker: Advantages &amp; Considerations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Sanskriti Khadka</dc:creator>
  <cp:revision>2</cp:revision>
  <dcterms:created xsi:type="dcterms:W3CDTF">2026-03-11T12:52:03Z</dcterms:created>
  <dcterms:modified xsi:type="dcterms:W3CDTF">2026-03-11T19:03:54Z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2026-03-11T00:00:00Z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2026-03-11T00:00:00Z</vt:filetime>
  </property>
  <property fmtid="{D5CDD505-2E9C-101B-9397-08002B2CF9AE}" pid="5" name="Producer">
    <vt:lpwstr>pdf-lib (https://github.com/Hopding/pdf-lib)</vt:lpwstr>
  </property>
  <property fmtid="{D5CDD505-2E9C-101B-9397-08002B2CF9AE}" pid="6" name="ContentTypeId">
    <vt:lpwstr>0x010100BC2EA03C6BBBA7468D501DEB7CBB53D8</vt:lpwstr>
  </property>
</Properties>
</file>